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9"/>
  </p:notesMasterIdLst>
  <p:sldIdLst>
    <p:sldId id="266" r:id="rId5"/>
    <p:sldId id="376" r:id="rId6"/>
    <p:sldId id="377" r:id="rId7"/>
    <p:sldId id="378" r:id="rId8"/>
    <p:sldId id="379" r:id="rId9"/>
    <p:sldId id="380" r:id="rId10"/>
    <p:sldId id="381" r:id="rId11"/>
    <p:sldId id="382" r:id="rId12"/>
    <p:sldId id="411" r:id="rId13"/>
    <p:sldId id="383" r:id="rId14"/>
    <p:sldId id="412" r:id="rId15"/>
    <p:sldId id="265" r:id="rId16"/>
    <p:sldId id="384" r:id="rId17"/>
    <p:sldId id="413" r:id="rId18"/>
    <p:sldId id="385" r:id="rId19"/>
    <p:sldId id="414" r:id="rId20"/>
    <p:sldId id="386" r:id="rId21"/>
    <p:sldId id="387" r:id="rId22"/>
    <p:sldId id="431" r:id="rId23"/>
    <p:sldId id="388" r:id="rId24"/>
    <p:sldId id="428" r:id="rId25"/>
    <p:sldId id="389" r:id="rId26"/>
    <p:sldId id="415" r:id="rId27"/>
    <p:sldId id="390" r:id="rId28"/>
    <p:sldId id="391" r:id="rId29"/>
    <p:sldId id="416" r:id="rId30"/>
    <p:sldId id="392" r:id="rId31"/>
    <p:sldId id="393" r:id="rId32"/>
    <p:sldId id="417" r:id="rId33"/>
    <p:sldId id="432" r:id="rId34"/>
    <p:sldId id="394" r:id="rId35"/>
    <p:sldId id="418" r:id="rId36"/>
    <p:sldId id="395" r:id="rId37"/>
    <p:sldId id="396" r:id="rId38"/>
    <p:sldId id="419" r:id="rId39"/>
    <p:sldId id="397" r:id="rId40"/>
    <p:sldId id="398" r:id="rId41"/>
    <p:sldId id="420" r:id="rId42"/>
    <p:sldId id="433" r:id="rId43"/>
    <p:sldId id="421" r:id="rId44"/>
    <p:sldId id="399" r:id="rId45"/>
    <p:sldId id="422" r:id="rId46"/>
    <p:sldId id="400" r:id="rId47"/>
    <p:sldId id="401" r:id="rId48"/>
    <p:sldId id="402" r:id="rId49"/>
    <p:sldId id="403" r:id="rId50"/>
    <p:sldId id="423" r:id="rId51"/>
    <p:sldId id="404" r:id="rId52"/>
    <p:sldId id="438" r:id="rId53"/>
    <p:sldId id="405" r:id="rId54"/>
    <p:sldId id="439" r:id="rId55"/>
    <p:sldId id="406" r:id="rId56"/>
    <p:sldId id="407" r:id="rId57"/>
    <p:sldId id="408" r:id="rId58"/>
    <p:sldId id="425" r:id="rId59"/>
    <p:sldId id="434" r:id="rId60"/>
    <p:sldId id="429" r:id="rId61"/>
    <p:sldId id="430" r:id="rId62"/>
    <p:sldId id="437" r:id="rId63"/>
    <p:sldId id="440" r:id="rId64"/>
    <p:sldId id="441" r:id="rId65"/>
    <p:sldId id="436" r:id="rId66"/>
    <p:sldId id="427" r:id="rId67"/>
    <p:sldId id="410" r:id="rId68"/>
  </p:sldIdLst>
  <p:sldSz cx="9144000" cy="6858000" type="screen4x3"/>
  <p:notesSz cx="6797675" cy="9926638"/>
  <p:custDataLst>
    <p:tags r:id="rId7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05340A-741C-B44D-BC9F-209136836669}" v="1" dt="2026-02-11T03:03:35.3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06" autoAdjust="0"/>
    <p:restoredTop sz="93388" autoAdjust="0"/>
  </p:normalViewPr>
  <p:slideViewPr>
    <p:cSldViewPr>
      <p:cViewPr varScale="1">
        <p:scale>
          <a:sx n="118" d="100"/>
          <a:sy n="118" d="100"/>
        </p:scale>
        <p:origin x="1528" y="192"/>
      </p:cViewPr>
      <p:guideLst>
        <p:guide orient="horz" pos="2160"/>
        <p:guide pos="2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ags" Target="tags/tag1.xml"/><Relationship Id="rId75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microsoft.com/office/2015/10/relationships/revisionInfo" Target="revisionInfo.xml"/><Relationship Id="rId7" Type="http://schemas.openxmlformats.org/officeDocument/2006/relationships/slide" Target="slides/slide3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lakesh Upadhyaya" userId="39237444-6c57-4287-83b9-c02833580333" providerId="ADAL" clId="{D9EE50EC-A04D-523F-B492-F10DF64E0D1D}"/>
    <pc:docChg chg="modSld">
      <pc:chgData name="Pulakesh Upadhyaya" userId="39237444-6c57-4287-83b9-c02833580333" providerId="ADAL" clId="{D9EE50EC-A04D-523F-B492-F10DF64E0D1D}" dt="2026-02-11T03:03:35.357" v="0"/>
      <pc:docMkLst>
        <pc:docMk/>
      </pc:docMkLst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265"/>
        </pc:sldMkLst>
      </pc:sldChg>
      <pc:sldChg chg="delSp modTransition modAnim">
        <pc:chgData name="Pulakesh Upadhyaya" userId="39237444-6c57-4287-83b9-c02833580333" providerId="ADAL" clId="{D9EE50EC-A04D-523F-B492-F10DF64E0D1D}" dt="2026-02-11T03:03:35.357" v="0"/>
        <pc:sldMkLst>
          <pc:docMk/>
          <pc:sldMk cId="2606388465" sldId="266"/>
        </pc:sldMkLst>
        <pc:picChg chg="del">
          <ac:chgData name="Pulakesh Upadhyaya" userId="39237444-6c57-4287-83b9-c02833580333" providerId="ADAL" clId="{D9EE50EC-A04D-523F-B492-F10DF64E0D1D}" dt="2026-02-11T03:03:35.357" v="0"/>
          <ac:picMkLst>
            <pc:docMk/>
            <pc:sldMk cId="2606388465" sldId="266"/>
            <ac:picMk id="30" creationId="{54FD3DB4-FFC8-5B72-A04F-392B9D291AB5}"/>
          </ac:picMkLst>
        </pc:picChg>
      </pc:sldChg>
      <pc:sldChg chg="delSp modTransition modAnim">
        <pc:chgData name="Pulakesh Upadhyaya" userId="39237444-6c57-4287-83b9-c02833580333" providerId="ADAL" clId="{D9EE50EC-A04D-523F-B492-F10DF64E0D1D}" dt="2026-02-11T03:03:35.357" v="0"/>
        <pc:sldMkLst>
          <pc:docMk/>
          <pc:sldMk cId="0" sldId="376"/>
        </pc:sldMkLst>
        <pc:picChg chg="del">
          <ac:chgData name="Pulakesh Upadhyaya" userId="39237444-6c57-4287-83b9-c02833580333" providerId="ADAL" clId="{D9EE50EC-A04D-523F-B492-F10DF64E0D1D}" dt="2026-02-11T03:03:35.357" v="0"/>
          <ac:picMkLst>
            <pc:docMk/>
            <pc:sldMk cId="0" sldId="376"/>
            <ac:picMk id="9" creationId="{BCBE302A-7DDF-4C49-0146-008BE70884E9}"/>
          </ac:picMkLst>
        </pc:picChg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377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378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379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380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381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382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383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384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385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386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387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388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389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390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391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392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393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394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395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396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397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398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399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400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401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402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403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404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405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406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407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408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0" sldId="410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1228499743" sldId="411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954995607" sldId="412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2807361461" sldId="413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3968843701" sldId="414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554294189" sldId="415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4075626106" sldId="416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2699465941" sldId="417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272325395" sldId="418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1690243905" sldId="419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1130536530" sldId="420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3945732733" sldId="421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943317837" sldId="422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3787942020" sldId="423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1448439405" sldId="425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2760513309" sldId="427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1577978683" sldId="428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280958053" sldId="429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2991843384" sldId="430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1973296048" sldId="431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1463765523" sldId="432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934203693" sldId="433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3427887641" sldId="434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174519670" sldId="436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2119823639" sldId="437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3756567342" sldId="438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3562841526" sldId="439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2175816012" sldId="440"/>
        </pc:sldMkLst>
      </pc:sldChg>
      <pc:sldChg chg="modTransition">
        <pc:chgData name="Pulakesh Upadhyaya" userId="39237444-6c57-4287-83b9-c02833580333" providerId="ADAL" clId="{D9EE50EC-A04D-523F-B492-F10DF64E0D1D}" dt="2026-02-11T03:03:35.357" v="0"/>
        <pc:sldMkLst>
          <pc:docMk/>
          <pc:sldMk cId="4206616093" sldId="441"/>
        </pc:sldMkLst>
      </pc:sldChg>
    </pc:docChg>
  </pc:docChgLst>
  <pc:docChgLst>
    <pc:chgData name="Pulakesh Upadhyaya" userId="39237444-6c57-4287-83b9-c02833580333" providerId="ADAL" clId="{35075933-AD6B-42D9-93D5-76C5C870A308}"/>
    <pc:docChg chg="custSel modSld">
      <pc:chgData name="Pulakesh Upadhyaya" userId="39237444-6c57-4287-83b9-c02833580333" providerId="ADAL" clId="{35075933-AD6B-42D9-93D5-76C5C870A308}" dt="2026-01-26T09:51:55.084" v="18"/>
      <pc:docMkLst>
        <pc:docMk/>
      </pc:docMkLst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265"/>
        </pc:sldMkLst>
      </pc:sldChg>
      <pc:sldChg chg="addSp delSp modSp mod modTransition modAnim">
        <pc:chgData name="Pulakesh Upadhyaya" userId="39237444-6c57-4287-83b9-c02833580333" providerId="ADAL" clId="{35075933-AD6B-42D9-93D5-76C5C870A308}" dt="2026-01-26T09:51:55.084" v="18"/>
        <pc:sldMkLst>
          <pc:docMk/>
          <pc:sldMk cId="2606388465" sldId="266"/>
        </pc:sldMkLst>
        <pc:spChg chg="mod">
          <ac:chgData name="Pulakesh Upadhyaya" userId="39237444-6c57-4287-83b9-c02833580333" providerId="ADAL" clId="{35075933-AD6B-42D9-93D5-76C5C870A308}" dt="2026-01-26T09:45:54.294" v="3" actId="20577"/>
          <ac:spMkLst>
            <pc:docMk/>
            <pc:sldMk cId="2606388465" sldId="266"/>
            <ac:spMk id="2" creationId="{00000000-0000-0000-0000-000000000000}"/>
          </ac:spMkLst>
        </pc:spChg>
      </pc:sldChg>
      <pc:sldChg chg="addSp delSp modSp modTransition modAnim">
        <pc:chgData name="Pulakesh Upadhyaya" userId="39237444-6c57-4287-83b9-c02833580333" providerId="ADAL" clId="{35075933-AD6B-42D9-93D5-76C5C870A308}" dt="2026-01-26T09:51:55.084" v="18"/>
        <pc:sldMkLst>
          <pc:docMk/>
          <pc:sldMk cId="0" sldId="376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377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378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379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380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381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382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383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384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385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386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387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388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389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390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391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392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393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394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395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396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397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398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399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400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401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402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403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404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405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406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407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408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0" sldId="410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1228499743" sldId="411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954995607" sldId="412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2807361461" sldId="413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3968843701" sldId="414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554294189" sldId="415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4075626106" sldId="416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2699465941" sldId="417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272325395" sldId="418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1690243905" sldId="419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1130536530" sldId="420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3945732733" sldId="421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943317837" sldId="422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3787942020" sldId="423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1448439405" sldId="425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2760513309" sldId="427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1577978683" sldId="428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280958053" sldId="429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2991843384" sldId="430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1973296048" sldId="431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1463765523" sldId="432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934203693" sldId="433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3427887641" sldId="434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174519670" sldId="436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2119823639" sldId="437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3756567342" sldId="438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3562841526" sldId="439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2175816012" sldId="440"/>
        </pc:sldMkLst>
      </pc:sldChg>
      <pc:sldChg chg="modTransition">
        <pc:chgData name="Pulakesh Upadhyaya" userId="39237444-6c57-4287-83b9-c02833580333" providerId="ADAL" clId="{35075933-AD6B-42D9-93D5-76C5C870A308}" dt="2026-01-26T09:50:59.515" v="17"/>
        <pc:sldMkLst>
          <pc:docMk/>
          <pc:sldMk cId="4206616093" sldId="44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056"/>
          </a:xfrm>
          <a:prstGeom prst="rect">
            <a:avLst/>
          </a:prstGeom>
        </p:spPr>
        <p:txBody>
          <a:bodyPr vert="horz" lIns="91429" tIns="45714" rIns="91429" bIns="457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29" tIns="45714" rIns="91429" bIns="45714" rtlCol="0"/>
          <a:lstStyle>
            <a:lvl1pPr algn="r">
              <a:defRPr sz="1200"/>
            </a:lvl1pPr>
          </a:lstStyle>
          <a:p>
            <a:fld id="{5A9DAEBA-2AB1-41C5-8D58-1995EE83FFA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64050" cy="3348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9" tIns="45714" rIns="91429" bIns="457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9" y="4777195"/>
            <a:ext cx="5438140" cy="3908614"/>
          </a:xfrm>
          <a:prstGeom prst="rect">
            <a:avLst/>
          </a:prstGeom>
        </p:spPr>
        <p:txBody>
          <a:bodyPr vert="horz" lIns="91429" tIns="45714" rIns="91429" bIns="457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5"/>
            <a:ext cx="2945659" cy="498055"/>
          </a:xfrm>
          <a:prstGeom prst="rect">
            <a:avLst/>
          </a:prstGeom>
        </p:spPr>
        <p:txBody>
          <a:bodyPr vert="horz" lIns="91429" tIns="45714" rIns="91429" bIns="457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5"/>
            <a:ext cx="2945659" cy="498055"/>
          </a:xfrm>
          <a:prstGeom prst="rect">
            <a:avLst/>
          </a:prstGeom>
        </p:spPr>
        <p:txBody>
          <a:bodyPr vert="horz" lIns="91429" tIns="45714" rIns="91429" bIns="45714" rtlCol="0" anchor="b"/>
          <a:lstStyle>
            <a:lvl1pPr algn="r">
              <a:defRPr sz="1200"/>
            </a:lvl1pPr>
          </a:lstStyle>
          <a:p>
            <a:fld id="{1EAB084C-66D5-469B-AFED-7788C0DED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918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B084C-66D5-469B-AFED-7788C0DED6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446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e81539b2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e81539b25_0_0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c9c9bc6c2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7c9c9bc6c2_0_50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7c9c9bc6c2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7c9c9bc6c2_0_61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7c9c9bc6c2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7c9c9bc6c2_0_79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7c9c9bc6c2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7c9c9bc6c2_0_91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7c9c9bc6c2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7c9c9bc6c2_0_104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7c9c9bc6c2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7c9c9bc6c2_0_141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7c9c9bc6c2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7c9c9bc6c2_0_141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63331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7c9c9bc6c2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7c9c9bc6c2_0_149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7c9c9bc6c2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7c9c9bc6c2_0_149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51271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7c9c9bc6c2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7c9c9bc6c2_0_168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7c9c9bc6c2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7c9c9bc6c2_0_156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7c9c9bc6c2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7c9c9bc6c2_0_156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17491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7c9c9bc6c2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7c9c9bc6c2_0_188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7c9c9bc6c2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7c9c9bc6c2_0_188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104954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7c9c9bc6c2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7c9c9bc6c2_0_204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7c9c9bc6c2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7c9c9bc6c2_0_162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c9c9bc6c2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c9c9bc6c2_0_233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7c9c9bc6c2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7c9c9bc6c2_0_227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7c9c9bc6c2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7c9c9bc6c2_0_227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18152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7ca3d9d87b_111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7ca3d9d87b_111_199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7ca3d9d87b_111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7ca3d9d87b_111_345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7ca3d9d87b_111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7ca3d9d87b_111_345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98491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7ca3d9d87b_111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7ca3d9d87b_111_193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7ca3d9d87b_111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7ca3d9d87b_111_318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7ca3d9d87b_111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7ca3d9d87b_111_318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97167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7ca3d9d87b_111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7ca3d9d87b_111_318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34566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7ca3d9d87b_111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7ca3d9d87b_111_339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7ca3d9d87b_111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7ca3d9d87b_111_339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39392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7ca3d9d87b_111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7ca3d9d87b_111_332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7ca3d9d87b_111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7ca3d9d87b_111_378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7ca3d9d87b_111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7ca3d9d87b_111_378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4621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7ca3d9d87b_111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7ca3d9d87b_111_385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7ca3d9d87b_111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7ca3d9d87b_111_401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7ca3d9d87b_111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7ca3d9d87b_111_401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92126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7ca3d9d87b_111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7ca3d9d87b_111_401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824325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7ca3d9d87b_111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7ca3d9d87b_111_401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50365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7ca3d9d87b_111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7ca3d9d87b_111_394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7ca3d9d87b_111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7ca3d9d87b_111_394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329538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7c9c9bc6c2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7c9c9bc6c2_0_255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7ca3d9d87b_11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7ca3d9d87b_111_5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7ca3d9d87b_11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7ca3d9d87b_111_15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7ca3d9d87b_111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7ca3d9d87b_111_101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7ca3d9d87b_111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7ca3d9d87b_111_101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362582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7c9c9bc6c2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7c9c9bc6c2_0_274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7ca3d9d87b_111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7ca3d9d87b_111_66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7c9c9bc6c2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7c9c9bc6c2_0_268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7ca3d9d87b_111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7ca3d9d87b_111_135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7ca3d9d87b_111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7ca3d9d87b_111_167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7ca3d9d87b_111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7ca3d9d87b_111_167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802872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7ca3d9d87b_111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7ca3d9d87b_111_167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8029270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7ca3d9d87b_111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7ca3d9d87b_111_174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861442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7ca3d9d87b_111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7ca3d9d87b_111_174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1102703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7d0364b8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65163"/>
            <a:ext cx="4432300" cy="3325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7d0364b845_0_0:notes"/>
          <p:cNvSpPr txBox="1">
            <a:spLocks noGrp="1"/>
          </p:cNvSpPr>
          <p:nvPr>
            <p:ph type="body" idx="1"/>
          </p:nvPr>
        </p:nvSpPr>
        <p:spPr>
          <a:xfrm>
            <a:off x="656223" y="4212701"/>
            <a:ext cx="5249779" cy="3990979"/>
          </a:xfrm>
          <a:prstGeom prst="rect">
            <a:avLst/>
          </a:prstGeom>
        </p:spPr>
        <p:txBody>
          <a:bodyPr spcFirstLastPara="1" wrap="square" lIns="88179" tIns="88179" rIns="88179" bIns="88179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S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9555B-D411-4CB8-9A3A-D15510229A47}" type="datetime1">
              <a:rPr lang="en-SG" smtClean="0"/>
              <a:t>11/2/26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25506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94FA-B545-4561-8171-1927DC376A1A}" type="datetime1">
              <a:rPr lang="en-SG" smtClean="0"/>
              <a:t>11/2/26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9443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9210-5203-4E74-B462-5C681D732495}" type="datetime1">
              <a:rPr lang="en-SG" smtClean="0"/>
              <a:t>11/2/26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30256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FD401-BEFD-45B1-A912-DD210179BF0A}" type="datetime1">
              <a:rPr lang="en-SG" smtClean="0"/>
              <a:t>11/2/26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9753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876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0852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6876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90852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8CA7-0D88-4DD1-9F40-9EE991ED6786}" type="datetime1">
              <a:rPr lang="en-SG" smtClean="0"/>
              <a:t>11/2/26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50064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4C8A5-6DBD-4159-BBFC-9AD64056A27B}" type="datetime1">
              <a:rPr lang="en-SG" smtClean="0"/>
              <a:t>11/2/26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78146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578407A-5E78-473F-B9ED-8B59CE9A84EE}" type="datetime1">
              <a:rPr lang="en-SG" smtClean="0"/>
              <a:t>11/2/26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F67F2F6-1AF1-4676-A25D-AE34B4C40A68}" type="datetime1">
              <a:rPr lang="en-SG" smtClean="0"/>
              <a:t>11/2/26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74EE07-24A3-4C25-9839-280C816FF962}" type="datetime1">
              <a:rPr lang="en-SG" smtClean="0"/>
              <a:t>11/2/26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9420A3-232A-41CC-BFF0-6400B32D9D19}" type="datetime1">
              <a:rPr lang="en-SG" smtClean="0"/>
              <a:t>11/2/26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201D7AB-E116-4544-AD33-BE572DD6E1AF}" type="datetime1">
              <a:rPr lang="en-SG" smtClean="0"/>
              <a:t>11/2/26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280A0BF-DD80-4D41-9B4A-0109D9636638}" type="datetime1">
              <a:rPr lang="en-SG" smtClean="0"/>
              <a:t>11/2/26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1DFDD63-E233-4C13-A22C-29D1E426B954}" type="datetime1">
              <a:rPr lang="en-SG" smtClean="0"/>
              <a:t>11/2/26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8A59644-A1DC-47DC-9CCB-6C0B6DE5E03A}" type="datetime1">
              <a:rPr lang="en-SG" smtClean="0"/>
              <a:t>11/2/26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54A557-EB90-4E16-A010-D4D0FFA86466}" type="datetime1">
              <a:rPr lang="en-SG" smtClean="0"/>
              <a:t>11/2/26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387D9E9-6288-498B-8F5C-A6A65C26EB02}" type="datetime1">
              <a:rPr lang="en-SG" smtClean="0"/>
              <a:t>11/2/26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E46864-7E5B-435D-915D-7071ACB48B79}" type="datetime1">
              <a:rPr lang="en-SG" smtClean="0"/>
              <a:t>11/2/26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57188"/>
            <a:ext cx="6929437" cy="500062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14D187-C6C5-4552-AF1B-B8A32C86F476}" type="datetime1">
              <a:rPr lang="en-SG" smtClean="0"/>
              <a:t>11/2/26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S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8313" y="1268413"/>
            <a:ext cx="8280400" cy="496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6727600"/>
            <a:ext cx="9144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977153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100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607767"/>
            <a:ext cx="4045200" cy="20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74120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19056" cy="6429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03118"/>
            <a:ext cx="8229600" cy="5023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6ED33-3D6D-40A9-B605-6F5CEA759C1F}" type="datetime1">
              <a:rPr lang="en-SG" smtClean="0"/>
              <a:t>11/2/26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2AECB-2000-4191-92DD-345791BD487C}" type="slidenum">
              <a:rPr lang="en-SG" smtClean="0"/>
              <a:t>‹#›</a:t>
            </a:fld>
            <a:endParaRPr lang="en-SG"/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04888"/>
            <a:ext cx="9144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0" y="917575"/>
            <a:ext cx="9144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957263"/>
            <a:ext cx="9144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3" descr="P:\Common\Marcom\Corporate Templates\SIT logos\Primary logo.png"/>
          <p:cNvPicPr>
            <a:picLocks noChangeAspect="1" noChangeArrowheads="1"/>
          </p:cNvPicPr>
          <p:nvPr/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6876256" y="-171400"/>
            <a:ext cx="2262326" cy="1274517"/>
          </a:xfrm>
          <a:prstGeom prst="rect">
            <a:avLst/>
          </a:prstGeom>
          <a:noFill/>
        </p:spPr>
      </p:pic>
      <p:sp>
        <p:nvSpPr>
          <p:cNvPr id="11" name="MSIPCMContentMarking" descr="{&quot;HashCode&quot;:25343853,&quot;Placement&quot;:&quot;Header&quot;,&quot;Top&quot;:0.0,&quot;Left&quot;:319.8707,&quot;SlideWidth&quot;:720,&quot;SlideHeight&quot;:540}">
            <a:extLst>
              <a:ext uri="{FF2B5EF4-FFF2-40B4-BE49-F238E27FC236}">
                <a16:creationId xmlns:a16="http://schemas.microsoft.com/office/drawing/2014/main" id="{34D6159A-E6A4-624C-4354-75F09C1B580F}"/>
              </a:ext>
            </a:extLst>
          </p:cNvPr>
          <p:cNvSpPr txBox="1"/>
          <p:nvPr userDrawn="1"/>
        </p:nvSpPr>
        <p:spPr>
          <a:xfrm>
            <a:off x="4062358" y="0"/>
            <a:ext cx="1019284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SG" sz="1200">
                <a:solidFill>
                  <a:srgbClr val="000000"/>
                </a:solidFill>
                <a:latin typeface="Calibri" panose="020F0502020204030204" pitchFamily="34" charset="0"/>
              </a:rPr>
              <a:t>SIT Internal</a:t>
            </a:r>
          </a:p>
        </p:txBody>
      </p:sp>
    </p:spTree>
    <p:extLst>
      <p:ext uri="{BB962C8B-B14F-4D97-AF65-F5344CB8AC3E}">
        <p14:creationId xmlns:p14="http://schemas.microsoft.com/office/powerpoint/2010/main" val="3289169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23.png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2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52.png"/><Relationship Id="rId4" Type="http://schemas.openxmlformats.org/officeDocument/2006/relationships/image" Target="../media/image51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7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62.png"/><Relationship Id="rId4" Type="http://schemas.openxmlformats.org/officeDocument/2006/relationships/image" Target="../media/image61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65.wmf"/><Relationship Id="rId4" Type="http://schemas.openxmlformats.org/officeDocument/2006/relationships/oleObject" Target="../embeddings/oleObject7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7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70.gi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1.wmf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77.png"/><Relationship Id="rId5" Type="http://schemas.openxmlformats.org/officeDocument/2006/relationships/image" Target="../media/image760.png"/><Relationship Id="rId4" Type="http://schemas.openxmlformats.org/officeDocument/2006/relationships/image" Target="../media/image75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image" Target="../media/image74.png"/><Relationship Id="rId7" Type="http://schemas.openxmlformats.org/officeDocument/2006/relationships/oleObject" Target="../embeddings/oleObject9.bin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69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fNk_zzaMoSs" TargetMode="Externa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76.png"/><Relationship Id="rId4" Type="http://schemas.openxmlformats.org/officeDocument/2006/relationships/hyperlink" Target="https://youtu.be/k7RM-ot2NW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16833"/>
            <a:ext cx="7772400" cy="1683618"/>
          </a:xfrm>
        </p:spPr>
        <p:txBody>
          <a:bodyPr>
            <a:normAutofit/>
          </a:bodyPr>
          <a:lstStyle/>
          <a:p>
            <a:r>
              <a:rPr lang="en-US" dirty="0"/>
              <a:t>INF1004 Linear Algebra</a:t>
            </a:r>
            <a:br>
              <a:rPr lang="en-US" dirty="0"/>
            </a:br>
            <a:r>
              <a:rPr lang="en-US" dirty="0"/>
              <a:t>(Part II)</a:t>
            </a:r>
            <a:br>
              <a:rPr lang="en-US" dirty="0"/>
            </a:br>
            <a:r>
              <a:rPr lang="en-US" dirty="0"/>
              <a:t>Lecture 8 : Vectors &amp; Geometry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AECB-2000-4191-92DD-345791BD487C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06388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13022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/>
              <a:t>Outline</a:t>
            </a:r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700" y="2009725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>
              <a:buChar char="-"/>
            </a:pPr>
            <a:r>
              <a:rPr lang="en">
                <a:solidFill>
                  <a:srgbClr val="434343"/>
                </a:solidFill>
              </a:rPr>
              <a:t>Definition of a Vector</a:t>
            </a:r>
            <a:endParaRPr>
              <a:solidFill>
                <a:srgbClr val="434343"/>
              </a:solidFill>
            </a:endParaRPr>
          </a:p>
          <a:p>
            <a:pPr>
              <a:buChar char="-"/>
            </a:pPr>
            <a:r>
              <a:rPr lang="en">
                <a:solidFill>
                  <a:srgbClr val="434343"/>
                </a:solidFill>
              </a:rPr>
              <a:t>Algebraic Operations of Vectors</a:t>
            </a:r>
            <a:endParaRPr>
              <a:solidFill>
                <a:srgbClr val="434343"/>
              </a:solidFill>
            </a:endParaRPr>
          </a:p>
          <a:p>
            <a:pPr>
              <a:buChar char="-"/>
            </a:pPr>
            <a:r>
              <a:rPr lang="en">
                <a:solidFill>
                  <a:srgbClr val="434343"/>
                </a:solidFill>
              </a:rPr>
              <a:t>Unit and Basis Vectors</a:t>
            </a:r>
            <a:endParaRPr>
              <a:solidFill>
                <a:srgbClr val="434343"/>
              </a:solidFill>
            </a:endParaRPr>
          </a:p>
          <a:p>
            <a:pPr>
              <a:buChar char="-"/>
            </a:pPr>
            <a:r>
              <a:rPr lang="en">
                <a:solidFill>
                  <a:srgbClr val="434343"/>
                </a:solidFill>
              </a:rPr>
              <a:t>Dot and Cross Products</a:t>
            </a:r>
            <a:endParaRPr>
              <a:solidFill>
                <a:srgbClr val="434343"/>
              </a:solidFill>
            </a:endParaRPr>
          </a:p>
          <a:p>
            <a:pPr>
              <a:buChar char="-"/>
            </a:pPr>
            <a:r>
              <a:rPr lang="en">
                <a:solidFill>
                  <a:srgbClr val="434343"/>
                </a:solidFill>
              </a:rPr>
              <a:t>Vector Representations of Lines &amp; Planes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311700" y="13022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/>
              <a:t>A Vector</a:t>
            </a:r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311700" y="2009725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>
                <a:solidFill>
                  <a:srgbClr val="434343"/>
                </a:solidFill>
              </a:rPr>
              <a:t>A vector is defined as an entity with a </a:t>
            </a:r>
            <a:r>
              <a:rPr lang="en" b="1">
                <a:solidFill>
                  <a:srgbClr val="0000FF"/>
                </a:solidFill>
              </a:rPr>
              <a:t>magnitude</a:t>
            </a:r>
            <a:r>
              <a:rPr lang="en"/>
              <a:t> and a </a:t>
            </a:r>
            <a:r>
              <a:rPr lang="en" b="1">
                <a:solidFill>
                  <a:srgbClr val="FF0000"/>
                </a:solidFill>
              </a:rPr>
              <a:t>direction</a:t>
            </a:r>
            <a:r>
              <a:rPr lang="en"/>
              <a:t>.</a:t>
            </a:r>
            <a:endParaRPr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Examples: </a:t>
            </a:r>
            <a:endParaRPr/>
          </a:p>
        </p:txBody>
      </p:sp>
      <p:cxnSp>
        <p:nvCxnSpPr>
          <p:cNvPr id="75" name="Google Shape;75;p15"/>
          <p:cNvCxnSpPr/>
          <p:nvPr/>
        </p:nvCxnSpPr>
        <p:spPr>
          <a:xfrm rot="10800000" flipH="1">
            <a:off x="822975" y="3429000"/>
            <a:ext cx="1242600" cy="716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6" name="Google Shape;76;p15"/>
          <p:cNvSpPr txBox="1"/>
          <p:nvPr/>
        </p:nvSpPr>
        <p:spPr>
          <a:xfrm>
            <a:off x="258150" y="4393425"/>
            <a:ext cx="25617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Pushing force of 220 Newtons at an </a:t>
            </a:r>
            <a:r>
              <a:rPr lang="e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angle of 30° from the horizontal</a:t>
            </a:r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4156575" y="3306325"/>
            <a:ext cx="0" cy="823200"/>
          </a:xfrm>
          <a:prstGeom prst="straightConnector1">
            <a:avLst/>
          </a:prstGeom>
          <a:noFill/>
          <a:ln w="28575" cap="flat" cmpd="sng">
            <a:solidFill>
              <a:srgbClr val="CC412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8" name="Google Shape;78;p15"/>
          <p:cNvSpPr txBox="1"/>
          <p:nvPr/>
        </p:nvSpPr>
        <p:spPr>
          <a:xfrm>
            <a:off x="2995575" y="4393425"/>
            <a:ext cx="2452500" cy="11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Gravitational acceleration of 9.81 m/s</a:t>
            </a:r>
            <a:r>
              <a:rPr lang="en" baseline="30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toward the center of the earth</a:t>
            </a:r>
            <a:endParaRPr dirty="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 rot="10800000">
            <a:off x="6328525" y="3429000"/>
            <a:ext cx="855900" cy="789900"/>
          </a:xfrm>
          <a:prstGeom prst="straightConnector1">
            <a:avLst/>
          </a:prstGeom>
          <a:noFill/>
          <a:ln w="2857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0" name="Google Shape;80;p15"/>
          <p:cNvSpPr txBox="1"/>
          <p:nvPr/>
        </p:nvSpPr>
        <p:spPr>
          <a:xfrm>
            <a:off x="5851250" y="4393425"/>
            <a:ext cx="24525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Wind velocity of 3 m/s at a </a:t>
            </a:r>
            <a:r>
              <a:rPr lang="e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bearing of N45°W</a:t>
            </a:r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1" name="Google Shape;81;p15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</a:t>
            </a:fld>
            <a:endParaRPr/>
          </a:p>
        </p:txBody>
      </p:sp>
      <p:sp>
        <p:nvSpPr>
          <p:cNvPr id="2" name="Google Shape;86;p16">
            <a:extLst>
              <a:ext uri="{FF2B5EF4-FFF2-40B4-BE49-F238E27FC236}">
                <a16:creationId xmlns:a16="http://schemas.microsoft.com/office/drawing/2014/main" id="{BB873A12-5D93-D240-BDAA-B82CEF208356}"/>
              </a:ext>
            </a:extLst>
          </p:cNvPr>
          <p:cNvSpPr txBox="1">
            <a:spLocks/>
          </p:cNvSpPr>
          <p:nvPr/>
        </p:nvSpPr>
        <p:spPr>
          <a:xfrm>
            <a:off x="311700" y="160093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l" defTabSz="914400" rtl="0" eaLnBrk="1" latinLnBrk="0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2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SG" dirty="0"/>
              <a:t>Vector Definition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311700" y="160093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Vector Notation</a:t>
            </a:r>
            <a:endParaRPr dirty="0"/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xfrm>
            <a:off x="341665" y="1172307"/>
            <a:ext cx="8520600" cy="499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 dirty="0">
                <a:solidFill>
                  <a:srgbClr val="434343"/>
                </a:solidFill>
              </a:rPr>
              <a:t>A vector when defined in a coordinate system can have the following notations:</a:t>
            </a:r>
            <a:endParaRPr dirty="0">
              <a:solidFill>
                <a:srgbClr val="434343"/>
              </a:solidFill>
            </a:endParaRPr>
          </a:p>
        </p:txBody>
      </p:sp>
      <p:pic>
        <p:nvPicPr>
          <p:cNvPr id="88" name="Google Shape;88;p16" descr="v right-arrow equals the 2 by 1 column matrix Row 1: negative 2 Row 2: 3 equals negative 2 i caret plus 3 j caret equals open paren negative 2 comma 3 close paren⁣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401" y="2288610"/>
            <a:ext cx="28194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401" y="3030576"/>
            <a:ext cx="28860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245700" y="3934944"/>
            <a:ext cx="14481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Matrix notation (column vector)</a:t>
            </a:r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1693800" y="3934944"/>
            <a:ext cx="14481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Unit vector notation</a:t>
            </a:r>
            <a:endParaRPr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2871100" y="3934944"/>
            <a:ext cx="14481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Ordered set notation</a:t>
            </a:r>
            <a:endParaRPr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93" name="Google Shape;93;p16"/>
          <p:cNvCxnSpPr>
            <a:stCxn id="90" idx="0"/>
          </p:cNvCxnSpPr>
          <p:nvPr/>
        </p:nvCxnSpPr>
        <p:spPr>
          <a:xfrm rot="10800000" flipH="1">
            <a:off x="969750" y="3590844"/>
            <a:ext cx="342000" cy="344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" name="Google Shape;94;p16"/>
          <p:cNvCxnSpPr/>
          <p:nvPr/>
        </p:nvCxnSpPr>
        <p:spPr>
          <a:xfrm rot="10800000" flipH="1">
            <a:off x="2417850" y="3528480"/>
            <a:ext cx="81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" name="Google Shape;95;p16"/>
          <p:cNvCxnSpPr>
            <a:stCxn id="92" idx="0"/>
          </p:cNvCxnSpPr>
          <p:nvPr/>
        </p:nvCxnSpPr>
        <p:spPr>
          <a:xfrm rot="10800000">
            <a:off x="3511450" y="3526344"/>
            <a:ext cx="83700" cy="40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96" name="Google Shape;9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6625" y="2644276"/>
            <a:ext cx="3730975" cy="29913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</a:t>
            </a:fld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261738" y="5422188"/>
            <a:ext cx="40074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Note that a vector is usually indicated by:</a:t>
            </a:r>
            <a:endParaRPr dirty="0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indent="-317500">
              <a:buClr>
                <a:srgbClr val="9900FF"/>
              </a:buClr>
              <a:buSzPts val="1400"/>
              <a:buFont typeface="Proxima Nova"/>
              <a:buAutoNum type="arabicPeriod"/>
            </a:pPr>
            <a:r>
              <a:rPr lang="en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An arrow above a letter, or</a:t>
            </a:r>
            <a:endParaRPr dirty="0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indent="-317500">
              <a:buClr>
                <a:srgbClr val="9900FF"/>
              </a:buClr>
              <a:buSzPts val="1400"/>
              <a:buFont typeface="Proxima Nova"/>
              <a:buAutoNum type="arabicPeriod"/>
            </a:pPr>
            <a:r>
              <a:rPr lang="en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A bold letter</a:t>
            </a:r>
            <a:endParaRPr dirty="0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>
            <a:spLocks noGrp="1"/>
          </p:cNvSpPr>
          <p:nvPr>
            <p:ph type="title"/>
          </p:nvPr>
        </p:nvSpPr>
        <p:spPr>
          <a:xfrm>
            <a:off x="357657" y="223263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Representations of a Vector</a:t>
            </a:r>
            <a:endParaRPr dirty="0"/>
          </a:p>
        </p:txBody>
      </p:sp>
      <p:sp>
        <p:nvSpPr>
          <p:cNvPr id="104" name="Google Shape;104;p17"/>
          <p:cNvSpPr txBox="1">
            <a:spLocks noGrp="1"/>
          </p:cNvSpPr>
          <p:nvPr>
            <p:ph type="body" idx="1"/>
          </p:nvPr>
        </p:nvSpPr>
        <p:spPr>
          <a:xfrm>
            <a:off x="357657" y="1141200"/>
            <a:ext cx="8520600" cy="495209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rgbClr val="434343"/>
                </a:solidFill>
              </a:rPr>
              <a:t>A vector need not only represent a quantity with a ‘physical’ magnitude and direction, like a force or velocity.</a:t>
            </a:r>
            <a:endParaRPr dirty="0">
              <a:solidFill>
                <a:srgbClr val="434343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rgbClr val="434343"/>
                </a:solidFill>
              </a:rPr>
              <a:t>In computer science, a vector is commonly treated as a </a:t>
            </a:r>
            <a:r>
              <a:rPr lang="en" dirty="0">
                <a:solidFill>
                  <a:srgbClr val="FF0000"/>
                </a:solidFill>
              </a:rPr>
              <a:t>list (of elements).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105" name="Google Shape;105;p17"/>
          <p:cNvPicPr preferRelativeResize="0"/>
          <p:nvPr/>
        </p:nvPicPr>
        <p:blipFill rotWithShape="1">
          <a:blip r:embed="rId3">
            <a:alphaModFix/>
          </a:blip>
          <a:srcRect t="25393" b="1677"/>
          <a:stretch/>
        </p:blipFill>
        <p:spPr>
          <a:xfrm>
            <a:off x="904848" y="3317388"/>
            <a:ext cx="7448702" cy="248042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3369850" y="5210550"/>
            <a:ext cx="14481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Vector of inputs</a:t>
            </a:r>
            <a:endParaRPr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5001950" y="5210550"/>
            <a:ext cx="14481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Vector of biases</a:t>
            </a:r>
            <a:endParaRPr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7375850" y="5210550"/>
            <a:ext cx="15264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Vector of outputs</a:t>
            </a:r>
            <a:endParaRPr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09" name="Google Shape;109;p17"/>
          <p:cNvCxnSpPr/>
          <p:nvPr/>
        </p:nvCxnSpPr>
        <p:spPr>
          <a:xfrm rot="10800000" flipH="1">
            <a:off x="4279400" y="5046075"/>
            <a:ext cx="197700" cy="26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" name="Google Shape;110;p17"/>
          <p:cNvCxnSpPr/>
          <p:nvPr/>
        </p:nvCxnSpPr>
        <p:spPr>
          <a:xfrm rot="10800000">
            <a:off x="5233975" y="4914375"/>
            <a:ext cx="205800" cy="39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1" name="Google Shape;111;p17"/>
          <p:cNvCxnSpPr/>
          <p:nvPr/>
        </p:nvCxnSpPr>
        <p:spPr>
          <a:xfrm rot="10800000" flipH="1">
            <a:off x="7669975" y="4972050"/>
            <a:ext cx="164700" cy="36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2" name="Google Shape;112;p17"/>
          <p:cNvSpPr txBox="1"/>
          <p:nvPr/>
        </p:nvSpPr>
        <p:spPr>
          <a:xfrm>
            <a:off x="3818750" y="3429000"/>
            <a:ext cx="34524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b="1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Neural Network in Machine Learning</a:t>
            </a:r>
            <a:endParaRPr b="1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3" name="Google Shape;113;p17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>
            <a:spLocks noGrp="1"/>
          </p:cNvSpPr>
          <p:nvPr>
            <p:ph type="title"/>
          </p:nvPr>
        </p:nvSpPr>
        <p:spPr>
          <a:xfrm>
            <a:off x="226208" y="260648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Vector Addition/Subtraction</a:t>
            </a:r>
            <a:endParaRPr dirty="0"/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1"/>
          </p:nvPr>
        </p:nvSpPr>
        <p:spPr>
          <a:xfrm>
            <a:off x="311700" y="1189888"/>
            <a:ext cx="46671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 dirty="0">
                <a:solidFill>
                  <a:srgbClr val="434343"/>
                </a:solidFill>
              </a:rPr>
              <a:t>Since a vector is a matrix, addition and subtraction follows the </a:t>
            </a:r>
            <a:r>
              <a:rPr lang="en" b="1" dirty="0">
                <a:solidFill>
                  <a:srgbClr val="434343"/>
                </a:solidFill>
              </a:rPr>
              <a:t>same rules for matrices.</a:t>
            </a:r>
            <a:endParaRPr b="1" dirty="0">
              <a:solidFill>
                <a:srgbClr val="434343"/>
              </a:solidFill>
            </a:endParaRPr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1500" y="2009726"/>
            <a:ext cx="3890100" cy="3676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 descr="w right-arrow equals u right-arrow plus v right-arrow equals the 2 by 1 column matrix 4 5 plus the 2 by 1 column matrix Row 1: negative 2 Row 2: 3 equals the 2 by 1 column matrix 2 8⁣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7752" y="3167064"/>
            <a:ext cx="2867004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 descr="s right-arrow equals u right-arrow minus v right-arrow equals the 2 by 1 column matrix 4 5 minus the 2 by 1 column matrix Row 1: negative 2 Row 2: 3 equals the 2 by 1 column matrix 6 2⁣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6326" y="3924351"/>
            <a:ext cx="2838429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 txBox="1"/>
          <p:nvPr/>
        </p:nvSpPr>
        <p:spPr>
          <a:xfrm>
            <a:off x="311700" y="4764350"/>
            <a:ext cx="40074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Graphically, vectors are added by linking the head (arrow) of one vector to the tail of the other.</a:t>
            </a:r>
            <a:endParaRPr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4" name="Google Shape;124;p18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>
            <a:spLocks noGrp="1"/>
          </p:cNvSpPr>
          <p:nvPr>
            <p:ph type="title"/>
          </p:nvPr>
        </p:nvSpPr>
        <p:spPr>
          <a:xfrm>
            <a:off x="226208" y="22498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Magnitude &amp; Direction</a:t>
            </a:r>
            <a:endParaRPr dirty="0"/>
          </a:p>
        </p:txBody>
      </p:sp>
      <p:sp>
        <p:nvSpPr>
          <p:cNvPr id="130" name="Google Shape;130;p19"/>
          <p:cNvSpPr txBox="1">
            <a:spLocks noGrp="1"/>
          </p:cNvSpPr>
          <p:nvPr>
            <p:ph type="body" idx="1"/>
          </p:nvPr>
        </p:nvSpPr>
        <p:spPr>
          <a:xfrm>
            <a:off x="285585" y="1193258"/>
            <a:ext cx="4815300" cy="814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rgbClr val="434343"/>
                </a:solidFill>
              </a:rPr>
              <a:t>Using Pythagoras theorem and simple trigonometry, we can define for:</a:t>
            </a:r>
            <a:endParaRPr dirty="0">
              <a:solidFill>
                <a:srgbClr val="434343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31" name="Google Shape;131;p19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7</a:t>
            </a:fld>
            <a:endParaRPr/>
          </a:p>
        </p:txBody>
      </p:sp>
      <p:pic>
        <p:nvPicPr>
          <p:cNvPr id="132" name="Google Shape;132;p19" descr="theta equals the inverse tangent of open paren the fraction with numerator V sub y and denominator V sub x close paren⁣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861" y="5299213"/>
            <a:ext cx="14097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1550" y="2753150"/>
            <a:ext cx="8763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/>
        </p:nvSpPr>
        <p:spPr>
          <a:xfrm>
            <a:off x="280644" y="3225076"/>
            <a:ext cx="1908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Magnitude (Length):</a:t>
            </a:r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317664" y="4475750"/>
            <a:ext cx="1908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Direction (Angle):</a:t>
            </a:r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6" name="Google Shape;136;p19" descr="the absolute value of V right-arrow equals the square root of V sub x raised to the 2 power plus V sub y raised to the 2 power⁣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600" y="3945351"/>
            <a:ext cx="1581150" cy="390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19"/>
          <p:cNvCxnSpPr/>
          <p:nvPr/>
        </p:nvCxnSpPr>
        <p:spPr>
          <a:xfrm>
            <a:off x="2403025" y="3605925"/>
            <a:ext cx="0" cy="181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8" name="Google Shape;13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73300" y="4610126"/>
            <a:ext cx="12001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49489" y="4227276"/>
            <a:ext cx="124777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 txBox="1"/>
          <p:nvPr/>
        </p:nvSpPr>
        <p:spPr>
          <a:xfrm>
            <a:off x="2730369" y="3445362"/>
            <a:ext cx="1908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x &amp; y components:</a:t>
            </a:r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1" name="Google Shape;141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09201" y="2009719"/>
            <a:ext cx="2981037" cy="35514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142;p19"/>
          <p:cNvCxnSpPr/>
          <p:nvPr/>
        </p:nvCxnSpPr>
        <p:spPr>
          <a:xfrm>
            <a:off x="5678425" y="5243625"/>
            <a:ext cx="2271300" cy="0"/>
          </a:xfrm>
          <a:prstGeom prst="straightConnector1">
            <a:avLst/>
          </a:prstGeom>
          <a:noFill/>
          <a:ln w="28575" cap="flat" cmpd="sng">
            <a:solidFill>
              <a:srgbClr val="9900FF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43" name="Google Shape;143;p19"/>
          <p:cNvCxnSpPr/>
          <p:nvPr/>
        </p:nvCxnSpPr>
        <p:spPr>
          <a:xfrm rot="10800000">
            <a:off x="7982700" y="2182175"/>
            <a:ext cx="0" cy="3045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44" name="Google Shape;144;p19"/>
          <p:cNvSpPr txBox="1"/>
          <p:nvPr/>
        </p:nvSpPr>
        <p:spPr>
          <a:xfrm>
            <a:off x="5789072" y="4881537"/>
            <a:ext cx="2964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i="1">
                <a:latin typeface="Proxima Nova"/>
                <a:ea typeface="Proxima Nova"/>
                <a:cs typeface="Proxima Nova"/>
                <a:sym typeface="Proxima Nova"/>
              </a:rPr>
              <a:t>θ</a:t>
            </a:r>
            <a:endParaRPr i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7943095" y="3621541"/>
            <a:ext cx="444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i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r>
              <a:rPr lang="en" i="1" baseline="-25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y</a:t>
            </a:r>
            <a:endParaRPr i="1" baseline="-25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6683970" y="4840094"/>
            <a:ext cx="444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i="1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r>
              <a:rPr lang="en" i="1" baseline="-2500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endParaRPr i="1" baseline="-25000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>
            <a:spLocks noGrp="1"/>
          </p:cNvSpPr>
          <p:nvPr>
            <p:ph type="title"/>
          </p:nvPr>
        </p:nvSpPr>
        <p:spPr>
          <a:xfrm>
            <a:off x="311700" y="13022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/>
              <a:t>Exercise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body" idx="1"/>
          </p:nvPr>
        </p:nvSpPr>
        <p:spPr>
          <a:xfrm>
            <a:off x="311700" y="2009725"/>
            <a:ext cx="49965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>
                <a:solidFill>
                  <a:srgbClr val="0B5394"/>
                </a:solidFill>
              </a:rPr>
              <a:t>Determine the magnitude, direction and components of vectors </a:t>
            </a:r>
            <a:r>
              <a:rPr lang="en" b="1">
                <a:solidFill>
                  <a:srgbClr val="0B5394"/>
                </a:solidFill>
              </a:rPr>
              <a:t>u</a:t>
            </a:r>
            <a:r>
              <a:rPr lang="en">
                <a:solidFill>
                  <a:srgbClr val="0B5394"/>
                </a:solidFill>
              </a:rPr>
              <a:t> and </a:t>
            </a:r>
            <a:r>
              <a:rPr lang="en" b="1">
                <a:solidFill>
                  <a:srgbClr val="0B5394"/>
                </a:solidFill>
              </a:rPr>
              <a:t>v</a:t>
            </a:r>
            <a:r>
              <a:rPr lang="en">
                <a:solidFill>
                  <a:srgbClr val="0B5394"/>
                </a:solidFill>
              </a:rPr>
              <a:t>.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153" name="Google Shape;153;p20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8</a:t>
            </a:fld>
            <a:endParaRPr/>
          </a:p>
        </p:txBody>
      </p:sp>
      <p:pic>
        <p:nvPicPr>
          <p:cNvPr id="154" name="Google Shape;15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6000" y="2212350"/>
            <a:ext cx="3705250" cy="297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 txBox="1"/>
          <p:nvPr/>
        </p:nvSpPr>
        <p:spPr>
          <a:xfrm>
            <a:off x="4285950" y="5377325"/>
            <a:ext cx="47754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Ans: |</a:t>
            </a:r>
            <a:r>
              <a:rPr lang="en" b="1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u|</a:t>
            </a:r>
            <a:r>
              <a:rPr lang="e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 = √(41), |</a:t>
            </a:r>
            <a:r>
              <a:rPr lang="en" b="1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r>
              <a:rPr lang="e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| = √(13), θ</a:t>
            </a:r>
            <a:r>
              <a:rPr lang="en" baseline="-250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u</a:t>
            </a:r>
            <a:r>
              <a:rPr lang="e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 = 0.896 rad, θ</a:t>
            </a:r>
            <a:r>
              <a:rPr lang="en" baseline="-250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r>
              <a:rPr lang="e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 = 2.16 rad  </a:t>
            </a:r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>
            <a:spLocks noGrp="1"/>
          </p:cNvSpPr>
          <p:nvPr>
            <p:ph type="title"/>
          </p:nvPr>
        </p:nvSpPr>
        <p:spPr>
          <a:xfrm>
            <a:off x="500558" y="35820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Exercise</a:t>
            </a:r>
            <a:endParaRPr dirty="0"/>
          </a:p>
        </p:txBody>
      </p:sp>
      <p:sp>
        <p:nvSpPr>
          <p:cNvPr id="152" name="Google Shape;152;p20"/>
          <p:cNvSpPr txBox="1">
            <a:spLocks noGrp="1"/>
          </p:cNvSpPr>
          <p:nvPr>
            <p:ph type="body" idx="1"/>
          </p:nvPr>
        </p:nvSpPr>
        <p:spPr>
          <a:xfrm>
            <a:off x="251520" y="1196752"/>
            <a:ext cx="4996500" cy="158417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 dirty="0">
                <a:solidFill>
                  <a:srgbClr val="0B5394"/>
                </a:solidFill>
              </a:rPr>
              <a:t>Determine the magnitude, direction and components of vectors </a:t>
            </a:r>
            <a:r>
              <a:rPr lang="en" b="1" dirty="0">
                <a:solidFill>
                  <a:srgbClr val="0B5394"/>
                </a:solidFill>
              </a:rPr>
              <a:t>u</a:t>
            </a:r>
            <a:r>
              <a:rPr lang="en" dirty="0">
                <a:solidFill>
                  <a:srgbClr val="0B5394"/>
                </a:solidFill>
              </a:rPr>
              <a:t> and </a:t>
            </a:r>
            <a:r>
              <a:rPr lang="en" b="1" dirty="0">
                <a:solidFill>
                  <a:srgbClr val="0B5394"/>
                </a:solidFill>
              </a:rPr>
              <a:t>v</a:t>
            </a:r>
            <a:r>
              <a:rPr lang="en" dirty="0">
                <a:solidFill>
                  <a:srgbClr val="0B5394"/>
                </a:solidFill>
              </a:rPr>
              <a:t>.</a:t>
            </a:r>
            <a:endParaRPr dirty="0">
              <a:solidFill>
                <a:srgbClr val="0B5394"/>
              </a:solidFill>
            </a:endParaRPr>
          </a:p>
        </p:txBody>
      </p:sp>
      <p:sp>
        <p:nvSpPr>
          <p:cNvPr id="153" name="Google Shape;153;p20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9</a:t>
            </a:fld>
            <a:endParaRPr/>
          </a:p>
        </p:txBody>
      </p:sp>
      <p:pic>
        <p:nvPicPr>
          <p:cNvPr id="154" name="Google Shape;15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6000" y="2212350"/>
            <a:ext cx="3705250" cy="297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 txBox="1"/>
          <p:nvPr/>
        </p:nvSpPr>
        <p:spPr>
          <a:xfrm>
            <a:off x="4285950" y="5377325"/>
            <a:ext cx="47754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Ans: |</a:t>
            </a:r>
            <a:r>
              <a:rPr lang="en" b="1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u|</a:t>
            </a:r>
            <a:r>
              <a:rPr lang="e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 = √(41), |</a:t>
            </a:r>
            <a:r>
              <a:rPr lang="en" b="1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r>
              <a:rPr lang="e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| = √(13), θ</a:t>
            </a:r>
            <a:r>
              <a:rPr lang="en" baseline="-250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u</a:t>
            </a:r>
            <a:r>
              <a:rPr lang="e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 = 0.896 rad, θ</a:t>
            </a:r>
            <a:r>
              <a:rPr lang="en" baseline="-250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r>
              <a:rPr lang="e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 = 2.16 rad  </a:t>
            </a:r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5B3346-CC22-D022-BBBF-E3A8788B70A1}"/>
                  </a:ext>
                </a:extLst>
              </p:cNvPr>
              <p:cNvSpPr txBox="1"/>
              <p:nvPr/>
            </p:nvSpPr>
            <p:spPr>
              <a:xfrm>
                <a:off x="87818" y="2636912"/>
                <a:ext cx="4584246" cy="3653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SG" sz="2200" b="1" i="1" spc="-3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𝒖</m:t>
                    </m:r>
                    <m:r>
                      <a:rPr lang="en-SG" sz="2200" b="1" i="1" spc="-3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=(</m:t>
                    </m:r>
                    <m:r>
                      <a:rPr lang="en-SG" sz="22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4, 5</m:t>
                    </m:r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), </m:t>
                    </m:r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𝒗</m:t>
                    </m:r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=(−</m:t>
                    </m:r>
                    <m:r>
                      <a:rPr lang="en-SG" sz="22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2, 3</m:t>
                    </m:r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)</m:t>
                    </m:r>
                  </m:oMath>
                </a14:m>
                <a:r>
                  <a:rPr lang="en-SG" sz="2200" b="1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	</a:t>
                </a:r>
                <a:endParaRPr lang="en-US" sz="22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2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Magnitude of </a:t>
                </a:r>
                <a14:m>
                  <m:oMath xmlns:m="http://schemas.openxmlformats.org/officeDocument/2006/math"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𝒖</m:t>
                    </m:r>
                  </m:oMath>
                </a14:m>
                <a:r>
                  <a:rPr lang="en-SG" sz="2200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,</a:t>
                </a:r>
                <a:r>
                  <a:rPr lang="en-SG" sz="22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r>
                          <a:rPr lang="en-SG" sz="22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𝒖</m:t>
                        </m:r>
                      </m:e>
                    </m:d>
                    <m:r>
                      <a:rPr lang="en-SG" sz="22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SG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4</m:t>
                            </m:r>
                          </m:e>
                          <m:sup>
                            <m:r>
                              <a:rPr lang="en-SG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SG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SG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5</m:t>
                            </m:r>
                          </m:e>
                          <m:sup>
                            <m:r>
                              <a:rPr lang="en-SG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SG" sz="22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radPr>
                      <m:deg/>
                      <m:e>
                        <m:r>
                          <a:rPr lang="en-SG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41</m:t>
                        </m:r>
                      </m:e>
                    </m:rad>
                  </m:oMath>
                </a14:m>
                <a:endParaRPr lang="en-US" sz="22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2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Magnitude of </a:t>
                </a:r>
                <a14:m>
                  <m:oMath xmlns:m="http://schemas.openxmlformats.org/officeDocument/2006/math"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𝒗</m:t>
                    </m:r>
                  </m:oMath>
                </a14:m>
                <a:r>
                  <a:rPr lang="en-SG" sz="2200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,</a:t>
                </a:r>
                <a:r>
                  <a:rPr lang="en-SG" sz="22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r>
                          <a:rPr lang="en-SG" sz="22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𝒗</m:t>
                        </m:r>
                      </m:e>
                    </m:d>
                    <m:r>
                      <a:rPr lang="en-SG" sz="22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SG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(−2)</m:t>
                            </m:r>
                          </m:e>
                          <m:sup>
                            <m:r>
                              <a:rPr lang="en-SG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SG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SG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3</m:t>
                            </m:r>
                          </m:e>
                          <m:sup>
                            <m:r>
                              <a:rPr lang="en-SG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SG" sz="22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radPr>
                      <m:deg/>
                      <m:e>
                        <m:r>
                          <a:rPr lang="en-SG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13</m:t>
                        </m:r>
                      </m:e>
                    </m:rad>
                  </m:oMath>
                </a14:m>
                <a:endParaRPr lang="en-US" sz="22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2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Direction of </a:t>
                </a:r>
                <a14:m>
                  <m:oMath xmlns:m="http://schemas.openxmlformats.org/officeDocument/2006/math"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𝒖</m:t>
                    </m:r>
                  </m:oMath>
                </a14:m>
                <a:r>
                  <a:rPr lang="en-SG" sz="2200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𝜃</m:t>
                        </m:r>
                      </m:e>
                      <m:sub>
                        <m:r>
                          <a:rPr lang="en-SG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𝑢</m:t>
                        </m:r>
                      </m:sub>
                    </m:sSub>
                    <m:r>
                      <a:rPr lang="en-SG" sz="22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SG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𝑡𝑎𝑛</m:t>
                        </m:r>
                      </m:e>
                      <m:sup>
                        <m:r>
                          <a:rPr lang="en-SG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SG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5</m:t>
                            </m:r>
                          </m:num>
                          <m:den>
                            <m:r>
                              <a:rPr lang="en-SG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SG" sz="22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SG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51.34</m:t>
                        </m:r>
                      </m:e>
                      <m:sup>
                        <m:r>
                          <a:rPr lang="en-SG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𝑜</m:t>
                        </m:r>
                      </m:sup>
                    </m:sSup>
                    <m:r>
                      <a:rPr lang="en-SG" sz="22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=0.896 </m:t>
                    </m:r>
                    <m:r>
                      <a:rPr lang="en-SG" sz="22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𝑟𝑎𝑑</m:t>
                    </m:r>
                  </m:oMath>
                </a14:m>
                <a:endParaRPr lang="en-US" sz="22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2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Direction of </a:t>
                </a:r>
                <a14:m>
                  <m:oMath xmlns:m="http://schemas.openxmlformats.org/officeDocument/2006/math"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𝒗</m:t>
                    </m:r>
                  </m:oMath>
                </a14:m>
                <a:r>
                  <a:rPr lang="en-SG" sz="2200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𝜃</m:t>
                        </m:r>
                      </m:e>
                      <m:sub>
                        <m:r>
                          <a:rPr lang="en-SG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𝑣</m:t>
                        </m:r>
                      </m:sub>
                    </m:sSub>
                    <m:r>
                      <a:rPr lang="en-SG" sz="22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SG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180</m:t>
                        </m:r>
                      </m:e>
                      <m:sup>
                        <m:r>
                          <a:rPr lang="en-SG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𝑜</m:t>
                        </m:r>
                      </m:sup>
                    </m:sSup>
                    <m:r>
                      <a:rPr lang="en-SG" sz="22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−</m:t>
                    </m:r>
                    <m:sSup>
                      <m:sSupPr>
                        <m:ctrlPr>
                          <a:rPr lang="en-US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SG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𝑡𝑎𝑛</m:t>
                        </m:r>
                      </m:e>
                      <m:sup>
                        <m:r>
                          <a:rPr lang="en-SG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SG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3</m:t>
                            </m:r>
                          </m:num>
                          <m:den>
                            <m:r>
                              <a:rPr lang="en-SG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SG" sz="22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SG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123.69</m:t>
                        </m:r>
                      </m:e>
                      <m:sup>
                        <m:r>
                          <a:rPr lang="en-SG" sz="22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𝑜</m:t>
                        </m:r>
                      </m:sup>
                    </m:sSup>
                    <m:r>
                      <a:rPr lang="en-SG" sz="22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=2.16 </m:t>
                    </m:r>
                    <m:r>
                      <a:rPr lang="en-SG" sz="22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𝑟𝑎𝑑</m:t>
                    </m:r>
                  </m:oMath>
                </a14:m>
                <a:endParaRPr lang="en-US" sz="22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5B3346-CC22-D022-BBBF-E3A8788B7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8" y="2636912"/>
                <a:ext cx="4584246" cy="3653564"/>
              </a:xfrm>
              <a:prstGeom prst="rect">
                <a:avLst/>
              </a:prstGeom>
              <a:blipFill>
                <a:blip r:embed="rId4"/>
                <a:stretch>
                  <a:fillRect l="-172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8499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>
            <a:spLocks noGrp="1"/>
          </p:cNvSpPr>
          <p:nvPr>
            <p:ph type="title"/>
          </p:nvPr>
        </p:nvSpPr>
        <p:spPr>
          <a:xfrm>
            <a:off x="314241" y="18864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Vectors in Higher Dimensions</a:t>
            </a:r>
            <a:endParaRPr dirty="0"/>
          </a:p>
        </p:txBody>
      </p:sp>
      <p:sp>
        <p:nvSpPr>
          <p:cNvPr id="161" name="Google Shape;161;p21"/>
          <p:cNvSpPr txBox="1">
            <a:spLocks noGrp="1"/>
          </p:cNvSpPr>
          <p:nvPr>
            <p:ph type="body" idx="1"/>
          </p:nvPr>
        </p:nvSpPr>
        <p:spPr>
          <a:xfrm>
            <a:off x="279150" y="991440"/>
            <a:ext cx="53511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rgbClr val="434343"/>
                </a:solidFill>
              </a:rPr>
              <a:t>Similar rules apply to vectors in 3D and above.</a:t>
            </a:r>
            <a:endParaRPr dirty="0">
              <a:solidFill>
                <a:srgbClr val="434343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rgbClr val="0B5394"/>
                </a:solidFill>
              </a:rPr>
              <a:t>Exercise: Determine the magnitude, direction and components of vector </a:t>
            </a:r>
            <a:r>
              <a:rPr lang="en" b="1" dirty="0">
                <a:solidFill>
                  <a:srgbClr val="0B5394"/>
                </a:solidFill>
              </a:rPr>
              <a:t>V</a:t>
            </a:r>
            <a:r>
              <a:rPr lang="en" dirty="0">
                <a:solidFill>
                  <a:srgbClr val="0B5394"/>
                </a:solidFill>
              </a:rPr>
              <a:t>.</a:t>
            </a:r>
            <a:endParaRPr dirty="0">
              <a:solidFill>
                <a:srgbClr val="0B5394"/>
              </a:solidFill>
            </a:endParaRPr>
          </a:p>
        </p:txBody>
      </p:sp>
      <p:sp>
        <p:nvSpPr>
          <p:cNvPr id="162" name="Google Shape;162;p21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10</a:t>
            </a:fld>
            <a:endParaRPr/>
          </a:p>
        </p:txBody>
      </p:sp>
      <p:pic>
        <p:nvPicPr>
          <p:cNvPr id="163" name="Google Shape;16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8300" y="1581175"/>
            <a:ext cx="2924900" cy="361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1"/>
          <p:cNvSpPr txBox="1"/>
          <p:nvPr/>
        </p:nvSpPr>
        <p:spPr>
          <a:xfrm>
            <a:off x="5472677" y="5426125"/>
            <a:ext cx="32718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Ans: |</a:t>
            </a:r>
            <a:r>
              <a:rPr lang="en" b="1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r>
              <a:rPr lang="en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| = √(38), θ</a:t>
            </a:r>
            <a:r>
              <a:rPr lang="en" baseline="-25000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r>
              <a:rPr lang="en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 = 0.946 rad  </a:t>
            </a:r>
            <a:endParaRPr dirty="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>
            <a:spLocks noGrp="1"/>
          </p:cNvSpPr>
          <p:nvPr>
            <p:ph type="title"/>
          </p:nvPr>
        </p:nvSpPr>
        <p:spPr>
          <a:xfrm>
            <a:off x="314241" y="18864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Vectors in Higher Dimensions</a:t>
            </a:r>
            <a:endParaRPr dirty="0"/>
          </a:p>
        </p:txBody>
      </p:sp>
      <p:sp>
        <p:nvSpPr>
          <p:cNvPr id="161" name="Google Shape;161;p21"/>
          <p:cNvSpPr txBox="1">
            <a:spLocks noGrp="1"/>
          </p:cNvSpPr>
          <p:nvPr>
            <p:ph type="body" idx="1"/>
          </p:nvPr>
        </p:nvSpPr>
        <p:spPr>
          <a:xfrm>
            <a:off x="279150" y="991440"/>
            <a:ext cx="53511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rgbClr val="0B5394"/>
                </a:solidFill>
              </a:rPr>
              <a:t>Exercise: Determine the magnitude, direction and components of vector </a:t>
            </a:r>
            <a:r>
              <a:rPr lang="en" b="1" dirty="0">
                <a:solidFill>
                  <a:srgbClr val="0B5394"/>
                </a:solidFill>
              </a:rPr>
              <a:t>V</a:t>
            </a:r>
            <a:r>
              <a:rPr lang="en" dirty="0">
                <a:solidFill>
                  <a:srgbClr val="0B5394"/>
                </a:solidFill>
              </a:rPr>
              <a:t>.</a:t>
            </a:r>
            <a:endParaRPr dirty="0">
              <a:solidFill>
                <a:srgbClr val="0B5394"/>
              </a:solidFill>
            </a:endParaRPr>
          </a:p>
        </p:txBody>
      </p:sp>
      <p:sp>
        <p:nvSpPr>
          <p:cNvPr id="162" name="Google Shape;162;p21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11</a:t>
            </a:fld>
            <a:endParaRPr/>
          </a:p>
        </p:txBody>
      </p:sp>
      <p:pic>
        <p:nvPicPr>
          <p:cNvPr id="163" name="Google Shape;16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8300" y="1581175"/>
            <a:ext cx="2924900" cy="361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1"/>
          <p:cNvSpPr txBox="1"/>
          <p:nvPr/>
        </p:nvSpPr>
        <p:spPr>
          <a:xfrm>
            <a:off x="5472677" y="5426125"/>
            <a:ext cx="32718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Ans: |</a:t>
            </a:r>
            <a:r>
              <a:rPr lang="en" b="1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r>
              <a:rPr lang="en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| = √(38), θ</a:t>
            </a:r>
            <a:r>
              <a:rPr lang="en" baseline="-25000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r>
              <a:rPr lang="en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 = 0.946 rad  </a:t>
            </a:r>
            <a:endParaRPr dirty="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964DC94-7B0F-C3C1-1A5B-50F8D7DE08C9}"/>
                  </a:ext>
                </a:extLst>
              </p:cNvPr>
              <p:cNvSpPr txBox="1"/>
              <p:nvPr/>
            </p:nvSpPr>
            <p:spPr>
              <a:xfrm>
                <a:off x="399523" y="2832125"/>
                <a:ext cx="4584246" cy="2549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SG" sz="2400" b="1" i="1" spc="-3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𝑽</m:t>
                    </m:r>
                    <m:r>
                      <a:rPr lang="en-SG" sz="2400" b="1" i="1" spc="-3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>
                      <a:rPr lang="en-SG" sz="24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(3, 2, 5</m:t>
                    </m:r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)</m:t>
                    </m:r>
                  </m:oMath>
                </a14:m>
                <a:r>
                  <a:rPr lang="en-SG" sz="2400" b="1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	</a:t>
                </a:r>
                <a:endParaRPr lang="en-US" sz="24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4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Magnitude of </a:t>
                </a:r>
                <a14:m>
                  <m:oMath xmlns:m="http://schemas.openxmlformats.org/officeDocument/2006/math"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𝑽</m:t>
                    </m:r>
                  </m:oMath>
                </a14:m>
                <a:r>
                  <a:rPr lang="en-SG" sz="2400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,</a:t>
                </a:r>
                <a:r>
                  <a:rPr lang="en-SG" sz="24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r>
                          <a:rPr lang="en-SG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𝑽</m:t>
                        </m:r>
                      </m:e>
                    </m:d>
                    <m:r>
                      <a:rPr lang="en-SG" sz="24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SG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3</m:t>
                            </m:r>
                          </m:e>
                          <m:sup>
                            <m:r>
                              <a:rPr lang="en-SG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24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SG" sz="24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SG" sz="24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SG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+5</m:t>
                            </m:r>
                          </m:e>
                          <m:sup>
                            <m:r>
                              <a:rPr lang="en-SG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SG" sz="24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radPr>
                      <m:deg/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38</m:t>
                        </m:r>
                      </m:e>
                    </m:rad>
                  </m:oMath>
                </a14:m>
                <a:endParaRPr lang="en-US" sz="24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4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Direction of </a:t>
                </a:r>
                <a14:m>
                  <m:oMath xmlns:m="http://schemas.openxmlformats.org/officeDocument/2006/math"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𝑽</m:t>
                    </m:r>
                  </m:oMath>
                </a14:m>
                <a:r>
                  <a:rPr lang="en-SG" sz="2400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𝜃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𝑉</m:t>
                        </m:r>
                      </m:sub>
                    </m:sSub>
                    <m:r>
                      <a:rPr lang="en-SG" sz="24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𝑡𝑎𝑛</m:t>
                        </m:r>
                      </m:e>
                      <m:sup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SG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5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sz="24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SG" sz="24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SG" sz="24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SG" sz="24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4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SG" sz="24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SG" sz="24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  <m:r>
                      <a:rPr lang="en-SG" sz="24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𝑡𝑎𝑛</m:t>
                        </m:r>
                      </m:e>
                      <m:sup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SG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5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SG" sz="24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13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a:rPr lang="en-SG" sz="24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=54.2</m:t>
                    </m:r>
                    <m:sSup>
                      <m:sSupPr>
                        <m:ctrlP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0</m:t>
                        </m:r>
                      </m:e>
                      <m:sup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𝑜</m:t>
                        </m:r>
                      </m:sup>
                    </m:sSup>
                    <m:r>
                      <a:rPr lang="en-SG" sz="24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=0.946 </m:t>
                    </m:r>
                    <m:r>
                      <a:rPr lang="en-SG" sz="24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𝑟𝑎𝑑</m:t>
                    </m:r>
                  </m:oMath>
                </a14:m>
                <a:endParaRPr lang="en-US" sz="24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964DC94-7B0F-C3C1-1A5B-50F8D7DE0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23" y="2832125"/>
                <a:ext cx="4584246" cy="2549159"/>
              </a:xfrm>
              <a:prstGeom prst="rect">
                <a:avLst/>
              </a:prstGeom>
              <a:blipFill>
                <a:blip r:embed="rId4"/>
                <a:stretch>
                  <a:fillRect l="-212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4995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311787" y="25838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Scaling a Vector</a:t>
            </a:r>
            <a:endParaRPr dirty="0"/>
          </a:p>
        </p:txBody>
      </p:sp>
      <p:sp>
        <p:nvSpPr>
          <p:cNvPr id="170" name="Google Shape;170;p22"/>
          <p:cNvSpPr txBox="1">
            <a:spLocks noGrp="1"/>
          </p:cNvSpPr>
          <p:nvPr>
            <p:ph type="body" idx="1"/>
          </p:nvPr>
        </p:nvSpPr>
        <p:spPr>
          <a:xfrm>
            <a:off x="311700" y="1247823"/>
            <a:ext cx="8520600" cy="8472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 dirty="0">
                <a:solidFill>
                  <a:srgbClr val="434343"/>
                </a:solidFill>
              </a:rPr>
              <a:t>Multiplying a vector by a scalar changes the length and/or direction along a</a:t>
            </a:r>
            <a:r>
              <a:rPr lang="en" dirty="0"/>
              <a:t> </a:t>
            </a:r>
            <a:r>
              <a:rPr lang="en" b="1" dirty="0">
                <a:solidFill>
                  <a:srgbClr val="9900FF"/>
                </a:solidFill>
              </a:rPr>
              <a:t>line collinear with the vector (along its linear span)</a:t>
            </a:r>
            <a:r>
              <a:rPr lang="en" dirty="0">
                <a:solidFill>
                  <a:srgbClr val="9900FF"/>
                </a:solidFill>
              </a:rPr>
              <a:t>.</a:t>
            </a:r>
            <a:r>
              <a:rPr lang="en" dirty="0"/>
              <a:t> </a:t>
            </a:r>
            <a:endParaRPr dirty="0"/>
          </a:p>
        </p:txBody>
      </p:sp>
      <p:sp>
        <p:nvSpPr>
          <p:cNvPr id="171" name="Google Shape;171;p22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12</a:t>
            </a:fld>
            <a:endParaRPr/>
          </a:p>
        </p:txBody>
      </p:sp>
      <p:pic>
        <p:nvPicPr>
          <p:cNvPr id="172" name="Google Shape;17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8825" y="2449201"/>
            <a:ext cx="2715800" cy="3356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" name="Google Shape;173;p22"/>
          <p:cNvCxnSpPr/>
          <p:nvPr/>
        </p:nvCxnSpPr>
        <p:spPr>
          <a:xfrm flipH="1">
            <a:off x="5661941" y="2503175"/>
            <a:ext cx="2551200" cy="2748600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174" name="Google Shape;174;p22"/>
          <p:cNvSpPr txBox="1"/>
          <p:nvPr/>
        </p:nvSpPr>
        <p:spPr>
          <a:xfrm>
            <a:off x="311725" y="3851575"/>
            <a:ext cx="5021400" cy="19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The scalar, λ, scales the vector V according to:</a:t>
            </a:r>
            <a:endParaRPr sz="2000"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r>
              <a:rPr lang="en" sz="2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|λ| &gt; 1 lengthens V,</a:t>
            </a:r>
            <a:endParaRPr sz="2000"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r>
              <a:rPr lang="en" sz="2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|λ| &lt; 1 shortens V and</a:t>
            </a:r>
            <a:endParaRPr sz="2000"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r>
              <a:rPr lang="en" sz="2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λ &lt; 0 flips the direction of V.</a:t>
            </a:r>
            <a:endParaRPr sz="2000"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r>
              <a:rPr lang="en" sz="20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Notice that the same rule of scalar multiplication for matrices applies, since a vector is also a matrix.</a:t>
            </a:r>
            <a:endParaRPr sz="2000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5" name="Google Shape;175;p22" descr="&lt;math xmlns=&quot;http://www.w3.org/1998/Math/MathML&quot; display=&quot;block&quot; data-is-equatio=&quot;1&quot; data-latex=&quot;\lambda\vec{V}=\lambda\left[\begin{matrix}V_x\\V_y\\V_z\end{matrix}\right]=\left[\begin{matrix}\lambda V_x\\\lambda V_y\\\lambda V_z\end{matrix}\right]\ &quot;&gt;&lt;mi&gt;λ&lt;/mi&gt;&lt;mrow&gt;&lt;mover&gt;&lt;mi&gt;V&lt;/mi&gt;&lt;mo stretchy=&quot;false&quot;&gt;→&lt;/mo&gt;&lt;/mover&gt;&lt;/mrow&gt;&lt;mo&gt;=&lt;/mo&gt;&lt;mi&gt;λ&lt;/mi&gt;&lt;mrow data-mjx-texclass=&quot;INNER&quot;&gt;&lt;mo data-mjx-texclass=&quot;OPEN&quot;&gt;[&lt;/mo&gt;&lt;mtable columnspacing=&quot;1em&quot; rowspacing=&quot;4pt&quot;&gt;&lt;mtr&gt;&lt;mtd&gt;&lt;msub&gt;&lt;mi&gt;V&lt;/mi&gt;&lt;mi&gt;x&lt;/mi&gt;&lt;/msub&gt;&lt;/mtd&gt;&lt;/mtr&gt;&lt;mtr&gt;&lt;mtd&gt;&lt;msub&gt;&lt;mi&gt;V&lt;/mi&gt;&lt;mi&gt;y&lt;/mi&gt;&lt;/msub&gt;&lt;/mtd&gt;&lt;/mtr&gt;&lt;mtr&gt;&lt;mtd&gt;&lt;msub&gt;&lt;mi&gt;V&lt;/mi&gt;&lt;mi&gt;z&lt;/mi&gt;&lt;/msub&gt;&lt;/mtd&gt;&lt;/mtr&gt;&lt;/mtable&gt;&lt;mo data-mjx-texclass=&quot;CLOSE&quot;&gt;]&lt;/mo&gt;&lt;/mrow&gt;&lt;mo&gt;=&lt;/mo&gt;&lt;mrow data-mjx-texclass=&quot;INNER&quot;&gt;&lt;mo data-mjx-texclass=&quot;OPEN&quot;&gt;[&lt;/mo&gt;&lt;mtable columnspacing=&quot;1em&quot; rowspacing=&quot;4pt&quot;&gt;&lt;mtr&gt;&lt;mtd&gt;&lt;mi&gt;λ&lt;/mi&gt;&lt;msub&gt;&lt;mi&gt;V&lt;/mi&gt;&lt;mi&gt;x&lt;/mi&gt;&lt;/msub&gt;&lt;/mtd&gt;&lt;/mtr&gt;&lt;mtr&gt;&lt;mtd&gt;&lt;mi&gt;λ&lt;/mi&gt;&lt;msub&gt;&lt;mi&gt;V&lt;/mi&gt;&lt;mi&gt;y&lt;/mi&gt;&lt;/msub&gt;&lt;/mtd&gt;&lt;/mtr&gt;&lt;mtr&gt;&lt;mtd&gt;&lt;mi&gt;λ&lt;/mi&gt;&lt;msub&gt;&lt;mi&gt;V&lt;/mi&gt;&lt;mi&gt;z&lt;/mi&gt;&lt;/msub&gt;&lt;/mtd&gt;&lt;/mtr&gt;&lt;/mtable&gt;&lt;mo data-mjx-texclass=&quot;CLOSE&quot;&gt;]&lt;/mo&gt;&lt;/mrow&gt;&lt;mtext&gt;&lt;/mtext&gt;&lt;/math&gt;" title="lamda V right-arrow equals lamda times the 3 by 1 column matrix Row 1: V sub x Row 2: V sub y Row 3: V sub z equals the 3 by 1 column matrix Row 1: lamda V sub x Row 2: lamda V sub y Row 3: lamda V sub z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8810" y="2782822"/>
            <a:ext cx="2159093" cy="84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>
            <a:spLocks noGrp="1"/>
          </p:cNvSpPr>
          <p:nvPr>
            <p:ph type="title"/>
          </p:nvPr>
        </p:nvSpPr>
        <p:spPr>
          <a:xfrm>
            <a:off x="311700" y="183554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Unit Vectors</a:t>
            </a:r>
            <a:endParaRPr dirty="0"/>
          </a:p>
        </p:txBody>
      </p:sp>
      <p:sp>
        <p:nvSpPr>
          <p:cNvPr id="181" name="Google Shape;181;p23"/>
          <p:cNvSpPr txBox="1">
            <a:spLocks noGrp="1"/>
          </p:cNvSpPr>
          <p:nvPr>
            <p:ph type="body" idx="1"/>
          </p:nvPr>
        </p:nvSpPr>
        <p:spPr>
          <a:xfrm>
            <a:off x="303383" y="1047728"/>
            <a:ext cx="8520600" cy="1003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rgbClr val="434343"/>
                </a:solidFill>
              </a:rPr>
              <a:t>A unit vector is a vector with </a:t>
            </a:r>
            <a:r>
              <a:rPr lang="en" b="1" dirty="0">
                <a:solidFill>
                  <a:srgbClr val="434343"/>
                </a:solidFill>
              </a:rPr>
              <a:t>a magnitude of 1</a:t>
            </a:r>
            <a:r>
              <a:rPr lang="en" dirty="0">
                <a:solidFill>
                  <a:srgbClr val="434343"/>
                </a:solidFill>
              </a:rPr>
              <a:t>. </a:t>
            </a:r>
            <a:endParaRPr dirty="0">
              <a:solidFill>
                <a:srgbClr val="434343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rgbClr val="434343"/>
                </a:solidFill>
              </a:rPr>
              <a:t>Examples are: </a:t>
            </a:r>
            <a:endParaRPr dirty="0">
              <a:solidFill>
                <a:srgbClr val="434343"/>
              </a:solidFill>
            </a:endParaRPr>
          </a:p>
        </p:txBody>
      </p:sp>
      <p:sp>
        <p:nvSpPr>
          <p:cNvPr id="182" name="Google Shape;182;p23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13</a:t>
            </a:fld>
            <a:endParaRPr/>
          </a:p>
        </p:txBody>
      </p:sp>
      <p:pic>
        <p:nvPicPr>
          <p:cNvPr id="183" name="Google Shape;183;p23" descr="u right-arrow equals the 2 by 1 column matrix Row 1: the fraction with numerator 1 and denominator the square root of 2 Row 2: the fraction with numerator 1 and denominator the square root of 2 comma v right-arrow equals the 2 by 1 column matrix Row 1: negative one half Row 2: the fraction with numerator the square root of 3 and denominator 2⁣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552" y="3958779"/>
            <a:ext cx="2520280" cy="847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552" y="2762051"/>
            <a:ext cx="2160240" cy="66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9325" y="2422551"/>
            <a:ext cx="3514074" cy="342569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3"/>
          <p:cNvSpPr txBox="1"/>
          <p:nvPr/>
        </p:nvSpPr>
        <p:spPr>
          <a:xfrm>
            <a:off x="311700" y="5062200"/>
            <a:ext cx="47328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Exercise: Show that the above vectors are all unit vectors, using the Pythagoras theorem</a:t>
            </a:r>
            <a:r>
              <a:rPr lang="en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dirty="0">
              <a:solidFill>
                <a:srgbClr val="0B539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>
            <a:spLocks noGrp="1"/>
          </p:cNvSpPr>
          <p:nvPr>
            <p:ph type="title"/>
          </p:nvPr>
        </p:nvSpPr>
        <p:spPr>
          <a:xfrm>
            <a:off x="311700" y="183554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Unit Vectors</a:t>
            </a:r>
            <a:endParaRPr dirty="0"/>
          </a:p>
        </p:txBody>
      </p:sp>
      <p:sp>
        <p:nvSpPr>
          <p:cNvPr id="182" name="Google Shape;182;p23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14</a:t>
            </a:fld>
            <a:endParaRPr/>
          </a:p>
        </p:txBody>
      </p:sp>
      <p:pic>
        <p:nvPicPr>
          <p:cNvPr id="183" name="Google Shape;183;p23" descr="u right-arrow equals the 2 by 1 column matrix Row 1: the fraction with numerator 1 and denominator the square root of 2 Row 2: the fraction with numerator 1 and denominator the square root of 2 comma v right-arrow equals the 2 by 1 column matrix Row 1: negative one half Row 2: the fraction with numerator the square root of 3 and denominator 2⁣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878143"/>
            <a:ext cx="22098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24744"/>
            <a:ext cx="18192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9325" y="2422551"/>
            <a:ext cx="3514074" cy="342569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3"/>
          <p:cNvSpPr txBox="1"/>
          <p:nvPr/>
        </p:nvSpPr>
        <p:spPr>
          <a:xfrm>
            <a:off x="182974" y="2943893"/>
            <a:ext cx="47328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Exercise: Show that the above vectors are all unit vectors, using the Pythagoras theorem.</a:t>
            </a:r>
            <a:endParaRPr>
              <a:solidFill>
                <a:srgbClr val="0B539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2B8EB4-8FE3-2713-A168-5DA9CDEF1F6A}"/>
                  </a:ext>
                </a:extLst>
              </p:cNvPr>
              <p:cNvSpPr txBox="1"/>
              <p:nvPr/>
            </p:nvSpPr>
            <p:spPr>
              <a:xfrm>
                <a:off x="13590" y="3836258"/>
                <a:ext cx="4584246" cy="27892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800" i="1" spc="-30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SG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𝑖</m:t>
                              </m:r>
                            </m:e>
                          </m:acc>
                        </m:e>
                      </m:d>
                      <m:r>
                        <a:rPr lang="en-SG" sz="1800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SG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SG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SG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SG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SG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SG" sz="1800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=1</m:t>
                      </m:r>
                    </m:oMath>
                  </m:oMathPara>
                </a14:m>
                <a:endParaRPr lang="en-US" sz="18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endParaRPr lang="en-US" sz="18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SG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𝑗</m:t>
                              </m:r>
                            </m:e>
                          </m:acc>
                        </m:e>
                      </m:d>
                      <m:r>
                        <a:rPr lang="en-SG" sz="1800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SG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SG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lang="en-SG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SG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SG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SG" sz="1800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=1</m:t>
                      </m:r>
                    </m:oMath>
                  </m:oMathPara>
                </a14:m>
                <a:endParaRPr lang="en-US" sz="18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endParaRPr lang="en-US" sz="18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SG" sz="18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𝒖</m:t>
                          </m:r>
                        </m:e>
                      </m:d>
                      <m:r>
                        <a:rPr lang="en-SG" sz="1800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pPr>
                            <m:e>
                              <m:box>
                                <m:boxPr>
                                  <m:ctrlPr>
                                    <a:rPr lang="en-US" sz="18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d>
                                    <m:dPr>
                                      <m:ctrlPr>
                                        <a:rPr lang="en-US" sz="18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dPr>
                                    <m:e>
                                      <m:box>
                                        <m:boxPr>
                                          <m:ctrlPr>
                                            <a:rPr lang="en-US" sz="1800" i="1" spc="-30">
                                              <a:effectLst/>
                                              <a:latin typeface="Cambria Math" panose="02040503050406030204" pitchFamily="18" charset="0"/>
                                              <a:ea typeface="SimSun" panose="02010600030101010101" pitchFamily="2" charset="-122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en-US" sz="1800" i="1" spc="-30">
                                                  <a:effectLst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SG" sz="1800" i="1" spc="-30">
                                                  <a:effectLst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ad>
                                                <m:radPr>
                                                  <m:degHide m:val="on"/>
                                                  <m:ctrlPr>
                                                    <a:rPr lang="en-US" sz="1800" i="1" spc="-3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SimSun" panose="02010600030101010101" pitchFamily="2" charset="-122"/>
                                                    </a:rPr>
                                                  </m:ctrlPr>
                                                </m:radPr>
                                                <m:deg/>
                                                <m:e>
                                                  <m:r>
                                                    <a:rPr lang="en-SG" sz="1800" i="1" spc="-3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SimSun" panose="02010600030101010101" pitchFamily="2" charset="-122"/>
                                                    </a:rPr>
                                                    <m:t>2</m:t>
                                                  </m:r>
                                                </m:e>
                                              </m:rad>
                                            </m:den>
                                          </m:f>
                                        </m:e>
                                      </m:box>
                                    </m:e>
                                  </m:d>
                                </m:e>
                              </m:box>
                            </m:e>
                            <m:sup>
                              <m:r>
                                <a:rPr lang="en-SG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pPr>
                            <m:e>
                              <m:box>
                                <m:boxPr>
                                  <m:ctrlPr>
                                    <a:rPr lang="en-US" sz="18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r>
                                    <a:rPr lang="en-SG" sz="18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US" sz="18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dPr>
                                    <m:e>
                                      <m:box>
                                        <m:boxPr>
                                          <m:ctrlPr>
                                            <a:rPr lang="en-US" sz="1800" i="1" spc="-30">
                                              <a:effectLst/>
                                              <a:latin typeface="Cambria Math" panose="02040503050406030204" pitchFamily="18" charset="0"/>
                                              <a:ea typeface="SimSun" panose="02010600030101010101" pitchFamily="2" charset="-122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en-US" sz="1800" i="1" spc="-30">
                                                  <a:effectLst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SG" sz="1800" i="1" spc="-30">
                                                  <a:effectLst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ad>
                                                <m:radPr>
                                                  <m:degHide m:val="on"/>
                                                  <m:ctrlPr>
                                                    <a:rPr lang="en-US" sz="1800" i="1" spc="-3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SimSun" panose="02010600030101010101" pitchFamily="2" charset="-122"/>
                                                    </a:rPr>
                                                  </m:ctrlPr>
                                                </m:radPr>
                                                <m:deg/>
                                                <m:e>
                                                  <m:r>
                                                    <a:rPr lang="en-SG" sz="1800" i="1" spc="-3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SimSun" panose="02010600030101010101" pitchFamily="2" charset="-122"/>
                                                    </a:rPr>
                                                    <m:t>2</m:t>
                                                  </m:r>
                                                </m:e>
                                              </m:rad>
                                            </m:den>
                                          </m:f>
                                        </m:e>
                                      </m:box>
                                    </m:e>
                                  </m:d>
                                </m:e>
                              </m:box>
                            </m:e>
                            <m:sup>
                              <m:r>
                                <a:rPr lang="en-SG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SG" sz="1800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radPr>
                        <m:deg/>
                        <m:e>
                          <m:box>
                            <m:boxPr>
                              <m:ctrlPr>
                                <a:rPr lang="en-US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sz="18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SG" sz="18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SG" sz="18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r>
                            <a:rPr lang="en-SG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+</m:t>
                          </m:r>
                          <m:box>
                            <m:boxPr>
                              <m:ctrlPr>
                                <a:rPr lang="en-US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sz="18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SG" sz="18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SG" sz="18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</m:e>
                      </m:rad>
                      <m:r>
                        <a:rPr lang="en-SG" sz="1800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=1</m:t>
                      </m:r>
                    </m:oMath>
                  </m:oMathPara>
                </a14:m>
                <a:endParaRPr lang="en-US" sz="18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endParaRPr lang="en-US" sz="18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SG" sz="18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𝒗</m:t>
                          </m:r>
                        </m:e>
                      </m:d>
                      <m:r>
                        <a:rPr lang="en-SG" sz="1800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pPr>
                            <m:e>
                              <m:box>
                                <m:boxPr>
                                  <m:ctrlPr>
                                    <a:rPr lang="en-US" sz="18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d>
                                    <m:dPr>
                                      <m:ctrlPr>
                                        <a:rPr lang="en-US" sz="18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dPr>
                                    <m:e>
                                      <m:box>
                                        <m:boxPr>
                                          <m:ctrlPr>
                                            <a:rPr lang="en-US" sz="1800" i="1" spc="-30">
                                              <a:effectLst/>
                                              <a:latin typeface="Cambria Math" panose="02040503050406030204" pitchFamily="18" charset="0"/>
                                              <a:ea typeface="SimSun" panose="02010600030101010101" pitchFamily="2" charset="-122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r>
                                            <a:rPr lang="en-SG" sz="1800" i="1" spc="-30">
                                              <a:effectLst/>
                                              <a:latin typeface="Cambria Math" panose="02040503050406030204" pitchFamily="18" charset="0"/>
                                              <a:ea typeface="SimSun" panose="02010600030101010101" pitchFamily="2" charset="-122"/>
                                            </a:rPr>
                                            <m:t>− </m:t>
                                          </m:r>
                                          <m:f>
                                            <m:fPr>
                                              <m:ctrlPr>
                                                <a:rPr lang="en-US" sz="1800" i="1" spc="-30">
                                                  <a:effectLst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SG" sz="1800" i="1" spc="-30">
                                                  <a:effectLst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SG" sz="1800" i="1" spc="-30">
                                                  <a:effectLst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d>
                                </m:e>
                              </m:box>
                            </m:e>
                            <m:sup>
                              <m:r>
                                <a:rPr lang="en-SG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pPr>
                            <m:e>
                              <m:box>
                                <m:boxPr>
                                  <m:ctrlPr>
                                    <a:rPr lang="en-US" sz="18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r>
                                    <a:rPr lang="en-SG" sz="18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US" sz="18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dPr>
                                    <m:e>
                                      <m:box>
                                        <m:boxPr>
                                          <m:ctrlPr>
                                            <a:rPr lang="en-US" sz="1800" i="1" spc="-30">
                                              <a:effectLst/>
                                              <a:latin typeface="Cambria Math" panose="02040503050406030204" pitchFamily="18" charset="0"/>
                                              <a:ea typeface="SimSun" panose="02010600030101010101" pitchFamily="2" charset="-122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en-US" sz="1800" i="1" spc="-30">
                                                  <a:effectLst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</a:rPr>
                                              </m:ctrlPr>
                                            </m:fPr>
                                            <m:num>
                                              <m:rad>
                                                <m:radPr>
                                                  <m:degHide m:val="on"/>
                                                  <m:ctrlPr>
                                                    <a:rPr lang="en-US" sz="1800" i="1" spc="-3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SimSun" panose="02010600030101010101" pitchFamily="2" charset="-122"/>
                                                    </a:rPr>
                                                  </m:ctrlPr>
                                                </m:radPr>
                                                <m:deg/>
                                                <m:e>
                                                  <m:r>
                                                    <a:rPr lang="en-SG" sz="1800" i="1" spc="-3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SimSun" panose="02010600030101010101" pitchFamily="2" charset="-122"/>
                                                    </a:rPr>
                                                    <m:t>3</m:t>
                                                  </m:r>
                                                </m:e>
                                              </m:rad>
                                            </m:num>
                                            <m:den>
                                              <m:r>
                                                <a:rPr lang="en-SG" sz="1800" i="1" spc="-30">
                                                  <a:effectLst/>
                                                  <a:latin typeface="Cambria Math" panose="02040503050406030204" pitchFamily="18" charset="0"/>
                                                  <a:ea typeface="SimSun" panose="02010600030101010101" pitchFamily="2" charset="-122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d>
                                </m:e>
                              </m:box>
                            </m:e>
                            <m:sup>
                              <m:r>
                                <a:rPr lang="en-SG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SG" sz="1800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radPr>
                        <m:deg/>
                        <m:e>
                          <m:box>
                            <m:boxPr>
                              <m:ctrlPr>
                                <a:rPr lang="en-US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sz="18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SG" sz="18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SG" sz="18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box>
                          <m:r>
                            <a:rPr lang="en-SG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+</m:t>
                          </m:r>
                          <m:box>
                            <m:boxPr>
                              <m:ctrlPr>
                                <a:rPr lang="en-US" sz="18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sz="18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SG" sz="18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SG" sz="18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box>
                        </m:e>
                      </m:rad>
                      <m:r>
                        <a:rPr lang="en-SG" sz="1800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=1</m:t>
                      </m:r>
                    </m:oMath>
                  </m:oMathPara>
                </a14:m>
                <a:endParaRPr lang="en-US" sz="18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2B8EB4-8FE3-2713-A168-5DA9CDEF1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0" y="3836258"/>
                <a:ext cx="4584246" cy="27892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7361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 txBox="1">
            <a:spLocks noGrp="1"/>
          </p:cNvSpPr>
          <p:nvPr>
            <p:ph type="title"/>
          </p:nvPr>
        </p:nvSpPr>
        <p:spPr>
          <a:xfrm>
            <a:off x="335354" y="260648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Exercise</a:t>
            </a:r>
            <a:endParaRPr dirty="0"/>
          </a:p>
        </p:txBody>
      </p:sp>
      <p:sp>
        <p:nvSpPr>
          <p:cNvPr id="192" name="Google Shape;192;p24"/>
          <p:cNvSpPr txBox="1">
            <a:spLocks noGrp="1"/>
          </p:cNvSpPr>
          <p:nvPr>
            <p:ph type="body" idx="1"/>
          </p:nvPr>
        </p:nvSpPr>
        <p:spPr>
          <a:xfrm>
            <a:off x="202527" y="974663"/>
            <a:ext cx="8520600" cy="159024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 dirty="0">
                <a:solidFill>
                  <a:srgbClr val="0B5394"/>
                </a:solidFill>
              </a:rPr>
              <a:t>Determine if the vectors below are unit vectors.</a:t>
            </a:r>
            <a:endParaRPr dirty="0">
              <a:solidFill>
                <a:srgbClr val="0B5394"/>
              </a:solidFill>
            </a:endParaRPr>
          </a:p>
        </p:txBody>
      </p:sp>
      <p:sp>
        <p:nvSpPr>
          <p:cNvPr id="193" name="Google Shape;193;p24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15</a:t>
            </a:fld>
            <a:endParaRPr/>
          </a:p>
        </p:txBody>
      </p:sp>
      <p:pic>
        <p:nvPicPr>
          <p:cNvPr id="194" name="Google Shape;19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458" y="1628800"/>
            <a:ext cx="7386894" cy="1440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 txBox="1">
            <a:spLocks noGrp="1"/>
          </p:cNvSpPr>
          <p:nvPr>
            <p:ph type="title"/>
          </p:nvPr>
        </p:nvSpPr>
        <p:spPr>
          <a:xfrm>
            <a:off x="335354" y="260648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Exercise</a:t>
            </a:r>
            <a:endParaRPr dirty="0"/>
          </a:p>
        </p:txBody>
      </p:sp>
      <p:sp>
        <p:nvSpPr>
          <p:cNvPr id="192" name="Google Shape;192;p24"/>
          <p:cNvSpPr txBox="1">
            <a:spLocks noGrp="1"/>
          </p:cNvSpPr>
          <p:nvPr>
            <p:ph type="body" idx="1"/>
          </p:nvPr>
        </p:nvSpPr>
        <p:spPr>
          <a:xfrm>
            <a:off x="202527" y="974663"/>
            <a:ext cx="8520600" cy="159024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 dirty="0">
                <a:solidFill>
                  <a:srgbClr val="0B5394"/>
                </a:solidFill>
              </a:rPr>
              <a:t>Determine if the vectors below are unit vectors.</a:t>
            </a:r>
            <a:endParaRPr dirty="0">
              <a:solidFill>
                <a:srgbClr val="0B5394"/>
              </a:solidFill>
            </a:endParaRPr>
          </a:p>
        </p:txBody>
      </p:sp>
      <p:sp>
        <p:nvSpPr>
          <p:cNvPr id="193" name="Google Shape;193;p24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16</a:t>
            </a:fld>
            <a:endParaRPr/>
          </a:p>
        </p:txBody>
      </p:sp>
      <p:pic>
        <p:nvPicPr>
          <p:cNvPr id="194" name="Google Shape;19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458" y="1628800"/>
            <a:ext cx="7314886" cy="144016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77F8C2-52E5-5633-F89D-11FFBA72DCCB}"/>
                  </a:ext>
                </a:extLst>
              </p:cNvPr>
              <p:cNvSpPr txBox="1"/>
              <p:nvPr/>
            </p:nvSpPr>
            <p:spPr>
              <a:xfrm>
                <a:off x="755576" y="3068960"/>
                <a:ext cx="5688632" cy="367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spc="-30" smtClean="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accPr>
                          <m:e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𝑖</m:t>
                            </m:r>
                          </m:e>
                        </m:acc>
                      </m:e>
                    </m:d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1</m:t>
                            </m:r>
                          </m:e>
                          <m:sup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SG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+0</m:t>
                            </m:r>
                          </m:e>
                          <m:sup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=1</m:t>
                    </m:r>
                  </m:oMath>
                </a14:m>
                <a:r>
                  <a:rPr lang="en-SG" sz="2000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	</a:t>
                </a:r>
                <a:r>
                  <a:rPr lang="en-SG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A unit vector</a:t>
                </a:r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accPr>
                          <m:e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𝑝</m:t>
                            </m:r>
                          </m:e>
                        </m:acc>
                      </m:e>
                    </m:d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1</m:t>
                            </m:r>
                          </m:e>
                          <m:sup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SG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1</m:t>
                            </m:r>
                          </m:e>
                          <m:sup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+1</m:t>
                            </m:r>
                          </m:e>
                          <m:sup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radPr>
                      <m:deg/>
                      <m:e>
                        <m:r>
                          <a:rPr lang="en-SG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3</m:t>
                        </m:r>
                      </m:e>
                    </m:rad>
                  </m:oMath>
                </a14:m>
                <a:r>
                  <a:rPr lang="en-SG" sz="2000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	</a:t>
                </a:r>
                <a:r>
                  <a:rPr lang="en-SG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Not a unit vector</a:t>
                </a:r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accPr>
                          <m:e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𝑞</m:t>
                            </m:r>
                          </m:e>
                        </m:acc>
                      </m:e>
                    </m:d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1</m:t>
                            </m:r>
                          </m:e>
                          <m:sup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SG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0</m:t>
                            </m:r>
                          </m:e>
                          <m:sup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+1</m:t>
                            </m:r>
                          </m:e>
                          <m:sup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radPr>
                      <m:deg/>
                      <m:e>
                        <m:r>
                          <a:rPr lang="en-SG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2</m:t>
                        </m:r>
                      </m:e>
                    </m:rad>
                  </m:oMath>
                </a14:m>
                <a:r>
                  <a:rPr lang="en-SG" sz="2000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	</a:t>
                </a:r>
                <a:r>
                  <a:rPr lang="en-SG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Not a unit vector</a:t>
                </a:r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 </a:t>
                </a:r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accPr>
                          <m:e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𝑟</m:t>
                            </m:r>
                          </m:e>
                        </m:acc>
                      </m:e>
                    </m:d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−1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SG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SG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−1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3</m:t>
                            </m:r>
                          </m:den>
                        </m:f>
                        <m:r>
                          <a:rPr lang="en-SG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+</m:t>
                        </m:r>
                        <m:f>
                          <m:fPr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3</m:t>
                            </m:r>
                          </m:den>
                        </m:f>
                        <m:r>
                          <a:rPr lang="en-SG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+</m:t>
                        </m:r>
                        <m:f>
                          <m:fPr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3</m:t>
                            </m:r>
                          </m:den>
                        </m:f>
                      </m:e>
                    </m:rad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=1</m:t>
                    </m:r>
                  </m:oMath>
                </a14:m>
                <a:r>
                  <a:rPr lang="en-SG" sz="2000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	</a:t>
                </a:r>
                <a:r>
                  <a:rPr lang="en-SG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A unit vector</a:t>
                </a:r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 </a:t>
                </a:r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accPr>
                          <m:e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𝑟</m:t>
                            </m:r>
                          </m:e>
                        </m:acc>
                      </m:e>
                    </m:d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SG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0</m:t>
                            </m:r>
                          </m:e>
                          <m:sup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SG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e>
                          <m:sup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a:rPr lang="en-SG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0</m:t>
                            </m:r>
                          </m:e>
                          <m:sup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9</m:t>
                            </m:r>
                          </m:num>
                          <m:den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f>
                      <m:fPr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fPr>
                      <m:num>
                        <m:r>
                          <a:rPr lang="en-SG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SG" sz="2000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		</a:t>
                </a:r>
                <a:r>
                  <a:rPr lang="en-SG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Not a unit vector</a:t>
                </a:r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77F8C2-52E5-5633-F89D-11FFBA72D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068960"/>
                <a:ext cx="5688632" cy="3671261"/>
              </a:xfrm>
              <a:prstGeom prst="rect">
                <a:avLst/>
              </a:prstGeom>
              <a:blipFill>
                <a:blip r:embed="rId4"/>
                <a:stretch>
                  <a:fillRect b="-199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8843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>
            <a:spLocks noGrp="1"/>
          </p:cNvSpPr>
          <p:nvPr>
            <p:ph type="title"/>
          </p:nvPr>
        </p:nvSpPr>
        <p:spPr>
          <a:xfrm>
            <a:off x="197419" y="267036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Unit Vector Along a Vector’s Direction</a:t>
            </a:r>
            <a:endParaRPr dirty="0"/>
          </a:p>
        </p:txBody>
      </p:sp>
      <p:sp>
        <p:nvSpPr>
          <p:cNvPr id="200" name="Google Shape;200;p25" descr="u sub V right-arrow equals the fraction with numerator V right-arrow and denominator the absolute value of V right-arrow⁣"/>
          <p:cNvSpPr txBox="1">
            <a:spLocks noGrp="1"/>
          </p:cNvSpPr>
          <p:nvPr>
            <p:ph type="body" idx="1"/>
          </p:nvPr>
        </p:nvSpPr>
        <p:spPr>
          <a:xfrm>
            <a:off x="248103" y="1264772"/>
            <a:ext cx="8520600" cy="534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/>
              <a:t>Given any vector </a:t>
            </a:r>
            <a:r>
              <a:rPr lang="en" b="1" dirty="0"/>
              <a:t>V</a:t>
            </a:r>
            <a:r>
              <a:rPr lang="en" dirty="0"/>
              <a:t>, a unit vector in the same direction can be found by:</a:t>
            </a:r>
            <a:endParaRPr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01" name="Google Shape;201;p25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17</a:t>
            </a:fld>
            <a:endParaRPr/>
          </a:p>
        </p:txBody>
      </p:sp>
      <p:pic>
        <p:nvPicPr>
          <p:cNvPr id="202" name="Google Shape;20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3626" y="2544326"/>
            <a:ext cx="2678575" cy="328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7063" y="2533791"/>
            <a:ext cx="802729" cy="77184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5"/>
          <p:cNvSpPr txBox="1"/>
          <p:nvPr/>
        </p:nvSpPr>
        <p:spPr>
          <a:xfrm>
            <a:off x="411164" y="3368039"/>
            <a:ext cx="4732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Example:</a:t>
            </a:r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5" name="Google Shape;205;p25"/>
          <p:cNvSpPr txBox="1"/>
          <p:nvPr/>
        </p:nvSpPr>
        <p:spPr>
          <a:xfrm>
            <a:off x="251484" y="5520467"/>
            <a:ext cx="4832264" cy="534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Verify for yourself that |</a:t>
            </a:r>
            <a:r>
              <a:rPr lang="en" sz="2400" b="1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r>
              <a:rPr lang="en" sz="2400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| is </a:t>
            </a:r>
            <a:r>
              <a:rPr lang="en" sz="2800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dirty="0">
              <a:solidFill>
                <a:srgbClr val="0B5394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06" name="Google Shape;206;p25" descr="&lt;math xmlns=&quot;http://www.w3.org/1998/Math/MathML&quot; display=&quot;block&quot; data-is-equatio=&quot;1&quot; data-latex=&quot;\ \text{For}\ \vec{V}=\left[\begin{matrix}2\\&amp;#13;&amp;#10;3\end{matrix}\right],\ \ \ \ \ \ \left|\vec{V}\right|=\sqrt{2^2+3^2}=\sqrt{13}&quot;&gt;&lt;mtext&gt;&lt;/mtext&gt;&lt;mtext&gt;For&lt;/mtext&gt;&lt;mtext&gt;&lt;/mtext&gt;&lt;mrow&gt;&lt;mover&gt;&lt;mi&gt;V&lt;/mi&gt;&lt;mo stretchy=&quot;false&quot;&gt;→&lt;/mo&gt;&lt;/mover&gt;&lt;/mrow&gt;&lt;mo&gt;=&lt;/mo&gt;&lt;mrow data-mjx-texclass=&quot;INNER&quot;&gt;&lt;mo data-mjx-texclass=&quot;OPEN&quot;&gt;[&lt;/mo&gt;&lt;mtable columnspacing=&quot;1em&quot; rowspacing=&quot;4pt&quot;&gt;&lt;mtr&gt;&lt;mtd&gt;&lt;mn&gt;2&lt;/mn&gt;&lt;/mtd&gt;&lt;/mtr&gt;&lt;mtr&gt;&lt;mtd&gt;&lt;mn&gt;3&lt;/mn&gt;&lt;/mtd&gt;&lt;/mtr&gt;&lt;/mtable&gt;&lt;mo data-mjx-texclass=&quot;CLOSE&quot;&gt;]&lt;/mo&gt;&lt;/mrow&gt;&lt;mo&gt;,&lt;/mo&gt;&lt;mtext&gt;&lt;/mtext&gt;&lt;mtext&gt;&lt;/mtext&gt;&lt;mtext&gt;&lt;/mtext&gt;&lt;mtext&gt;&lt;/mtext&gt;&lt;mtext&gt;&lt;/mtext&gt;&lt;mtext&gt;&lt;/mtext&gt;&lt;mrow data-mjx-texclass=&quot;INNER&quot;&gt;&lt;mo data-mjx-texclass=&quot;OPEN&quot;&gt;|&lt;/mo&gt;&lt;mrow&gt;&lt;mover&gt;&lt;mi&gt;V&lt;/mi&gt;&lt;mo stretchy=&quot;false&quot;&gt;→&lt;/mo&gt;&lt;/mover&gt;&lt;/mrow&gt;&lt;mo data-mjx-texclass=&quot;CLOSE&quot;&gt;|&lt;/mo&gt;&lt;/mrow&gt;&lt;mo&gt;=&lt;/mo&gt;&lt;msqrt&gt;&lt;msup&gt;&lt;mn&gt;2&lt;/mn&gt;&lt;mn&gt;2&lt;/mn&gt;&lt;/msup&gt;&lt;mo&gt;+&lt;/mo&gt;&lt;msup&gt;&lt;mn&gt;3&lt;/mn&gt;&lt;mn&gt;2&lt;/mn&gt;&lt;/msup&gt;&lt;/msqrt&gt;&lt;mo&gt;=&lt;/mo&gt;&lt;msqrt&gt;&lt;mn&gt;13&lt;/mn&gt;&lt;/msqrt&gt;&lt;/math&gt;" title="For V right arrow equals the 2 by 1 column matrix 2 3 comma the absolute value of V right arrow equals the square root of 2 squared plus 3 squared equals the square root of 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164" y="4068751"/>
            <a:ext cx="3944812" cy="656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5" descr="&lt;math xmlns=&quot;http://www.w3.org/1998/Math/MathML&quot; display=&quot;block&quot; data-is-equatio=&quot;1&quot; data-latex=&quot;\begin{array}{l}\ \text{So,}\ \hat{v}=\frac{1}{\left|\vec{V}\right|}\vec{V}=\frac{1}{\sqrt{13}}\left[\begin{matrix}2\\&amp;#13;&amp;#10;3\end{matrix}\right]\end{array}&quot;&gt;&lt;mtable columnalign=&quot;left&quot; columnspacing=&quot;1em&quot; rowspacing=&quot;4pt&quot;&gt;&lt;mtr&gt;&lt;mtd&gt;&lt;mtext&gt;&lt;/mtext&gt;&lt;mtext&gt;So,&lt;/mtext&gt;&lt;mtext&gt;&lt;/mtext&gt;&lt;mrow&gt;&lt;mover&gt;&lt;mi&gt;v&lt;/mi&gt;&lt;mo stretchy=&quot;false&quot;&gt;^&lt;/mo&gt;&lt;/mover&gt;&lt;/mrow&gt;&lt;mo&gt;=&lt;/mo&gt;&lt;mfrac&gt;&lt;mn&gt;1&lt;/mn&gt;&lt;mrow data-mjx-texclass=&quot;INNER&quot;&gt;&lt;mo data-mjx-texclass=&quot;OPEN&quot;&gt;|&lt;/mo&gt;&lt;mrow&gt;&lt;mover&gt;&lt;mi&gt;V&lt;/mi&gt;&lt;mo stretchy=&quot;false&quot;&gt;→&lt;/mo&gt;&lt;/mover&gt;&lt;/mrow&gt;&lt;mo data-mjx-texclass=&quot;CLOSE&quot;&gt;|&lt;/mo&gt;&lt;/mrow&gt;&lt;/mfrac&gt;&lt;mrow&gt;&lt;mover&gt;&lt;mi&gt;V&lt;/mi&gt;&lt;mo stretchy=&quot;false&quot;&gt;→&lt;/mo&gt;&lt;/mover&gt;&lt;/mrow&gt;&lt;mo&gt;=&lt;/mo&gt;&lt;mfrac&gt;&lt;mn&gt;1&lt;/mn&gt;&lt;msqrt&gt;&lt;mn&gt;13&lt;/mn&gt;&lt;/msqrt&gt;&lt;/mfrac&gt;&lt;mrow data-mjx-texclass=&quot;INNER&quot;&gt;&lt;mo data-mjx-texclass=&quot;OPEN&quot;&gt;[&lt;/mo&gt;&lt;mtable columnalign=&quot;center&quot; columnspacing=&quot;1em&quot; rowspacing=&quot;4pt&quot;&gt;&lt;mtr&gt;&lt;mtd&gt;&lt;mn&gt;2&lt;/mn&gt;&lt;/mtd&gt;&lt;/mtr&gt;&lt;mtr&gt;&lt;mtd&gt;&lt;mn&gt;3&lt;/mn&gt;&lt;/mtd&gt;&lt;/mtr&gt;&lt;/mtable&gt;&lt;mo data-mjx-texclass=&quot;CLOSE&quot;&gt;]&lt;/mo&gt;&lt;/mrow&gt;&lt;/mtd&gt;&lt;/mtr&gt;&lt;/mtable&gt;&lt;/math&gt;" title="1 lines Line 1: So comma v hat equals the fraction with numerator 1 and denominator the absolute value of V right arrow V right arrow equals the fraction with numerator 1 and denominator the square root of 13 times the 2 by 1 column matrix 2 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1176" y="4655026"/>
            <a:ext cx="2576648" cy="6752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BB615DE-1282-A1FD-4CDC-9824E93CA2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5229144"/>
              </p:ext>
            </p:extLst>
          </p:nvPr>
        </p:nvGraphicFramePr>
        <p:xfrm>
          <a:off x="4629480" y="5934869"/>
          <a:ext cx="2069050" cy="620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6800" imgH="419040" progId="Equation.DSMT4">
                  <p:embed/>
                </p:oleObj>
              </mc:Choice>
              <mc:Fallback>
                <p:oleObj name="Equation" r:id="rId7" imgW="1396800" imgH="41904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CBB615DE-1282-A1FD-4CDC-9824E93CA2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29480" y="5934869"/>
                        <a:ext cx="2069050" cy="6207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>
            <a:spLocks noGrp="1"/>
          </p:cNvSpPr>
          <p:nvPr>
            <p:ph type="title"/>
          </p:nvPr>
        </p:nvSpPr>
        <p:spPr>
          <a:xfrm>
            <a:off x="311700" y="260648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Basis Vectors</a:t>
            </a:r>
            <a:endParaRPr dirty="0"/>
          </a:p>
        </p:txBody>
      </p:sp>
      <p:sp>
        <p:nvSpPr>
          <p:cNvPr id="213" name="Google Shape;213;p26"/>
          <p:cNvSpPr txBox="1">
            <a:spLocks noGrp="1"/>
          </p:cNvSpPr>
          <p:nvPr>
            <p:ph type="body" idx="1"/>
          </p:nvPr>
        </p:nvSpPr>
        <p:spPr>
          <a:xfrm>
            <a:off x="311700" y="1136646"/>
            <a:ext cx="8520600" cy="8472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 dirty="0">
                <a:solidFill>
                  <a:srgbClr val="434343"/>
                </a:solidFill>
              </a:rPr>
              <a:t>Unit vectors, </a:t>
            </a:r>
            <a:r>
              <a:rPr lang="en" b="1" dirty="0">
                <a:solidFill>
                  <a:srgbClr val="434343"/>
                </a:solidFill>
              </a:rPr>
              <a:t>i</a:t>
            </a:r>
            <a:r>
              <a:rPr lang="en" dirty="0">
                <a:solidFill>
                  <a:srgbClr val="434343"/>
                </a:solidFill>
              </a:rPr>
              <a:t> and </a:t>
            </a:r>
            <a:r>
              <a:rPr lang="en" b="1" dirty="0">
                <a:solidFill>
                  <a:srgbClr val="434343"/>
                </a:solidFill>
              </a:rPr>
              <a:t>j</a:t>
            </a:r>
            <a:r>
              <a:rPr lang="en" dirty="0">
                <a:solidFill>
                  <a:srgbClr val="434343"/>
                </a:solidFill>
              </a:rPr>
              <a:t>, are also known as </a:t>
            </a:r>
            <a:r>
              <a:rPr lang="en" dirty="0">
                <a:solidFill>
                  <a:srgbClr val="FF0000"/>
                </a:solidFill>
              </a:rPr>
              <a:t>basis vectors </a:t>
            </a:r>
            <a:r>
              <a:rPr lang="en" dirty="0">
                <a:solidFill>
                  <a:srgbClr val="434343"/>
                </a:solidFill>
              </a:rPr>
              <a:t>for the plane (R</a:t>
            </a:r>
            <a:r>
              <a:rPr lang="en" baseline="30000" dirty="0">
                <a:solidFill>
                  <a:srgbClr val="434343"/>
                </a:solidFill>
              </a:rPr>
              <a:t>2</a:t>
            </a:r>
            <a:r>
              <a:rPr lang="en" dirty="0">
                <a:solidFill>
                  <a:srgbClr val="434343"/>
                </a:solidFill>
              </a:rPr>
              <a:t>). This is because any point in the plane can be reached by a linear combination of </a:t>
            </a:r>
            <a:r>
              <a:rPr lang="en" b="1" dirty="0">
                <a:solidFill>
                  <a:srgbClr val="434343"/>
                </a:solidFill>
              </a:rPr>
              <a:t>i</a:t>
            </a:r>
            <a:r>
              <a:rPr lang="en" dirty="0">
                <a:solidFill>
                  <a:srgbClr val="434343"/>
                </a:solidFill>
              </a:rPr>
              <a:t> and </a:t>
            </a:r>
            <a:r>
              <a:rPr lang="en" b="1" dirty="0">
                <a:solidFill>
                  <a:srgbClr val="434343"/>
                </a:solidFill>
              </a:rPr>
              <a:t>j</a:t>
            </a:r>
            <a:r>
              <a:rPr lang="en" dirty="0">
                <a:solidFill>
                  <a:srgbClr val="434343"/>
                </a:solidFill>
              </a:rPr>
              <a:t>.</a:t>
            </a:r>
            <a:endParaRPr dirty="0">
              <a:solidFill>
                <a:srgbClr val="434343"/>
              </a:solidFill>
            </a:endParaRPr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18</a:t>
            </a:fld>
            <a:endParaRPr/>
          </a:p>
        </p:txBody>
      </p:sp>
      <p:pic>
        <p:nvPicPr>
          <p:cNvPr id="215" name="Google Shape;2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5376" y="2857045"/>
            <a:ext cx="3577075" cy="2947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6" descr="1 lines Line 1: V right-arrow equals a. i caret plus b j caret⁣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9672" y="2666494"/>
            <a:ext cx="1584176" cy="38021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6"/>
          <p:cNvSpPr txBox="1"/>
          <p:nvPr/>
        </p:nvSpPr>
        <p:spPr>
          <a:xfrm>
            <a:off x="310992" y="3330767"/>
            <a:ext cx="4583700" cy="21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By varying scalars a and b, </a:t>
            </a:r>
            <a:r>
              <a:rPr lang="en" sz="2400" b="1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r>
              <a:rPr lang="en" sz="24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 can point to any coordinate in the plane (or span ℝ</a:t>
            </a:r>
            <a:r>
              <a:rPr lang="en" sz="2400" baseline="30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24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). Notice that </a:t>
            </a:r>
            <a:r>
              <a:rPr lang="en" sz="2400" b="1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lang="en" sz="24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 and </a:t>
            </a:r>
            <a:r>
              <a:rPr lang="en" sz="2400" b="1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lang="en" sz="24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 must not be parallel in order for this to be true.</a:t>
            </a:r>
            <a:endParaRPr sz="2400"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C03B17-8436-BB25-E4FA-0DAFC6A20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AECB-2000-4191-92DD-345791BD487C}" type="slidenum">
              <a:rPr lang="en-SG" smtClean="0"/>
              <a:t>19</a:t>
            </a:fld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3AB52D-4C4E-4DEE-F9B9-437327E386A9}"/>
              </a:ext>
            </a:extLst>
          </p:cNvPr>
          <p:cNvSpPr txBox="1"/>
          <p:nvPr/>
        </p:nvSpPr>
        <p:spPr>
          <a:xfrm>
            <a:off x="755576" y="1556792"/>
            <a:ext cx="793122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In fact, any set of two non-parallel vectors that can span ℝ</a:t>
            </a:r>
            <a:r>
              <a:rPr kumimoji="0" lang="en" sz="2400" b="1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2 </a:t>
            </a:r>
            <a:r>
              <a:rPr kumimoji="0" lang="e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can be used as basis vectors</a:t>
            </a:r>
          </a:p>
          <a:p>
            <a:endParaRPr lang="en" sz="2400" b="1" dirty="0">
              <a:solidFill>
                <a:srgbClr val="0000FF"/>
              </a:solidFill>
              <a:latin typeface="Proxima Nova"/>
              <a:sym typeface="Proxima Nov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The set,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 and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, is just one of many. But since they are so commonly used, they are also known as the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standard basis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.</a:t>
            </a:r>
          </a:p>
          <a:p>
            <a:endParaRPr lang="en" sz="2400" b="1" dirty="0">
              <a:solidFill>
                <a:srgbClr val="0000FF"/>
              </a:solidFill>
              <a:latin typeface="Proxima Nova"/>
              <a:sym typeface="Proxima Nova"/>
            </a:endParaRPr>
          </a:p>
          <a:p>
            <a:endParaRPr lang="en" sz="2400" b="1" dirty="0">
              <a:solidFill>
                <a:srgbClr val="0000FF"/>
              </a:solidFill>
              <a:latin typeface="Proxima Nova"/>
              <a:sym typeface="Proxima Nova"/>
            </a:endParaRPr>
          </a:p>
          <a:p>
            <a:endParaRPr lang="en" sz="2400" b="1" dirty="0">
              <a:solidFill>
                <a:srgbClr val="0000FF"/>
              </a:solidFill>
              <a:latin typeface="Proxima Nova"/>
              <a:sym typeface="Proxima Nova"/>
            </a:endParaRPr>
          </a:p>
          <a:p>
            <a:endParaRPr lang="en-SG" sz="2400" dirty="0"/>
          </a:p>
        </p:txBody>
      </p:sp>
      <p:sp>
        <p:nvSpPr>
          <p:cNvPr id="6" name="Google Shape;212;p26">
            <a:extLst>
              <a:ext uri="{FF2B5EF4-FFF2-40B4-BE49-F238E27FC236}">
                <a16:creationId xmlns:a16="http://schemas.microsoft.com/office/drawing/2014/main" id="{AB170AEE-DE54-AC4E-5F0F-89739E9973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6418263" cy="64293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Basis Vectors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3296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 txBox="1">
            <a:spLocks noGrp="1"/>
          </p:cNvSpPr>
          <p:nvPr>
            <p:ph type="title"/>
          </p:nvPr>
        </p:nvSpPr>
        <p:spPr>
          <a:xfrm>
            <a:off x="497466" y="243638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Basis Vectors</a:t>
            </a:r>
            <a:endParaRPr dirty="0"/>
          </a:p>
        </p:txBody>
      </p:sp>
      <p:sp>
        <p:nvSpPr>
          <p:cNvPr id="223" name="Google Shape;223;p27"/>
          <p:cNvSpPr txBox="1">
            <a:spLocks noGrp="1"/>
          </p:cNvSpPr>
          <p:nvPr>
            <p:ph type="body" idx="1"/>
          </p:nvPr>
        </p:nvSpPr>
        <p:spPr>
          <a:xfrm>
            <a:off x="395536" y="1207652"/>
            <a:ext cx="8520600" cy="14292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 dirty="0">
                <a:solidFill>
                  <a:srgbClr val="0B5394"/>
                </a:solidFill>
              </a:rPr>
              <a:t>Exercise: Draw another possible set of basis vectors below and update the vectors indicated by </a:t>
            </a:r>
            <a:r>
              <a:rPr lang="en" b="1" dirty="0">
                <a:solidFill>
                  <a:srgbClr val="0B5394"/>
                </a:solidFill>
              </a:rPr>
              <a:t>V </a:t>
            </a:r>
            <a:r>
              <a:rPr lang="en" dirty="0">
                <a:solidFill>
                  <a:srgbClr val="0B5394"/>
                </a:solidFill>
              </a:rPr>
              <a:t>using the new basis.</a:t>
            </a:r>
          </a:p>
          <a:p>
            <a:pPr marL="0" indent="0">
              <a:spcAft>
                <a:spcPts val="1600"/>
              </a:spcAft>
              <a:buNone/>
            </a:pPr>
            <a:r>
              <a:rPr lang="en" dirty="0">
                <a:solidFill>
                  <a:srgbClr val="0B5394"/>
                </a:solidFill>
              </a:rPr>
              <a:t>New basis =</a:t>
            </a:r>
            <a:endParaRPr dirty="0">
              <a:solidFill>
                <a:srgbClr val="0B5394"/>
              </a:solidFill>
            </a:endParaRPr>
          </a:p>
        </p:txBody>
      </p:sp>
      <p:sp>
        <p:nvSpPr>
          <p:cNvPr id="224" name="Google Shape;224;p27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20</a:t>
            </a:fld>
            <a:endParaRPr/>
          </a:p>
        </p:txBody>
      </p:sp>
      <p:pic>
        <p:nvPicPr>
          <p:cNvPr id="225" name="Google Shape;2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5376" y="2857045"/>
            <a:ext cx="3577075" cy="294747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7"/>
          <p:cNvSpPr txBox="1"/>
          <p:nvPr/>
        </p:nvSpPr>
        <p:spPr>
          <a:xfrm>
            <a:off x="311669" y="4829712"/>
            <a:ext cx="4583700" cy="5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(There is a standard method to redefine vectors in a new basis, but we will not cover them for now.)</a:t>
            </a:r>
            <a:endParaRPr dirty="0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DD61989-5543-871E-3CB0-58AD280A3B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4742485"/>
              </p:ext>
            </p:extLst>
          </p:nvPr>
        </p:nvGraphicFramePr>
        <p:xfrm>
          <a:off x="7393699" y="3241785"/>
          <a:ext cx="292224" cy="511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266400" progId="Equation.DSMT4">
                  <p:embed/>
                </p:oleObj>
              </mc:Choice>
              <mc:Fallback>
                <p:oleObj name="Equation" r:id="rId4" imgW="152280" imgH="2664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9DD61989-5543-871E-3CB0-58AD280A3B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393699" y="3241785"/>
                        <a:ext cx="292224" cy="5113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D6AB4B1-D982-340E-DAD9-272AB0DFCA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2082526"/>
              </p:ext>
            </p:extLst>
          </p:nvPr>
        </p:nvGraphicFramePr>
        <p:xfrm>
          <a:off x="5568950" y="5602288"/>
          <a:ext cx="31591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266400" progId="Equation.DSMT4">
                  <p:embed/>
                </p:oleObj>
              </mc:Choice>
              <mc:Fallback>
                <p:oleObj name="Equation" r:id="rId6" imgW="164880" imgH="2664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4D6AB4B1-D982-340E-DAD9-272AB0DFCA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68950" y="5602288"/>
                        <a:ext cx="315913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A5AA1-5AB5-A851-C04C-5A14FD099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Linear dependency and independency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EFE4B-DEA2-5771-E7CA-12833CC47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Two or more vectors are said to be </a:t>
            </a:r>
            <a:r>
              <a:rPr lang="en-US" b="0" i="0" dirty="0">
                <a:solidFill>
                  <a:srgbClr val="FF0000"/>
                </a:solidFill>
                <a:effectLst/>
                <a:latin typeface="Google Sans"/>
              </a:rPr>
              <a:t>linearly independent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if </a:t>
            </a:r>
            <a:r>
              <a:rPr lang="en-US" b="0" i="0" dirty="0">
                <a:solidFill>
                  <a:srgbClr val="0070C0"/>
                </a:solidFill>
                <a:effectLst/>
                <a:latin typeface="Google Sans"/>
              </a:rPr>
              <a:t>none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 of them can be written as a linear combination of the others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. </a:t>
            </a: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On the contrary, if at least </a:t>
            </a:r>
            <a:r>
              <a:rPr lang="en-US" b="0" i="0" dirty="0">
                <a:solidFill>
                  <a:srgbClr val="0070C0"/>
                </a:solidFill>
                <a:effectLst/>
                <a:latin typeface="Google Sans"/>
              </a:rPr>
              <a:t>one of them 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can be written as a linear combination of the others, then they are said to be </a:t>
            </a:r>
            <a:r>
              <a:rPr lang="en-US" b="0" i="0" dirty="0">
                <a:solidFill>
                  <a:srgbClr val="FF0000"/>
                </a:solidFill>
                <a:effectLst/>
                <a:latin typeface="Google Sans"/>
              </a:rPr>
              <a:t>linearly dependent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.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BA176-1538-D321-C924-CE0898DC2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AECB-2000-4191-92DD-345791BD487C}" type="slidenum">
              <a:rPr lang="en-SG" smtClean="0"/>
              <a:t>21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77978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 txBox="1">
            <a:spLocks noGrp="1"/>
          </p:cNvSpPr>
          <p:nvPr>
            <p:ph type="title"/>
          </p:nvPr>
        </p:nvSpPr>
        <p:spPr>
          <a:xfrm>
            <a:off x="279006" y="170763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/>
              <a:t>Basis Vectors</a:t>
            </a:r>
            <a:endParaRPr/>
          </a:p>
        </p:txBody>
      </p:sp>
      <p:sp>
        <p:nvSpPr>
          <p:cNvPr id="232" name="Google Shape;232;p28"/>
          <p:cNvSpPr txBox="1">
            <a:spLocks noGrp="1"/>
          </p:cNvSpPr>
          <p:nvPr>
            <p:ph type="body" idx="1"/>
          </p:nvPr>
        </p:nvSpPr>
        <p:spPr>
          <a:xfrm>
            <a:off x="279006" y="1050075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rgbClr val="434343"/>
                </a:solidFill>
              </a:rPr>
              <a:t>In a similar context, </a:t>
            </a:r>
            <a:r>
              <a:rPr lang="en" b="1" dirty="0">
                <a:solidFill>
                  <a:srgbClr val="434343"/>
                </a:solidFill>
              </a:rPr>
              <a:t>i</a:t>
            </a:r>
            <a:r>
              <a:rPr lang="en" dirty="0">
                <a:solidFill>
                  <a:srgbClr val="434343"/>
                </a:solidFill>
              </a:rPr>
              <a:t>, </a:t>
            </a:r>
            <a:r>
              <a:rPr lang="en" b="1" dirty="0">
                <a:solidFill>
                  <a:srgbClr val="434343"/>
                </a:solidFill>
              </a:rPr>
              <a:t>j</a:t>
            </a:r>
            <a:r>
              <a:rPr lang="en" dirty="0">
                <a:solidFill>
                  <a:srgbClr val="434343"/>
                </a:solidFill>
              </a:rPr>
              <a:t> and </a:t>
            </a:r>
            <a:r>
              <a:rPr lang="en" b="1" dirty="0">
                <a:solidFill>
                  <a:srgbClr val="434343"/>
                </a:solidFill>
              </a:rPr>
              <a:t>k</a:t>
            </a:r>
            <a:r>
              <a:rPr lang="en" dirty="0">
                <a:solidFill>
                  <a:srgbClr val="434343"/>
                </a:solidFill>
              </a:rPr>
              <a:t> represent the </a:t>
            </a:r>
            <a:r>
              <a:rPr lang="en" i="1" dirty="0">
                <a:solidFill>
                  <a:srgbClr val="434343"/>
                </a:solidFill>
              </a:rPr>
              <a:t>standard basis</a:t>
            </a:r>
            <a:r>
              <a:rPr lang="en" dirty="0">
                <a:solidFill>
                  <a:srgbClr val="434343"/>
                </a:solidFill>
              </a:rPr>
              <a:t> vectors for a three-dimensional space (R</a:t>
            </a:r>
            <a:r>
              <a:rPr lang="en" baseline="30000" dirty="0">
                <a:solidFill>
                  <a:srgbClr val="434343"/>
                </a:solidFill>
              </a:rPr>
              <a:t>3</a:t>
            </a:r>
            <a:r>
              <a:rPr lang="en" dirty="0">
                <a:solidFill>
                  <a:srgbClr val="434343"/>
                </a:solidFill>
              </a:rPr>
              <a:t>).</a:t>
            </a:r>
            <a:endParaRPr dirty="0">
              <a:solidFill>
                <a:srgbClr val="434343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33" name="Google Shape;233;p28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22</a:t>
            </a:fld>
            <a:endParaRPr/>
          </a:p>
        </p:txBody>
      </p:sp>
      <p:pic>
        <p:nvPicPr>
          <p:cNvPr id="234" name="Google Shape;23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2695" y="2580376"/>
            <a:ext cx="3576707" cy="310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523" y="2180125"/>
            <a:ext cx="3243373" cy="913337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8"/>
          <p:cNvSpPr txBox="1"/>
          <p:nvPr/>
        </p:nvSpPr>
        <p:spPr>
          <a:xfrm>
            <a:off x="107504" y="3400075"/>
            <a:ext cx="45837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Exercise: Determine the </a:t>
            </a:r>
            <a:r>
              <a:rPr lang="en" sz="2400" i="1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standard basis</a:t>
            </a:r>
            <a:r>
              <a:rPr lang="en" sz="2400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 for ℝ</a:t>
            </a:r>
            <a:r>
              <a:rPr lang="en" sz="2400" baseline="30000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lang="en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dirty="0">
              <a:solidFill>
                <a:srgbClr val="0B539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 txBox="1">
            <a:spLocks noGrp="1"/>
          </p:cNvSpPr>
          <p:nvPr>
            <p:ph type="title"/>
          </p:nvPr>
        </p:nvSpPr>
        <p:spPr>
          <a:xfrm>
            <a:off x="279006" y="170763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/>
              <a:t>Basis Vectors</a:t>
            </a:r>
            <a:endParaRPr/>
          </a:p>
        </p:txBody>
      </p:sp>
      <p:sp>
        <p:nvSpPr>
          <p:cNvPr id="233" name="Google Shape;233;p28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23</a:t>
            </a:fld>
            <a:endParaRPr/>
          </a:p>
        </p:txBody>
      </p:sp>
      <p:sp>
        <p:nvSpPr>
          <p:cNvPr id="236" name="Google Shape;236;p28"/>
          <p:cNvSpPr txBox="1"/>
          <p:nvPr/>
        </p:nvSpPr>
        <p:spPr>
          <a:xfrm>
            <a:off x="179512" y="1184619"/>
            <a:ext cx="6984776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Exercise: Determine the </a:t>
            </a:r>
            <a:r>
              <a:rPr lang="en" sz="2400" i="1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standard basis</a:t>
            </a:r>
            <a:r>
              <a:rPr lang="en" sz="2400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 for ℝ</a:t>
            </a:r>
            <a:r>
              <a:rPr lang="en" sz="2400" baseline="30000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lang="en" sz="2400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2400" dirty="0">
              <a:solidFill>
                <a:srgbClr val="0B539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08F127-D139-D89C-458E-AFBD0E87A4DC}"/>
                  </a:ext>
                </a:extLst>
              </p:cNvPr>
              <p:cNvSpPr txBox="1"/>
              <p:nvPr/>
            </p:nvSpPr>
            <p:spPr>
              <a:xfrm>
                <a:off x="279006" y="2743111"/>
                <a:ext cx="861347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4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Standard basis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𝑛</m:t>
                        </m:r>
                      </m:sup>
                    </m:sSup>
                    <m:r>
                      <a:rPr lang="en-SG" sz="24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24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SG" sz="24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SG" sz="24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, </m:t>
                        </m:r>
                        <m:acc>
                          <m:accPr>
                            <m:chr m:val="⃗"/>
                            <m:ctrlPr>
                              <a:rPr lang="en-US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24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SG" sz="24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SG" sz="24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, </m:t>
                        </m:r>
                        <m:acc>
                          <m:accPr>
                            <m:chr m:val="⃗"/>
                            <m:ctrlPr>
                              <a:rPr lang="en-US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24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SG" sz="24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SG" sz="24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,....,</m:t>
                        </m:r>
                        <m:acc>
                          <m:accPr>
                            <m:chr m:val="⃗"/>
                            <m:ctrlPr>
                              <a:rPr lang="en-US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24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SG" sz="24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SG" sz="24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acc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 </m:t>
                        </m:r>
                      </m:e>
                    </m:d>
                  </m:oMath>
                </a14:m>
                <a:r>
                  <a:rPr lang="en-SG" sz="2400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, </a:t>
                </a:r>
                <a:r>
                  <a:rPr lang="en-SG" sz="24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SG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𝑒</m:t>
                            </m:r>
                          </m:e>
                          <m:sub>
                            <m:r>
                              <a:rPr lang="en-SG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SG" sz="24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 represents the vector in which the </a:t>
                </a:r>
                <a:r>
                  <a:rPr lang="en-SG" sz="2400" spc="-30" dirty="0" err="1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i</a:t>
                </a:r>
                <a:r>
                  <a:rPr lang="en-SG" sz="2400" spc="-30" baseline="30000" dirty="0" err="1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th</a:t>
                </a:r>
                <a:r>
                  <a:rPr lang="en-SG" sz="24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 component is 1 and all other components are 0.</a:t>
                </a:r>
                <a:endParaRPr lang="en-US" sz="24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08F127-D139-D89C-458E-AFBD0E87A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06" y="2743111"/>
                <a:ext cx="8613474" cy="1200329"/>
              </a:xfrm>
              <a:prstGeom prst="rect">
                <a:avLst/>
              </a:prstGeom>
              <a:blipFill>
                <a:blip r:embed="rId3"/>
                <a:stretch>
                  <a:fillRect l="-1132" t="-4061" r="-1062" b="-1116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42941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body" idx="1"/>
          </p:nvPr>
        </p:nvSpPr>
        <p:spPr>
          <a:xfrm>
            <a:off x="395536" y="1480513"/>
            <a:ext cx="85206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rgbClr val="434343"/>
                </a:solidFill>
              </a:rPr>
              <a:t>The dot product of two vectors, </a:t>
            </a:r>
            <a:r>
              <a:rPr lang="en" b="1" dirty="0">
                <a:solidFill>
                  <a:srgbClr val="434343"/>
                </a:solidFill>
              </a:rPr>
              <a:t>u</a:t>
            </a:r>
            <a:r>
              <a:rPr lang="en" dirty="0">
                <a:solidFill>
                  <a:srgbClr val="434343"/>
                </a:solidFill>
              </a:rPr>
              <a:t> and </a:t>
            </a:r>
            <a:r>
              <a:rPr lang="en" b="1" dirty="0">
                <a:solidFill>
                  <a:srgbClr val="434343"/>
                </a:solidFill>
              </a:rPr>
              <a:t>v</a:t>
            </a:r>
            <a:r>
              <a:rPr lang="en" dirty="0">
                <a:solidFill>
                  <a:srgbClr val="434343"/>
                </a:solidFill>
              </a:rPr>
              <a:t>, is defined by:</a:t>
            </a:r>
            <a:endParaRPr dirty="0">
              <a:solidFill>
                <a:srgbClr val="434343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/>
          </p:nvPr>
        </p:nvSpPr>
        <p:spPr>
          <a:xfrm>
            <a:off x="311700" y="313829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Dot Product</a:t>
            </a:r>
            <a:endParaRPr dirty="0"/>
          </a:p>
        </p:txBody>
      </p:sp>
      <p:sp>
        <p:nvSpPr>
          <p:cNvPr id="243" name="Google Shape;243;p29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24</a:t>
            </a:fld>
            <a:endParaRPr/>
          </a:p>
        </p:txBody>
      </p:sp>
      <p:sp>
        <p:nvSpPr>
          <p:cNvPr id="244" name="Google Shape;244;p29"/>
          <p:cNvSpPr txBox="1"/>
          <p:nvPr/>
        </p:nvSpPr>
        <p:spPr>
          <a:xfrm>
            <a:off x="323718" y="2668051"/>
            <a:ext cx="5852400" cy="24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where θ is the angle between the vectors.</a:t>
            </a:r>
            <a:endParaRPr sz="2400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r>
              <a:rPr lang="en" sz="24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Graphically, it represents either of the following:</a:t>
            </a:r>
            <a:endParaRPr sz="2400"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indent="-317500">
              <a:buClr>
                <a:srgbClr val="0000FF"/>
              </a:buClr>
              <a:buSzPts val="1400"/>
              <a:buFont typeface="Proxima Nova"/>
              <a:buAutoNum type="arabicPeriod"/>
            </a:pPr>
            <a:r>
              <a:rPr lang="en" sz="2400" dirty="0">
                <a:solidFill>
                  <a:srgbClr val="38761D"/>
                </a:solidFill>
                <a:latin typeface="Proxima Nova"/>
                <a:ea typeface="Proxima Nova"/>
                <a:cs typeface="Proxima Nova"/>
                <a:sym typeface="Proxima Nova"/>
              </a:rPr>
              <a:t>Length of projection of u onto v</a:t>
            </a:r>
            <a:r>
              <a:rPr lang="en" sz="24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 times  </a:t>
            </a:r>
            <a:r>
              <a:rPr lang="en" sz="2400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Length of v</a:t>
            </a:r>
            <a:endParaRPr sz="2400" dirty="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indent="-317500">
              <a:buClr>
                <a:srgbClr val="0000FF"/>
              </a:buClr>
              <a:buSzPts val="1400"/>
              <a:buFont typeface="Proxima Nova"/>
              <a:buAutoNum type="arabicPeriod"/>
            </a:pPr>
            <a:r>
              <a:rPr lang="en" sz="2400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Length of projection of v onto u</a:t>
            </a:r>
            <a:r>
              <a:rPr lang="en" sz="24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 times  </a:t>
            </a:r>
            <a:r>
              <a:rPr lang="en" sz="2400" dirty="0">
                <a:solidFill>
                  <a:srgbClr val="38761D"/>
                </a:solidFill>
                <a:latin typeface="Proxima Nova"/>
                <a:ea typeface="Proxima Nova"/>
                <a:cs typeface="Proxima Nova"/>
                <a:sym typeface="Proxima Nova"/>
              </a:rPr>
              <a:t>Length of u</a:t>
            </a:r>
            <a:endParaRPr sz="2400" dirty="0">
              <a:solidFill>
                <a:srgbClr val="38761D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lang="en-SG" dirty="0">
              <a:solidFill>
                <a:srgbClr val="38761D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r>
              <a:rPr lang="en" sz="2000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The dot product is commonly applied to compute the work done by a force acting on an object.</a:t>
            </a:r>
            <a:endParaRPr sz="2000" dirty="0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45" name="Google Shape;245;p29"/>
          <p:cNvGrpSpPr/>
          <p:nvPr/>
        </p:nvGrpSpPr>
        <p:grpSpPr>
          <a:xfrm>
            <a:off x="6470031" y="2240078"/>
            <a:ext cx="2303374" cy="1465798"/>
            <a:chOff x="4877699" y="1792099"/>
            <a:chExt cx="2001020" cy="1209604"/>
          </a:xfrm>
        </p:grpSpPr>
        <p:sp>
          <p:nvSpPr>
            <p:cNvPr id="246" name="Google Shape;246;p29"/>
            <p:cNvSpPr/>
            <p:nvPr/>
          </p:nvSpPr>
          <p:spPr>
            <a:xfrm rot="-742613">
              <a:off x="4877699" y="1948583"/>
              <a:ext cx="1374444" cy="891263"/>
            </a:xfrm>
            <a:prstGeom prst="rect">
              <a:avLst/>
            </a:prstGeom>
            <a:noFill/>
            <a:ln w="9525" cap="flat" cmpd="sng">
              <a:solidFill>
                <a:srgbClr val="99999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cxnSp>
          <p:nvCxnSpPr>
            <p:cNvPr id="247" name="Google Shape;247;p29"/>
            <p:cNvCxnSpPr/>
            <p:nvPr/>
          </p:nvCxnSpPr>
          <p:spPr>
            <a:xfrm rot="10800000" flipH="1">
              <a:off x="4982875" y="1792099"/>
              <a:ext cx="1168500" cy="1175400"/>
            </a:xfrm>
            <a:prstGeom prst="straightConnector1">
              <a:avLst/>
            </a:prstGeom>
            <a:noFill/>
            <a:ln w="19050" cap="flat" cmpd="sng">
              <a:solidFill>
                <a:srgbClr val="38761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8" name="Google Shape;248;p29"/>
            <p:cNvCxnSpPr/>
            <p:nvPr/>
          </p:nvCxnSpPr>
          <p:spPr>
            <a:xfrm rot="10800000" flipH="1">
              <a:off x="4982875" y="2746350"/>
              <a:ext cx="1042200" cy="2277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9" name="Google Shape;249;p29"/>
            <p:cNvCxnSpPr/>
            <p:nvPr/>
          </p:nvCxnSpPr>
          <p:spPr>
            <a:xfrm rot="10800000" flipH="1">
              <a:off x="4991105" y="2697354"/>
              <a:ext cx="1341300" cy="297900"/>
            </a:xfrm>
            <a:prstGeom prst="straightConnector1">
              <a:avLst/>
            </a:prstGeom>
            <a:noFill/>
            <a:ln w="19050" cap="flat" cmpd="sng">
              <a:solidFill>
                <a:srgbClr val="38761D"/>
              </a:solidFill>
              <a:prstDash val="lgDash"/>
              <a:round/>
              <a:headEnd type="none" w="med" len="med"/>
              <a:tailEnd type="triangle" w="med" len="med"/>
            </a:ln>
          </p:spPr>
        </p:cxnSp>
        <p:sp>
          <p:nvSpPr>
            <p:cNvPr id="250" name="Google Shape;250;p29"/>
            <p:cNvSpPr txBox="1"/>
            <p:nvPr/>
          </p:nvSpPr>
          <p:spPr>
            <a:xfrm>
              <a:off x="5339590" y="2030553"/>
              <a:ext cx="455068" cy="32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200" b="1" dirty="0">
                  <a:solidFill>
                    <a:srgbClr val="38761D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|u|</a:t>
              </a:r>
              <a:endParaRPr sz="1200" b="1" dirty="0">
                <a:solidFill>
                  <a:srgbClr val="38761D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endParaRPr sz="1200" b="1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51" name="Google Shape;251;p29"/>
            <p:cNvSpPr txBox="1"/>
            <p:nvPr/>
          </p:nvSpPr>
          <p:spPr>
            <a:xfrm>
              <a:off x="6078919" y="2658972"/>
              <a:ext cx="7998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200" b="1">
                  <a:solidFill>
                    <a:srgbClr val="38761D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|u| </a:t>
              </a:r>
              <a:r>
                <a:rPr lang="en" sz="1200">
                  <a:solidFill>
                    <a:srgbClr val="38761D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cos θ</a:t>
              </a:r>
              <a:endParaRPr sz="1200">
                <a:solidFill>
                  <a:srgbClr val="38761D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endParaRPr sz="1200" b="1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52" name="Google Shape;252;p29"/>
            <p:cNvSpPr txBox="1"/>
            <p:nvPr/>
          </p:nvSpPr>
          <p:spPr>
            <a:xfrm>
              <a:off x="5561477" y="2548474"/>
              <a:ext cx="455068" cy="32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200" b="1" dirty="0">
                  <a:solidFill>
                    <a:srgbClr val="FF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|v|</a:t>
              </a:r>
              <a:endParaRPr sz="1200" b="1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endParaRPr sz="1200" b="1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53" name="Google Shape;253;p29"/>
            <p:cNvSpPr txBox="1"/>
            <p:nvPr/>
          </p:nvSpPr>
          <p:spPr>
            <a:xfrm>
              <a:off x="5103718" y="2676503"/>
              <a:ext cx="2811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200">
                  <a:solidFill>
                    <a:srgbClr val="43434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θ</a:t>
              </a:r>
              <a:endParaRPr sz="12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endParaRPr sz="1200" b="1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254" name="Google Shape;254;p29"/>
          <p:cNvGrpSpPr/>
          <p:nvPr/>
        </p:nvGrpSpPr>
        <p:grpSpPr>
          <a:xfrm>
            <a:off x="6600573" y="4030393"/>
            <a:ext cx="1602685" cy="1803278"/>
            <a:chOff x="5740493" y="3460978"/>
            <a:chExt cx="1602685" cy="1803278"/>
          </a:xfrm>
        </p:grpSpPr>
        <p:sp>
          <p:nvSpPr>
            <p:cNvPr id="255" name="Google Shape;255;p29"/>
            <p:cNvSpPr/>
            <p:nvPr/>
          </p:nvSpPr>
          <p:spPr>
            <a:xfrm rot="-2774875">
              <a:off x="6090735" y="4401181"/>
              <a:ext cx="1032479" cy="693672"/>
            </a:xfrm>
            <a:prstGeom prst="rect">
              <a:avLst/>
            </a:prstGeom>
            <a:noFill/>
            <a:ln w="9525" cap="flat" cmpd="sng">
              <a:solidFill>
                <a:srgbClr val="99999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cxnSp>
          <p:nvCxnSpPr>
            <p:cNvPr id="256" name="Google Shape;256;p29"/>
            <p:cNvCxnSpPr/>
            <p:nvPr/>
          </p:nvCxnSpPr>
          <p:spPr>
            <a:xfrm rot="10800000" flipH="1">
              <a:off x="5998118" y="3460978"/>
              <a:ext cx="1345060" cy="1424350"/>
            </a:xfrm>
            <a:prstGeom prst="straightConnector1">
              <a:avLst/>
            </a:prstGeom>
            <a:noFill/>
            <a:ln w="19050" cap="flat" cmpd="sng">
              <a:solidFill>
                <a:srgbClr val="38761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7" name="Google Shape;257;p29"/>
            <p:cNvCxnSpPr/>
            <p:nvPr/>
          </p:nvCxnSpPr>
          <p:spPr>
            <a:xfrm rot="10800000" flipH="1">
              <a:off x="5998118" y="4617339"/>
              <a:ext cx="1199676" cy="275927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8" name="Google Shape;258;p29"/>
            <p:cNvCxnSpPr/>
            <p:nvPr/>
          </p:nvCxnSpPr>
          <p:spPr>
            <a:xfrm rot="10800000" flipH="1">
              <a:off x="5966472" y="4110275"/>
              <a:ext cx="707700" cy="7488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lgDash"/>
              <a:round/>
              <a:headEnd type="none" w="med" len="med"/>
              <a:tailEnd type="triangle" w="med" len="med"/>
            </a:ln>
          </p:spPr>
        </p:cxnSp>
        <p:sp>
          <p:nvSpPr>
            <p:cNvPr id="259" name="Google Shape;259;p29"/>
            <p:cNvSpPr txBox="1"/>
            <p:nvPr/>
          </p:nvSpPr>
          <p:spPr>
            <a:xfrm>
              <a:off x="6690630" y="3610967"/>
              <a:ext cx="464204" cy="39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200" b="1" dirty="0">
                  <a:solidFill>
                    <a:srgbClr val="38761D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|u|</a:t>
              </a:r>
              <a:endParaRPr sz="1200" b="1" dirty="0">
                <a:solidFill>
                  <a:srgbClr val="38761D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endParaRPr sz="1200" b="1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60" name="Google Shape;260;p29"/>
            <p:cNvSpPr txBox="1"/>
            <p:nvPr/>
          </p:nvSpPr>
          <p:spPr>
            <a:xfrm>
              <a:off x="5740493" y="4143408"/>
              <a:ext cx="920700" cy="39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200" b="1">
                  <a:solidFill>
                    <a:srgbClr val="FF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|v| </a:t>
              </a:r>
              <a:r>
                <a:rPr lang="en" sz="1200">
                  <a:solidFill>
                    <a:srgbClr val="FF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cos θ</a:t>
              </a:r>
              <a:endParaRPr sz="12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endParaRPr sz="1200" b="1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61" name="Google Shape;261;p29"/>
            <p:cNvSpPr txBox="1"/>
            <p:nvPr/>
          </p:nvSpPr>
          <p:spPr>
            <a:xfrm>
              <a:off x="6647690" y="4334271"/>
              <a:ext cx="507144" cy="3940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200" b="1" dirty="0">
                  <a:solidFill>
                    <a:srgbClr val="FF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|v|</a:t>
              </a:r>
              <a:endParaRPr sz="1200" b="1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endParaRPr sz="1200" b="1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62" name="Google Shape;262;p29"/>
            <p:cNvSpPr txBox="1"/>
            <p:nvPr/>
          </p:nvSpPr>
          <p:spPr>
            <a:xfrm>
              <a:off x="6145450" y="4532698"/>
              <a:ext cx="323100" cy="39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200">
                  <a:solidFill>
                    <a:srgbClr val="43434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θ</a:t>
              </a:r>
              <a:endParaRPr sz="12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endParaRPr sz="1200" b="1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cxnSp>
        <p:nvCxnSpPr>
          <p:cNvPr id="263" name="Google Shape;263;p29"/>
          <p:cNvCxnSpPr/>
          <p:nvPr/>
        </p:nvCxnSpPr>
        <p:spPr>
          <a:xfrm rot="10800000" flipH="1">
            <a:off x="5549981" y="3704223"/>
            <a:ext cx="666600" cy="4362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64" name="Google Shape;264;p29"/>
          <p:cNvCxnSpPr/>
          <p:nvPr/>
        </p:nvCxnSpPr>
        <p:spPr>
          <a:xfrm>
            <a:off x="4402843" y="4550514"/>
            <a:ext cx="1975200" cy="3456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stealth" w="med" len="med"/>
          </a:ln>
        </p:spPr>
      </p:cxnSp>
      <p:pic>
        <p:nvPicPr>
          <p:cNvPr id="265" name="Google Shape;265;p29" descr="bold u times bold v equals the absolute value of bold u times the absolute value of bold v times cosine theta comma 0 is less than or equal to theta is less than or equal to pi⁣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514" y="2214780"/>
            <a:ext cx="3786517" cy="252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>
            <a:spLocks noGrp="1"/>
          </p:cNvSpPr>
          <p:nvPr>
            <p:ph type="title"/>
          </p:nvPr>
        </p:nvSpPr>
        <p:spPr>
          <a:xfrm>
            <a:off x="393405" y="153352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Exercise</a:t>
            </a:r>
            <a:endParaRPr dirty="0"/>
          </a:p>
        </p:txBody>
      </p:sp>
      <p:sp>
        <p:nvSpPr>
          <p:cNvPr id="271" name="Google Shape;271;p30"/>
          <p:cNvSpPr txBox="1">
            <a:spLocks noGrp="1"/>
          </p:cNvSpPr>
          <p:nvPr>
            <p:ph type="body" idx="1"/>
          </p:nvPr>
        </p:nvSpPr>
        <p:spPr>
          <a:xfrm>
            <a:off x="311700" y="1268760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rgbClr val="1C4587"/>
                </a:solidFill>
              </a:rPr>
              <a:t>What values do the dot product give for the angles below? Give a layman explanation of the main characteristic of the dot product.</a:t>
            </a:r>
            <a:endParaRPr dirty="0"/>
          </a:p>
        </p:txBody>
      </p:sp>
      <p:sp>
        <p:nvSpPr>
          <p:cNvPr id="272" name="Google Shape;272;p30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25</a:t>
            </a:fld>
            <a:endParaRPr/>
          </a:p>
        </p:txBody>
      </p:sp>
      <p:graphicFrame>
        <p:nvGraphicFramePr>
          <p:cNvPr id="273" name="Google Shape;273;p30"/>
          <p:cNvGraphicFramePr/>
          <p:nvPr>
            <p:extLst>
              <p:ext uri="{D42A27DB-BD31-4B8C-83A1-F6EECF244321}">
                <p14:modId xmlns:p14="http://schemas.microsoft.com/office/powerpoint/2010/main" val="1578198263"/>
              </p:ext>
            </p:extLst>
          </p:nvPr>
        </p:nvGraphicFramePr>
        <p:xfrm>
          <a:off x="405396" y="2876802"/>
          <a:ext cx="5750778" cy="148830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58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8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8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8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84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84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4221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θ</a:t>
                      </a: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π/2</a:t>
                      </a: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π</a:t>
                      </a: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(0, π/2)</a:t>
                      </a: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(π/2, π)</a:t>
                      </a:r>
                      <a:endParaRPr sz="12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09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u.v</a:t>
                      </a:r>
                      <a:endParaRPr sz="12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>
            <a:spLocks noGrp="1"/>
          </p:cNvSpPr>
          <p:nvPr>
            <p:ph type="title"/>
          </p:nvPr>
        </p:nvSpPr>
        <p:spPr>
          <a:xfrm>
            <a:off x="393405" y="153352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Exercise</a:t>
            </a:r>
            <a:endParaRPr dirty="0"/>
          </a:p>
        </p:txBody>
      </p:sp>
      <p:sp>
        <p:nvSpPr>
          <p:cNvPr id="271" name="Google Shape;271;p30"/>
          <p:cNvSpPr txBox="1">
            <a:spLocks noGrp="1"/>
          </p:cNvSpPr>
          <p:nvPr>
            <p:ph type="body" idx="1"/>
          </p:nvPr>
        </p:nvSpPr>
        <p:spPr>
          <a:xfrm>
            <a:off x="311700" y="1268760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rgbClr val="1C4587"/>
                </a:solidFill>
              </a:rPr>
              <a:t>What values does the dot product give for the angles below? Give a layman explanation of the main characteristic of the dot product.</a:t>
            </a:r>
            <a:endParaRPr dirty="0"/>
          </a:p>
        </p:txBody>
      </p:sp>
      <p:sp>
        <p:nvSpPr>
          <p:cNvPr id="272" name="Google Shape;272;p30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26</a:t>
            </a:fld>
            <a:endParaRPr/>
          </a:p>
        </p:txBody>
      </p:sp>
      <p:graphicFrame>
        <p:nvGraphicFramePr>
          <p:cNvPr id="273" name="Google Shape;273;p30"/>
          <p:cNvGraphicFramePr/>
          <p:nvPr/>
        </p:nvGraphicFramePr>
        <p:xfrm>
          <a:off x="405397" y="2876802"/>
          <a:ext cx="4749600" cy="9793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9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8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θ</a:t>
                      </a: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π/2</a:t>
                      </a: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π</a:t>
                      </a: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(0, π/2)</a:t>
                      </a: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(π/2, π)</a:t>
                      </a:r>
                      <a:endParaRPr sz="12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u.v</a:t>
                      </a:r>
                      <a:endParaRPr sz="12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589FA6B-77A4-C73C-AEC5-9EB254BF44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5115859"/>
                  </p:ext>
                </p:extLst>
              </p:nvPr>
            </p:nvGraphicFramePr>
            <p:xfrm>
              <a:off x="122842" y="4320728"/>
              <a:ext cx="8520601" cy="206060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379790">
                      <a:extLst>
                        <a:ext uri="{9D8B030D-6E8A-4147-A177-3AD203B41FA5}">
                          <a16:colId xmlns:a16="http://schemas.microsoft.com/office/drawing/2014/main" val="97289023"/>
                        </a:ext>
                      </a:extLst>
                    </a:gridCol>
                    <a:gridCol w="1287422">
                      <a:extLst>
                        <a:ext uri="{9D8B030D-6E8A-4147-A177-3AD203B41FA5}">
                          <a16:colId xmlns:a16="http://schemas.microsoft.com/office/drawing/2014/main" val="2696951441"/>
                        </a:ext>
                      </a:extLst>
                    </a:gridCol>
                    <a:gridCol w="1483583">
                      <a:extLst>
                        <a:ext uri="{9D8B030D-6E8A-4147-A177-3AD203B41FA5}">
                          <a16:colId xmlns:a16="http://schemas.microsoft.com/office/drawing/2014/main" val="3838572760"/>
                        </a:ext>
                      </a:extLst>
                    </a:gridCol>
                    <a:gridCol w="1745447">
                      <a:extLst>
                        <a:ext uri="{9D8B030D-6E8A-4147-A177-3AD203B41FA5}">
                          <a16:colId xmlns:a16="http://schemas.microsoft.com/office/drawing/2014/main" val="2419064358"/>
                        </a:ext>
                      </a:extLst>
                    </a:gridCol>
                    <a:gridCol w="1338842">
                      <a:extLst>
                        <a:ext uri="{9D8B030D-6E8A-4147-A177-3AD203B41FA5}">
                          <a16:colId xmlns:a16="http://schemas.microsoft.com/office/drawing/2014/main" val="851412992"/>
                        </a:ext>
                      </a:extLst>
                    </a:gridCol>
                    <a:gridCol w="1285517">
                      <a:extLst>
                        <a:ext uri="{9D8B030D-6E8A-4147-A177-3AD203B41FA5}">
                          <a16:colId xmlns:a16="http://schemas.microsoft.com/office/drawing/2014/main" val="2918209213"/>
                        </a:ext>
                      </a:extLst>
                    </a:gridCol>
                  </a:tblGrid>
                  <a:tr h="564753"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en-US" sz="18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8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i="1" spc="-3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spc="-3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SG" sz="1800" spc="-3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n-US" sz="18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f>
                                  <m:fPr>
                                    <m:ctrlPr>
                                      <a:rPr lang="en-US" sz="1800" i="1" spc="-3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spc="-3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SG" sz="1800" spc="-3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i="1" spc="-3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spc="-3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SG" sz="1800" spc="-3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n-US" sz="18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16713301"/>
                      </a:ext>
                    </a:extLst>
                  </a:tr>
                  <a:tr h="332411"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pc="-30">
                                    <a:effectLst/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en-US" sz="1400" spc="-30">
                                    <a:effectLst/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en-US" sz="14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pc="-30">
                                    <a:effectLst/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en-SG" sz="1400" spc="-30">
                                    <a:effectLst/>
                                    <a:latin typeface="Cambria Math" panose="02040503050406030204" pitchFamily="18" charset="0"/>
                                  </a:rPr>
                                  <m:t>(0)=1</m:t>
                                </m:r>
                              </m:oMath>
                            </m:oMathPara>
                          </a14:m>
                          <a:endParaRPr lang="en-US" sz="14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400" spc="-30">
                                  <a:effectLst/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</a:rPr>
                                <m:t>(90)=</m:t>
                              </m:r>
                            </m:oMath>
                          </a14:m>
                          <a:r>
                            <a:rPr lang="en-SG" sz="1400" spc="-30">
                              <a:effectLst/>
                            </a:rPr>
                            <a:t>0</a:t>
                          </a:r>
                          <a:endParaRPr lang="en-US" sz="14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400" spc="-30">
                                  <a:effectLst/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</a:rPr>
                                <m:t>(180)= </m:t>
                              </m:r>
                            </m:oMath>
                          </a14:m>
                          <a:r>
                            <a:rPr lang="en-SG" sz="1400" spc="-30">
                              <a:effectLst/>
                            </a:rPr>
                            <a:t>-1</a:t>
                          </a:r>
                          <a:endParaRPr lang="en-US" sz="14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400" spc="-30">
                              <a:effectLst/>
                            </a:rPr>
                            <a:t>positive</a:t>
                          </a:r>
                          <a:endParaRPr lang="en-US" sz="14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400" spc="-30">
                              <a:effectLst/>
                            </a:rPr>
                            <a:t>negative</a:t>
                          </a:r>
                          <a:endParaRPr lang="en-US" sz="14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177468563"/>
                      </a:ext>
                    </a:extLst>
                  </a:tr>
                  <a:tr h="332411"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pc="-30">
                                    <a:effectLst/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  <m:r>
                                  <a:rPr lang="en-US" sz="1400" spc="-30">
                                    <a:effectLst/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400" spc="-30">
                                    <a:effectLst/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US" sz="14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400" i="1" spc="-3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spc="-3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</m:e>
                                </m:d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400" i="1" spc="-3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spc="-3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400" spc="-30" dirty="0">
                              <a:effectLst/>
                            </a:rPr>
                            <a:t>0</a:t>
                          </a:r>
                          <a:endParaRPr lang="en-US" sz="14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400" spc="-30" dirty="0">
                              <a:effectLst/>
                            </a:rPr>
                            <a:t>-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 spc="-3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spc="-30">
                                      <a:effectLst/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 spc="-3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spc="-30">
                                      <a:effectLst/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</m:d>
                            </m:oMath>
                          </a14:m>
                          <a:endParaRPr lang="en-US" sz="14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400" spc="-30">
                              <a:effectLst/>
                            </a:rPr>
                            <a:t>positive</a:t>
                          </a:r>
                          <a:endParaRPr lang="en-US" sz="14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400" spc="-30">
                              <a:effectLst/>
                            </a:rPr>
                            <a:t>negative</a:t>
                          </a:r>
                          <a:endParaRPr lang="en-US" sz="14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13859829"/>
                      </a:ext>
                    </a:extLst>
                  </a:tr>
                  <a:tr h="83102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400" spc="-30">
                              <a:effectLst/>
                            </a:rPr>
                            <a:t>Characteristics</a:t>
                          </a:r>
                          <a:endParaRPr lang="en-US" sz="14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400" spc="-30">
                              <a:effectLst/>
                            </a:rPr>
                            <a:t>Dot product of two parallel vectors is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 spc="-3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spc="-30">
                                      <a:effectLst/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 spc="-3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spc="-30">
                                      <a:effectLst/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</m:d>
                            </m:oMath>
                          </a14:m>
                          <a:endParaRPr lang="en-US" sz="14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400" spc="-30">
                              <a:effectLst/>
                            </a:rPr>
                            <a:t>Dot product of two perpendicular vectors is zero</a:t>
                          </a:r>
                          <a:endParaRPr lang="en-US" sz="14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400" spc="-30" dirty="0">
                              <a:effectLst/>
                            </a:rPr>
                            <a:t> </a:t>
                          </a:r>
                          <a:endParaRPr lang="en-US" sz="14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400" spc="-30" dirty="0">
                              <a:effectLst/>
                            </a:rPr>
                            <a:t> </a:t>
                          </a:r>
                          <a:endParaRPr lang="en-US" sz="14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400" spc="-30" dirty="0">
                              <a:effectLst/>
                            </a:rPr>
                            <a:t> </a:t>
                          </a:r>
                          <a:endParaRPr lang="en-US" sz="14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763272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589FA6B-77A4-C73C-AEC5-9EB254BF44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5115859"/>
                  </p:ext>
                </p:extLst>
              </p:nvPr>
            </p:nvGraphicFramePr>
            <p:xfrm>
              <a:off x="122842" y="4320728"/>
              <a:ext cx="8520601" cy="206060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379790">
                      <a:extLst>
                        <a:ext uri="{9D8B030D-6E8A-4147-A177-3AD203B41FA5}">
                          <a16:colId xmlns:a16="http://schemas.microsoft.com/office/drawing/2014/main" val="97289023"/>
                        </a:ext>
                      </a:extLst>
                    </a:gridCol>
                    <a:gridCol w="1287422">
                      <a:extLst>
                        <a:ext uri="{9D8B030D-6E8A-4147-A177-3AD203B41FA5}">
                          <a16:colId xmlns:a16="http://schemas.microsoft.com/office/drawing/2014/main" val="2696951441"/>
                        </a:ext>
                      </a:extLst>
                    </a:gridCol>
                    <a:gridCol w="1483583">
                      <a:extLst>
                        <a:ext uri="{9D8B030D-6E8A-4147-A177-3AD203B41FA5}">
                          <a16:colId xmlns:a16="http://schemas.microsoft.com/office/drawing/2014/main" val="3838572760"/>
                        </a:ext>
                      </a:extLst>
                    </a:gridCol>
                    <a:gridCol w="1745447">
                      <a:extLst>
                        <a:ext uri="{9D8B030D-6E8A-4147-A177-3AD203B41FA5}">
                          <a16:colId xmlns:a16="http://schemas.microsoft.com/office/drawing/2014/main" val="2419064358"/>
                        </a:ext>
                      </a:extLst>
                    </a:gridCol>
                    <a:gridCol w="1338842">
                      <a:extLst>
                        <a:ext uri="{9D8B030D-6E8A-4147-A177-3AD203B41FA5}">
                          <a16:colId xmlns:a16="http://schemas.microsoft.com/office/drawing/2014/main" val="851412992"/>
                        </a:ext>
                      </a:extLst>
                    </a:gridCol>
                    <a:gridCol w="1285517">
                      <a:extLst>
                        <a:ext uri="{9D8B030D-6E8A-4147-A177-3AD203B41FA5}">
                          <a16:colId xmlns:a16="http://schemas.microsoft.com/office/drawing/2014/main" val="2918209213"/>
                        </a:ext>
                      </a:extLst>
                    </a:gridCol>
                  </a:tblGrid>
                  <a:tr h="5647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442" t="-1075" r="-520796" b="-2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07075" t="-1075" r="-455189" b="-2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80658" t="-1075" r="-297119" b="-2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38462" t="-1075" r="-152448" b="-2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440000" t="-1075" r="-98182" b="-2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563033" t="-1075" r="-2370" b="-2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713301"/>
                      </a:ext>
                    </a:extLst>
                  </a:tr>
                  <a:tr h="3324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442" t="-170909" r="-520796" b="-35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07075" t="-170909" r="-455189" b="-35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80658" t="-170909" r="-297119" b="-35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38462" t="-170909" r="-152448" b="-35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400" spc="-30">
                              <a:effectLst/>
                            </a:rPr>
                            <a:t>positive</a:t>
                          </a:r>
                          <a:endParaRPr lang="en-US" sz="14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400" spc="-30">
                              <a:effectLst/>
                            </a:rPr>
                            <a:t>negative</a:t>
                          </a:r>
                          <a:endParaRPr lang="en-US" sz="14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177468563"/>
                      </a:ext>
                    </a:extLst>
                  </a:tr>
                  <a:tr h="3324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442" t="-275926" r="-520796" b="-257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07075" t="-275926" r="-455189" b="-257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400" spc="-30" dirty="0">
                              <a:effectLst/>
                            </a:rPr>
                            <a:t>0</a:t>
                          </a:r>
                          <a:endParaRPr lang="en-US" sz="14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38462" t="-275926" r="-152448" b="-257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400" spc="-30">
                              <a:effectLst/>
                            </a:rPr>
                            <a:t>positive</a:t>
                          </a:r>
                          <a:endParaRPr lang="en-US" sz="14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400" spc="-30">
                              <a:effectLst/>
                            </a:rPr>
                            <a:t>negative</a:t>
                          </a:r>
                          <a:endParaRPr lang="en-US" sz="14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13859829"/>
                      </a:ext>
                    </a:extLst>
                  </a:tr>
                  <a:tr h="83102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400" spc="-30">
                              <a:effectLst/>
                            </a:rPr>
                            <a:t>Characteristics</a:t>
                          </a:r>
                          <a:endParaRPr lang="en-US" sz="14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07075" t="-148175" r="-455189" b="-1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400" spc="-30">
                              <a:effectLst/>
                            </a:rPr>
                            <a:t>Dot product of two perpendicular vectors is zero</a:t>
                          </a:r>
                          <a:endParaRPr lang="en-US" sz="14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400" spc="-30" dirty="0">
                              <a:effectLst/>
                            </a:rPr>
                            <a:t> </a:t>
                          </a:r>
                          <a:endParaRPr lang="en-US" sz="14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400" spc="-30" dirty="0">
                              <a:effectLst/>
                            </a:rPr>
                            <a:t> </a:t>
                          </a:r>
                          <a:endParaRPr lang="en-US" sz="14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400" spc="-30" dirty="0">
                              <a:effectLst/>
                            </a:rPr>
                            <a:t> </a:t>
                          </a:r>
                          <a:endParaRPr lang="en-US" sz="14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763272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756261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1"/>
          <p:cNvSpPr txBox="1">
            <a:spLocks noGrp="1"/>
          </p:cNvSpPr>
          <p:nvPr>
            <p:ph type="title"/>
          </p:nvPr>
        </p:nvSpPr>
        <p:spPr>
          <a:xfrm>
            <a:off x="311700" y="369458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Dot Product</a:t>
            </a:r>
            <a:endParaRPr dirty="0"/>
          </a:p>
        </p:txBody>
      </p:sp>
      <p:sp>
        <p:nvSpPr>
          <p:cNvPr id="279" name="Google Shape;279;p31"/>
          <p:cNvSpPr txBox="1">
            <a:spLocks noGrp="1"/>
          </p:cNvSpPr>
          <p:nvPr>
            <p:ph type="body" idx="1"/>
          </p:nvPr>
        </p:nvSpPr>
        <p:spPr>
          <a:xfrm>
            <a:off x="226208" y="1190226"/>
            <a:ext cx="8520600" cy="493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rgbClr val="434343"/>
                </a:solidFill>
              </a:rPr>
              <a:t>The dot product of two vectors, </a:t>
            </a:r>
            <a:r>
              <a:rPr lang="en" b="1" dirty="0">
                <a:solidFill>
                  <a:srgbClr val="434343"/>
                </a:solidFill>
              </a:rPr>
              <a:t>u</a:t>
            </a:r>
            <a:r>
              <a:rPr lang="en" dirty="0">
                <a:solidFill>
                  <a:srgbClr val="434343"/>
                </a:solidFill>
              </a:rPr>
              <a:t> and </a:t>
            </a:r>
            <a:r>
              <a:rPr lang="en" b="1" dirty="0">
                <a:solidFill>
                  <a:srgbClr val="434343"/>
                </a:solidFill>
              </a:rPr>
              <a:t>v</a:t>
            </a:r>
            <a:r>
              <a:rPr lang="en" dirty="0">
                <a:solidFill>
                  <a:srgbClr val="434343"/>
                </a:solidFill>
              </a:rPr>
              <a:t>, is more directly computed from:</a:t>
            </a:r>
            <a:endParaRPr dirty="0">
              <a:solidFill>
                <a:srgbClr val="434343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rgbClr val="434343"/>
              </a:solidFill>
            </a:endParaRPr>
          </a:p>
        </p:txBody>
      </p:sp>
      <p:sp>
        <p:nvSpPr>
          <p:cNvPr id="280" name="Google Shape;280;p31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27</a:t>
            </a:fld>
            <a:endParaRPr/>
          </a:p>
        </p:txBody>
      </p:sp>
      <p:pic>
        <p:nvPicPr>
          <p:cNvPr id="281" name="Google Shape;2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5224" y="1942917"/>
            <a:ext cx="5089064" cy="1304773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1"/>
          <p:cNvSpPr txBox="1"/>
          <p:nvPr/>
        </p:nvSpPr>
        <p:spPr>
          <a:xfrm>
            <a:off x="311700" y="3287607"/>
            <a:ext cx="8160900" cy="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Notice that the dot product of two vectors outputs a scalar value. Hence, it is also known as a scalar product (aka inner product).</a:t>
            </a:r>
            <a:endParaRPr sz="2000"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sz="2000"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r>
              <a:rPr lang="en" sz="2000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Combining the two definitions of the dot product, the angle between two vectors, </a:t>
            </a:r>
            <a:r>
              <a:rPr lang="en" sz="2000" b="1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u</a:t>
            </a:r>
            <a:r>
              <a:rPr lang="en" sz="2000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 and </a:t>
            </a:r>
            <a:r>
              <a:rPr lang="en" sz="2000" b="1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r>
              <a:rPr lang="en" sz="2000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, can hence be found by:</a:t>
            </a:r>
            <a:endParaRPr sz="2000" dirty="0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83" name="Google Shape;28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7744" y="4981666"/>
            <a:ext cx="3240360" cy="686107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1"/>
          <p:cNvSpPr txBox="1"/>
          <p:nvPr/>
        </p:nvSpPr>
        <p:spPr>
          <a:xfrm>
            <a:off x="311700" y="5479327"/>
            <a:ext cx="82881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" dirty="0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r>
              <a:rPr lang="en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We shall prove the above in Tutorial 2.</a:t>
            </a:r>
            <a:endParaRPr dirty="0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2"/>
          <p:cNvSpPr txBox="1">
            <a:spLocks noGrp="1"/>
          </p:cNvSpPr>
          <p:nvPr>
            <p:ph type="title"/>
          </p:nvPr>
        </p:nvSpPr>
        <p:spPr>
          <a:xfrm>
            <a:off x="237625" y="260648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Properties of the Dot Product</a:t>
            </a:r>
            <a:endParaRPr dirty="0"/>
          </a:p>
        </p:txBody>
      </p:sp>
      <p:sp>
        <p:nvSpPr>
          <p:cNvPr id="290" name="Google Shape;290;p32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28</a:t>
            </a:fld>
            <a:endParaRPr/>
          </a:p>
        </p:txBody>
      </p:sp>
      <p:pic>
        <p:nvPicPr>
          <p:cNvPr id="291" name="Google Shape;29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876" y="2204863"/>
            <a:ext cx="7242460" cy="237626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2"/>
          <p:cNvSpPr txBox="1"/>
          <p:nvPr/>
        </p:nvSpPr>
        <p:spPr>
          <a:xfrm>
            <a:off x="353875" y="4955827"/>
            <a:ext cx="82881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Exercise: Verify each property above.</a:t>
            </a:r>
            <a:endParaRPr sz="2400" dirty="0">
              <a:solidFill>
                <a:srgbClr val="0B539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93" name="Google Shape;29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9752" y="2636912"/>
            <a:ext cx="1368152" cy="243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2"/>
          <p:cNvSpPr txBox="1">
            <a:spLocks noGrp="1"/>
          </p:cNvSpPr>
          <p:nvPr>
            <p:ph type="title"/>
          </p:nvPr>
        </p:nvSpPr>
        <p:spPr>
          <a:xfrm>
            <a:off x="237625" y="260648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Properties of the Dot Product</a:t>
            </a:r>
            <a:endParaRPr dirty="0"/>
          </a:p>
        </p:txBody>
      </p:sp>
      <p:sp>
        <p:nvSpPr>
          <p:cNvPr id="290" name="Google Shape;290;p32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29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7CA287-548E-2FE7-7374-F772270C9DAD}"/>
                  </a:ext>
                </a:extLst>
              </p:cNvPr>
              <p:cNvSpPr txBox="1"/>
              <p:nvPr/>
            </p:nvSpPr>
            <p:spPr>
              <a:xfrm>
                <a:off x="107504" y="943933"/>
                <a:ext cx="8364954" cy="46323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marR="0" lvl="0" indent="-342900" algn="just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SG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Commutative</a:t>
                </a:r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 </a:t>
                </a:r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SG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𝒖</m:t>
                    </m:r>
                    <m:r>
                      <a:rPr lang="en-US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1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000" b="1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0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sz="20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SG" sz="20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0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sz="20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SG" sz="20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sz="2000" b="1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⋮</m:t>
                                  </m:r>
                                </m:e>
                              </m:mr>
                            </m:m>
                          </m:e>
                          <m:e>
                            <m:sSub>
                              <m:sSubPr>
                                <m:ctrlPr>
                                  <a:rPr lang="en-US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SG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</m:t>
                    </m:r>
                    <m:r>
                      <a:rPr lang="en-SG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𝒗</m:t>
                    </m:r>
                    <m:r>
                      <a:rPr lang="en-US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1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000" b="1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0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sz="20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SG" sz="20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0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sz="20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SG" sz="20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sz="2000" b="1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⋮</m:t>
                                  </m:r>
                                </m:e>
                              </m:mr>
                            </m:m>
                          </m:e>
                          <m:e>
                            <m:sSub>
                              <m:sSubPr>
                                <m:ctrlPr>
                                  <a:rPr lang="en-US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SG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</m:t>
                    </m:r>
                    <m:r>
                      <a:rPr lang="en-SG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𝒘</m:t>
                    </m:r>
                    <m:r>
                      <a:rPr lang="en-US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1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000" b="1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0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sz="20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SG" sz="20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0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sz="20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SG" sz="20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sz="2000" b="1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⋮</m:t>
                                  </m:r>
                                </m:e>
                              </m:mr>
                            </m:m>
                          </m:e>
                          <m:e>
                            <m:sSub>
                              <m:sSubPr>
                                <m:ctrlPr>
                                  <a:rPr lang="en-US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.</a:t>
                </a:r>
                <a:r>
                  <a:rPr lang="en-US" sz="2000" spc="-30" dirty="0">
                    <a:latin typeface="Arial" panose="020B0604020202020204" pitchFamily="34" charset="0"/>
                    <a:ea typeface="SimSun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SG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𝒖</m:t>
                    </m:r>
                    <m:r>
                      <a:rPr lang="en-SG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.</m:t>
                    </m:r>
                    <m:r>
                      <a:rPr lang="en-SG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𝒗</m:t>
                    </m:r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r>
                          <a:rPr lang="en-SG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𝒖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r>
                          <a:rPr lang="en-SG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𝒗</m:t>
                        </m:r>
                      </m:e>
                    </m:d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𝑐𝑜𝑠</m:t>
                    </m:r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𝜃</m:t>
                    </m:r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r>
                          <a:rPr lang="en-SG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𝒗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r>
                          <a:rPr lang="en-SG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𝒖</m:t>
                        </m:r>
                      </m:e>
                    </m:d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𝑐𝑜𝑠</m:t>
                    </m:r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𝜃</m:t>
                    </m:r>
                    <m:r>
                      <a:rPr lang="en-US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>
                      <a:rPr lang="en-SG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𝒗</m:t>
                    </m:r>
                    <m:r>
                      <a:rPr lang="en-SG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.</m:t>
                    </m:r>
                    <m:r>
                      <a:rPr lang="en-SG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𝒖</m:t>
                    </m:r>
                  </m:oMath>
                </a14:m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SG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𝒖</m:t>
                          </m:r>
                        </m:e>
                        <m:sup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𝑇</m:t>
                          </m:r>
                        </m:sup>
                      </m:sSup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𝒗</m:t>
                      </m:r>
                      <m:r>
                        <a:rPr lang="en-US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b="1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b="1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SG" sz="2000" b="1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...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000" b="1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b="1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2000" b="1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SG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𝑢</m:t>
                          </m:r>
                        </m:e>
                        <m:sub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𝑣</m:t>
                          </m:r>
                        </m:e>
                        <m:sub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𝑢</m:t>
                          </m:r>
                        </m:e>
                        <m:sub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𝑣</m:t>
                          </m:r>
                        </m:e>
                        <m:sub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+...+</m:t>
                      </m:r>
                      <m:sSub>
                        <m:sSub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𝑢</m:t>
                          </m:r>
                        </m:e>
                        <m:sub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𝑣</m:t>
                          </m:r>
                        </m:e>
                        <m:sub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sub>
                      </m:sSub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naryPr>
                        <m:sub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𝑖</m:t>
                          </m:r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=1</m:t>
                          </m:r>
                        </m:sub>
                        <m:sup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SG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=</m:t>
                          </m:r>
                          <m:r>
                            <a:rPr lang="en-SG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𝒖</m:t>
                          </m:r>
                          <m:r>
                            <a:rPr lang="en-SG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.</m:t>
                          </m:r>
                          <m:r>
                            <a:rPr lang="en-SG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𝒗</m:t>
                          </m:r>
                        </m:e>
                      </m:nary>
                    </m:oMath>
                  </m:oMathPara>
                </a14:m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SG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𝒗</m:t>
                          </m:r>
                        </m:e>
                        <m:sup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𝑇</m:t>
                          </m:r>
                        </m:sup>
                      </m:sSup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𝒖</m:t>
                      </m:r>
                      <m:r>
                        <a:rPr lang="en-US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b="1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b="1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SG" sz="2000" b="1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...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000" b="1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b="1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sz="2000" b="1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SG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𝑣</m:t>
                          </m:r>
                        </m:e>
                        <m:sub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𝑢</m:t>
                          </m:r>
                        </m:e>
                        <m:sub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𝑣</m:t>
                          </m:r>
                        </m:e>
                        <m:sub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𝑢</m:t>
                          </m:r>
                        </m:e>
                        <m:sub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+...+</m:t>
                      </m:r>
                      <m:sSub>
                        <m:sSub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𝑣</m:t>
                          </m:r>
                        </m:e>
                        <m:sub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𝑢</m:t>
                          </m:r>
                        </m:e>
                        <m:sub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sub>
                      </m:sSub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naryPr>
                        <m:sub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𝑖</m:t>
                          </m:r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=1</m:t>
                          </m:r>
                        </m:sub>
                        <m:sup>
                          <m:r>
                            <a:rPr lang="en-SG" sz="20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𝒗</m:t>
                      </m:r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𝒖</m:t>
                      </m:r>
                    </m:oMath>
                  </m:oMathPara>
                </a14:m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Therefore,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SG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𝒖</m:t>
                        </m:r>
                        <m:r>
                          <a:rPr lang="en-SG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.</m:t>
                        </m:r>
                        <m:r>
                          <a:rPr lang="en-SG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𝒗</m:t>
                        </m:r>
                        <m:r>
                          <a:rPr lang="en-SG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=</m:t>
                        </m:r>
                        <m:r>
                          <a:rPr lang="en-SG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𝒗</m:t>
                        </m:r>
                        <m:r>
                          <a:rPr lang="en-SG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.</m:t>
                        </m:r>
                        <m:r>
                          <a:rPr lang="en-SG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𝒖</m:t>
                        </m:r>
                        <m:r>
                          <a:rPr lang="en-SG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=</m:t>
                        </m:r>
                        <m:r>
                          <a:rPr lang="en-SG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𝒖</m:t>
                        </m:r>
                      </m:e>
                      <m:sup>
                        <m:r>
                          <a:rPr lang="en-SG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𝑇</m:t>
                        </m:r>
                      </m:sup>
                    </m:sSup>
                    <m:r>
                      <a:rPr lang="en-SG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𝒗</m:t>
                    </m:r>
                    <m:r>
                      <a:rPr lang="en-SG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SG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𝒗</m:t>
                        </m:r>
                      </m:e>
                      <m:sup>
                        <m:r>
                          <a:rPr lang="en-SG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𝑇</m:t>
                        </m:r>
                      </m:sup>
                    </m:sSup>
                    <m:r>
                      <a:rPr lang="en-SG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𝒖</m:t>
                    </m:r>
                  </m:oMath>
                </a14:m>
                <a:r>
                  <a:rPr lang="en-US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.</a:t>
                </a: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000" b="1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 </a:t>
                </a:r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R="0" lvl="0" algn="just">
                  <a:spcBef>
                    <a:spcPts val="0"/>
                  </a:spcBef>
                  <a:spcAft>
                    <a:spcPts val="0"/>
                  </a:spcAft>
                </a:pPr>
                <a:endParaRPr lang="en-US" sz="16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7CA287-548E-2FE7-7374-F772270C9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943933"/>
                <a:ext cx="8364954" cy="4632358"/>
              </a:xfrm>
              <a:prstGeom prst="rect">
                <a:avLst/>
              </a:prstGeom>
              <a:blipFill>
                <a:blip r:embed="rId3"/>
                <a:stretch>
                  <a:fillRect l="-802" t="-6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94659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2"/>
          <p:cNvSpPr txBox="1">
            <a:spLocks noGrp="1"/>
          </p:cNvSpPr>
          <p:nvPr>
            <p:ph type="title"/>
          </p:nvPr>
        </p:nvSpPr>
        <p:spPr>
          <a:xfrm>
            <a:off x="237625" y="260648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Properties of the Dot Product</a:t>
            </a:r>
            <a:endParaRPr dirty="0"/>
          </a:p>
        </p:txBody>
      </p:sp>
      <p:sp>
        <p:nvSpPr>
          <p:cNvPr id="290" name="Google Shape;290;p32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30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7CA287-548E-2FE7-7374-F772270C9DAD}"/>
                  </a:ext>
                </a:extLst>
              </p:cNvPr>
              <p:cNvSpPr txBox="1"/>
              <p:nvPr/>
            </p:nvSpPr>
            <p:spPr>
              <a:xfrm>
                <a:off x="119447" y="988955"/>
                <a:ext cx="8756956" cy="4885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16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 </a:t>
                </a:r>
                <a:r>
                  <a:rPr lang="en-SG" sz="24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2. Distributive</a:t>
                </a:r>
                <a:endParaRPr lang="en-US" sz="24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4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𝒖</m:t>
                      </m:r>
                      <m:r>
                        <a:rPr lang="en-SG" sz="24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d>
                        <m:dPr>
                          <m:ctrlPr>
                            <a:rPr lang="en-SG" sz="24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SG" sz="24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𝒗</m:t>
                          </m:r>
                          <m:r>
                            <a:rPr lang="en-SG" sz="24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+</m:t>
                          </m:r>
                          <m:r>
                            <a:rPr lang="en-SG" sz="24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𝒘</m:t>
                          </m:r>
                        </m:e>
                      </m:d>
                      <m:r>
                        <a:rPr lang="en-SG" sz="24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sz="24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SG" sz="24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(</m:t>
                          </m:r>
                          <m:r>
                            <a:rPr lang="en-SG" sz="24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𝑢</m:t>
                          </m:r>
                        </m:e>
                        <m:sub>
                          <m:r>
                            <a:rPr lang="en-SG" sz="24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sz="2400" b="1" i="1" spc="-3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,</m:t>
                      </m:r>
                      <m:sSub>
                        <m:sSubPr>
                          <m:ctrlPr>
                            <a:rPr lang="en-US" sz="24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SG" sz="24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𝑢</m:t>
                          </m:r>
                        </m:e>
                        <m:sub>
                          <m:r>
                            <a:rPr lang="en-SG" sz="24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sz="2400" b="1" i="1" spc="-3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,</m:t>
                      </m:r>
                      <m:r>
                        <a:rPr lang="en-SG" sz="24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...</m:t>
                      </m:r>
                      <m:sSub>
                        <m:sSubPr>
                          <m:ctrlPr>
                            <a:rPr lang="en-US" sz="24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sz="2400" b="0" i="1" spc="-30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,</m:t>
                          </m:r>
                          <m:r>
                            <a:rPr lang="en-SG" sz="24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𝑢</m:t>
                          </m:r>
                        </m:e>
                        <m:sub>
                          <m:r>
                            <a:rPr lang="en-SG" sz="24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sub>
                      </m:sSub>
                      <m:r>
                        <a:rPr lang="en-SG" sz="24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).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SG" sz="24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(</m:t>
                              </m:r>
                              <m:r>
                                <a:rPr lang="en-SG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SG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1" i="1" spc="-30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SG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SG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1" i="1" spc="-30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,</m:t>
                          </m:r>
                          <m:r>
                            <a:rPr lang="en-SG" sz="24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...+</m:t>
                          </m:r>
                          <m:sSub>
                            <m:sSubPr>
                              <m:ctrlPr>
                                <a:rPr lang="en-US" sz="24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sz="2400" b="1" i="1" spc="-30" smtClean="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,</m:t>
                              </m:r>
                              <m:r>
                                <a:rPr lang="en-SG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SG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SG" sz="24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sz="24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SG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SG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1" i="1" spc="-30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SG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SG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1" i="1" spc="-30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,</m:t>
                          </m:r>
                          <m:r>
                            <a:rPr lang="en-SG" sz="2400" b="1" i="1" spc="-30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…,</m:t>
                          </m:r>
                          <m:sSub>
                            <m:sSubPr>
                              <m:ctrlPr>
                                <a:rPr lang="en-US" sz="24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SG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SG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SG" sz="24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400" b="1" i="1" spc="-30" dirty="0">
                  <a:effectLst/>
                  <a:latin typeface="Cambria Math" panose="02040503050406030204" pitchFamily="18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SG" sz="24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=(</m:t>
                          </m:r>
                          <m:r>
                            <a:rPr lang="en-SG" sz="24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𝑢</m:t>
                          </m:r>
                        </m:e>
                        <m:sub>
                          <m:r>
                            <a:rPr lang="en-SG" sz="24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sz="2400" b="1" i="1" spc="-30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,</m:t>
                          </m:r>
                          <m:r>
                            <a:rPr lang="en-SG" sz="24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𝑢</m:t>
                          </m:r>
                        </m:e>
                        <m:sub>
                          <m:r>
                            <a:rPr lang="en-SG" sz="24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sz="2400" b="1" i="1" spc="-3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,</m:t>
                      </m:r>
                      <m:r>
                        <a:rPr lang="en-SG" sz="24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...</m:t>
                      </m:r>
                      <m:sSub>
                        <m:sSubPr>
                          <m:ctrlPr>
                            <a:rPr lang="en-US" sz="24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sz="2400" b="1" i="1" spc="-30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,</m:t>
                          </m:r>
                          <m:r>
                            <a:rPr lang="en-SG" sz="24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𝑢</m:t>
                          </m:r>
                        </m:e>
                        <m:sub>
                          <m:r>
                            <a:rPr lang="en-SG" sz="24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sub>
                      </m:sSub>
                      <m:r>
                        <a:rPr lang="en-SG" sz="24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).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SG" sz="24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(</m:t>
                              </m:r>
                              <m:r>
                                <a:rPr lang="en-SG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SG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SG" sz="24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</m:t>
                              </m:r>
                              <m:r>
                                <a:rPr lang="en-SG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SG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SG" sz="24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)</m:t>
                          </m:r>
                          <m:r>
                            <a:rPr lang="en-US" sz="2400" b="1" i="1" spc="-30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,</m:t>
                          </m:r>
                          <m:d>
                            <m:dPr>
                              <m:ctrlPr>
                                <a:rPr lang="en-SG" sz="24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4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SG" sz="24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1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400" b="1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+</m:t>
                                  </m:r>
                                  <m:r>
                                    <a:rPr lang="en-SG" sz="24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SG" sz="24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1" i="1" spc="-30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,</m:t>
                          </m:r>
                          <m:r>
                            <a:rPr lang="en-SG" sz="24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...</m:t>
                          </m:r>
                          <m:r>
                            <a:rPr lang="en-US" sz="2400" b="1" i="1" spc="-30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SG" sz="24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(</m:t>
                              </m:r>
                              <m:r>
                                <a:rPr lang="en-SG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SG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SG" sz="24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SG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SG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SG" sz="24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400" b="1" i="1" spc="-30" dirty="0">
                  <a:effectLst/>
                  <a:latin typeface="Cambria Math" panose="02040503050406030204" pitchFamily="18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400" b="1" spc="-30" dirty="0">
                    <a:effectLst/>
                    <a:ea typeface="SimSun" panose="02010600030101010101" pitchFamily="2" charset="-122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𝑢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𝑣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+</m:t>
                        </m:r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𝑤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)+</m:t>
                    </m:r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𝑢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𝑣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+</m:t>
                        </m:r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𝑤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)+...+</m:t>
                    </m:r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𝑢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(</m:t>
                        </m:r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𝑣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𝑛</m:t>
                        </m:r>
                      </m:sub>
                    </m:sSub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𝑤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𝑛</m:t>
                        </m:r>
                      </m:sub>
                    </m:sSub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)</m:t>
                    </m:r>
                  </m:oMath>
                </a14:m>
                <a:endParaRPr lang="en-US" sz="2400" b="1" i="1" spc="-30" dirty="0">
                  <a:effectLst/>
                  <a:latin typeface="Cambria Math" panose="02040503050406030204" pitchFamily="18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400" b="1" spc="-30" dirty="0">
                    <a:effectLst/>
                    <a:ea typeface="SimSun" panose="02010600030101010101" pitchFamily="2" charset="-122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𝑢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𝑣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1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SG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𝑢</m:t>
                            </m:r>
                          </m:e>
                          <m:sub>
                            <m:r>
                              <a:rPr lang="en-SG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1</m:t>
                            </m:r>
                          </m:sub>
                        </m:s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𝑤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𝑢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𝑣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1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SG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𝑢</m:t>
                            </m:r>
                          </m:e>
                          <m:sub>
                            <m:r>
                              <a:rPr lang="en-SG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b>
                        </m:s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𝑤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+...+</m:t>
                    </m:r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𝑢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𝑣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𝑛</m:t>
                        </m:r>
                      </m:sub>
                    </m:sSub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𝑢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𝑤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𝑛</m:t>
                        </m:r>
                      </m:sub>
                    </m:sSub>
                  </m:oMath>
                </a14:m>
                <a:endParaRPr lang="en-US" sz="2400" b="1" i="1" spc="-30" dirty="0">
                  <a:effectLst/>
                  <a:latin typeface="Cambria Math" panose="02040503050406030204" pitchFamily="18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400" b="1" spc="-30" dirty="0">
                    <a:effectLst/>
                    <a:ea typeface="SimSun" panose="02010600030101010101" pitchFamily="2" charset="-122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sz="2400" b="1" i="0" spc="-3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  </m:t>
                    </m:r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(</m:t>
                        </m:r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𝑢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𝑣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𝑢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𝑣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1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400" b="1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2400" b="1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400" b="1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...+</m:t>
                                    </m:r>
                                    <m:sSub>
                                      <m:sSubPr>
                                        <m:ctrlPr>
                                          <a:rPr lang="en-US" sz="2400" b="1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4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SG" sz="24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400" b="1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4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SG" sz="24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SG" sz="2400" b="1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)+(</m:t>
                                    </m:r>
                                    <m:r>
                                      <a:rPr lang="en-SG" sz="24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SG" sz="24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SG" sz="24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SG" sz="24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SG" sz="2400" b="1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+</m:t>
                            </m:r>
                            <m:r>
                              <a:rPr lang="en-SG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𝑢</m:t>
                            </m:r>
                          </m:e>
                          <m:sub>
                            <m:r>
                              <a:rPr lang="en-SG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b>
                        </m:s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𝑤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+...+</m:t>
                    </m:r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𝑢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𝑤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𝑛</m:t>
                        </m:r>
                      </m:sub>
                    </m:sSub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)</m:t>
                    </m:r>
                  </m:oMath>
                </a14:m>
                <a:endParaRPr lang="en-US" sz="2400" b="1" i="1" spc="-30" dirty="0">
                  <a:effectLst/>
                  <a:latin typeface="Cambria Math" panose="02040503050406030204" pitchFamily="18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400" b="1" spc="-30" dirty="0">
                    <a:effectLst/>
                    <a:ea typeface="SimSun" panose="02010600030101010101" pitchFamily="2" charset="-122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𝒖</m:t>
                    </m:r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.</m:t>
                    </m:r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𝒗</m:t>
                    </m:r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𝒖</m:t>
                    </m:r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.</m:t>
                    </m:r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𝒘</m:t>
                    </m:r>
                  </m:oMath>
                </a14:m>
                <a:r>
                  <a:rPr lang="en-US" sz="24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,</a:t>
                </a: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endParaRPr lang="en-US" sz="24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spc="-30" dirty="0">
                    <a:latin typeface="Arial" panose="020B0604020202020204" pitchFamily="34" charset="0"/>
                    <a:ea typeface="SimSun" panose="02010600030101010101" pitchFamily="2" charset="-122"/>
                  </a:rPr>
                  <a:t>3</a:t>
                </a:r>
                <a:r>
                  <a:rPr lang="en-US" sz="2400" b="1" spc="-30" dirty="0">
                    <a:latin typeface="Arial" panose="020B0604020202020204" pitchFamily="34" charset="0"/>
                    <a:ea typeface="SimSun" panose="02010600030101010101" pitchFamily="2" charset="-122"/>
                  </a:rPr>
                  <a:t>. </a:t>
                </a:r>
                <a:r>
                  <a:rPr lang="en-SG" sz="24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Scalar multiplication </a:t>
                </a: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endParaRPr lang="en-SG" sz="24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400" spc="-30" dirty="0">
                    <a:latin typeface="Arial" panose="020B0604020202020204" pitchFamily="34" charset="0"/>
                    <a:ea typeface="SimSun" panose="02010600030101010101" pitchFamily="2" charset="-122"/>
                  </a:rPr>
                  <a:t>4. </a:t>
                </a:r>
                <a14:m>
                  <m:oMath xmlns:m="http://schemas.openxmlformats.org/officeDocument/2006/math"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𝒖</m:t>
                    </m:r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>
                      <a:rPr lang="en-SG" sz="24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0(</m:t>
                    </m:r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𝑢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𝑢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+...</m:t>
                    </m:r>
                    <m:sSub>
                      <m:sSub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𝑢</m:t>
                        </m:r>
                      </m:e>
                      <m:sub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𝑛</m:t>
                        </m:r>
                      </m:sub>
                    </m:sSub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)=</m:t>
                    </m:r>
                    <m:r>
                      <a:rPr lang="en-SG" sz="24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0</m:t>
                    </m:r>
                  </m:oMath>
                </a14:m>
                <a:endParaRPr lang="en-US" sz="24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endParaRPr lang="en-US" sz="24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spc="-30" dirty="0">
                    <a:latin typeface="Arial" panose="020B0604020202020204" pitchFamily="34" charset="0"/>
                    <a:ea typeface="SimSun" panose="02010600030101010101" pitchFamily="2" charset="-122"/>
                  </a:rPr>
                  <a:t>5. </a:t>
                </a:r>
                <a14:m>
                  <m:oMath xmlns:m="http://schemas.openxmlformats.org/officeDocument/2006/math"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𝒖</m:t>
                    </m:r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.</m:t>
                    </m:r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𝒖</m:t>
                    </m:r>
                    <m:r>
                      <a:rPr lang="en-SG" sz="24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𝑢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𝑢</m:t>
                        </m:r>
                      </m:e>
                    </m:d>
                    <m:r>
                      <a:rPr lang="en-SG" sz="24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𝑐𝑜𝑠</m:t>
                    </m:r>
                    <m:r>
                      <a:rPr lang="en-SG" sz="24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0=</m:t>
                    </m:r>
                    <m:d>
                      <m:dPr>
                        <m:begChr m:val="|"/>
                        <m:endChr m:val="|"/>
                        <m:ctrlP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𝑢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𝑢</m:t>
                        </m:r>
                      </m:e>
                    </m:d>
                    <m:r>
                      <a:rPr lang="en-US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1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dPr>
                          <m:e>
                            <m:r>
                              <a:rPr lang="en-SG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𝑢</m:t>
                            </m:r>
                          </m:e>
                        </m:d>
                      </m:e>
                      <m:sup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endParaRPr lang="en-US" sz="24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7CA287-548E-2FE7-7374-F772270C9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47" y="988955"/>
                <a:ext cx="8756956" cy="4885120"/>
              </a:xfrm>
              <a:prstGeom prst="rect">
                <a:avLst/>
              </a:prstGeom>
              <a:blipFill>
                <a:blip r:embed="rId3"/>
                <a:stretch>
                  <a:fillRect l="-1114" t="-873" b="-212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37655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3"/>
          <p:cNvSpPr txBox="1">
            <a:spLocks noGrp="1"/>
          </p:cNvSpPr>
          <p:nvPr>
            <p:ph type="title"/>
          </p:nvPr>
        </p:nvSpPr>
        <p:spPr>
          <a:xfrm>
            <a:off x="295077" y="18864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Exercise</a:t>
            </a:r>
            <a:endParaRPr dirty="0"/>
          </a:p>
        </p:txBody>
      </p:sp>
      <p:sp>
        <p:nvSpPr>
          <p:cNvPr id="299" name="Google Shape;299;p33"/>
          <p:cNvSpPr txBox="1">
            <a:spLocks noGrp="1"/>
          </p:cNvSpPr>
          <p:nvPr>
            <p:ph type="body" idx="1"/>
          </p:nvPr>
        </p:nvSpPr>
        <p:spPr>
          <a:xfrm>
            <a:off x="284998" y="985775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 dirty="0">
                <a:solidFill>
                  <a:srgbClr val="1C4587"/>
                </a:solidFill>
              </a:rPr>
              <a:t>A force vector (4, -1, 3) acts on an object as it moves through a displacement of (-2, -5, 1). Determine the work done by the force and the angle between the two vectors. Are the values logical?</a:t>
            </a:r>
            <a:endParaRPr dirty="0">
              <a:solidFill>
                <a:srgbClr val="1C4587"/>
              </a:solidFill>
            </a:endParaRPr>
          </a:p>
        </p:txBody>
      </p:sp>
      <p:sp>
        <p:nvSpPr>
          <p:cNvPr id="300" name="Google Shape;300;p33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31</a:t>
            </a:fld>
            <a:endParaRPr/>
          </a:p>
        </p:txBody>
      </p:sp>
      <p:sp>
        <p:nvSpPr>
          <p:cNvPr id="301" name="Google Shape;301;p33"/>
          <p:cNvSpPr txBox="1"/>
          <p:nvPr/>
        </p:nvSpPr>
        <p:spPr>
          <a:xfrm>
            <a:off x="5742100" y="5424625"/>
            <a:ext cx="32718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Ans: Work done = 0, Angle = π/2  </a:t>
            </a:r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3"/>
          <p:cNvSpPr txBox="1">
            <a:spLocks noGrp="1"/>
          </p:cNvSpPr>
          <p:nvPr>
            <p:ph type="title"/>
          </p:nvPr>
        </p:nvSpPr>
        <p:spPr>
          <a:xfrm>
            <a:off x="295077" y="18864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Exercise</a:t>
            </a:r>
            <a:endParaRPr dirty="0"/>
          </a:p>
        </p:txBody>
      </p:sp>
      <p:sp>
        <p:nvSpPr>
          <p:cNvPr id="299" name="Google Shape;299;p33"/>
          <p:cNvSpPr txBox="1">
            <a:spLocks noGrp="1"/>
          </p:cNvSpPr>
          <p:nvPr>
            <p:ph type="body" idx="1"/>
          </p:nvPr>
        </p:nvSpPr>
        <p:spPr>
          <a:xfrm>
            <a:off x="284998" y="985775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 dirty="0">
                <a:solidFill>
                  <a:srgbClr val="1C4587"/>
                </a:solidFill>
              </a:rPr>
              <a:t>A force vector (4, -1, 3) acts on an object as it moves through a displacement of (-2, -5, 1). Determine the work done by the force and the angle between the two vectors. Are the values logical?</a:t>
            </a:r>
            <a:endParaRPr dirty="0">
              <a:solidFill>
                <a:srgbClr val="1C4587"/>
              </a:solidFill>
            </a:endParaRPr>
          </a:p>
        </p:txBody>
      </p:sp>
      <p:sp>
        <p:nvSpPr>
          <p:cNvPr id="300" name="Google Shape;300;p33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32</a:t>
            </a:fld>
            <a:endParaRPr/>
          </a:p>
        </p:txBody>
      </p:sp>
      <p:sp>
        <p:nvSpPr>
          <p:cNvPr id="301" name="Google Shape;301;p33"/>
          <p:cNvSpPr txBox="1"/>
          <p:nvPr/>
        </p:nvSpPr>
        <p:spPr>
          <a:xfrm>
            <a:off x="5872200" y="6221760"/>
            <a:ext cx="32718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Ans: Work done = 0, Angle = π/2  </a:t>
            </a:r>
            <a:endParaRPr dirty="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5E113A-05B6-FE2A-AA19-676DAF5FDE46}"/>
                  </a:ext>
                </a:extLst>
              </p:cNvPr>
              <p:cNvSpPr txBox="1"/>
              <p:nvPr/>
            </p:nvSpPr>
            <p:spPr>
              <a:xfrm>
                <a:off x="611560" y="3147645"/>
                <a:ext cx="6716788" cy="31244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4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𝒖</m:t>
                    </m:r>
                    <m:r>
                      <a:rPr lang="en-US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SG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𝒗</m:t>
                    </m:r>
                    <m:r>
                      <a:rPr lang="en-US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en-US" sz="2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SG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4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Work done by the force = </a:t>
                </a:r>
                <a14:m>
                  <m:oMath xmlns:m="http://schemas.openxmlformats.org/officeDocument/2006/math"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𝒖</m:t>
                    </m:r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.</m:t>
                    </m:r>
                    <m:r>
                      <a:rPr lang="en-SG" sz="2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𝒗</m:t>
                    </m:r>
                    <m:r>
                      <a:rPr lang="en-SG" sz="24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=4(−2)+(−1)(−5)+3(1)=0</m:t>
                    </m:r>
                  </m:oMath>
                </a14:m>
                <a:endParaRPr lang="en-US" sz="24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4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 </a:t>
                </a:r>
                <a:endParaRPr lang="en-US" sz="24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4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Angle between the two vectors, </a:t>
                </a:r>
                <a14:m>
                  <m:oMath xmlns:m="http://schemas.openxmlformats.org/officeDocument/2006/math">
                    <m:r>
                      <a:rPr lang="en-US" sz="24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𝜃</m:t>
                    </m:r>
                    <m:r>
                      <a:rPr lang="en-US" sz="24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𝑐𝑜𝑠</m:t>
                        </m:r>
                      </m:e>
                      <m:sup>
                        <m: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fPr>
                          <m:num>
                            <m:r>
                              <a:rPr lang="en-US" sz="2400" b="1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𝒖</m:t>
                            </m:r>
                            <m:r>
                              <a:rPr lang="en-US" sz="2400" b="1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.</m:t>
                            </m:r>
                            <m:r>
                              <a:rPr lang="en-US" sz="2400" b="1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𝒗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sz="2400" b="1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𝒖</m:t>
                                </m:r>
                              </m:e>
                            </m:d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sz="2400" b="1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𝒗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 sz="24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pPr>
                      <m:e>
                        <m: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𝑐𝑜𝑠</m:t>
                        </m:r>
                      </m:e>
                      <m:sup>
                        <m: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0</m:t>
                        </m:r>
                      </m:e>
                    </m:d>
                    <m:r>
                      <a:rPr lang="en-SG" sz="24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f>
                      <m:fPr>
                        <m:ctrlPr>
                          <a:rPr lang="en-US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fPr>
                      <m:num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𝜋</m:t>
                        </m:r>
                      </m:num>
                      <m:den>
                        <m:r>
                          <a:rPr lang="en-SG" sz="2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2</m:t>
                        </m:r>
                      </m:den>
                    </m:f>
                  </m:oMath>
                </a14:m>
                <a:endParaRPr lang="en-US" sz="24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5E113A-05B6-FE2A-AA19-676DAF5FD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147645"/>
                <a:ext cx="6716788" cy="3124445"/>
              </a:xfrm>
              <a:prstGeom prst="rect">
                <a:avLst/>
              </a:prstGeom>
              <a:blipFill>
                <a:blip r:embed="rId3"/>
                <a:stretch>
                  <a:fillRect l="-1361" r="-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3253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4"/>
          <p:cNvSpPr/>
          <p:nvPr/>
        </p:nvSpPr>
        <p:spPr>
          <a:xfrm>
            <a:off x="6812801" y="3730908"/>
            <a:ext cx="2065725" cy="834650"/>
          </a:xfrm>
          <a:custGeom>
            <a:avLst/>
            <a:gdLst/>
            <a:ahLst/>
            <a:cxnLst/>
            <a:rect l="l" t="t" r="r" b="b"/>
            <a:pathLst>
              <a:path w="82629" h="33386" extrusionOk="0">
                <a:moveTo>
                  <a:pt x="0" y="16693"/>
                </a:moveTo>
                <a:lnTo>
                  <a:pt x="41732" y="0"/>
                </a:lnTo>
                <a:lnTo>
                  <a:pt x="82629" y="16693"/>
                </a:lnTo>
                <a:lnTo>
                  <a:pt x="42149" y="33386"/>
                </a:lnTo>
                <a:close/>
              </a:path>
            </a:pathLst>
          </a:custGeom>
          <a:solidFill>
            <a:srgbClr val="B6D7A8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07" name="Google Shape;307;p34"/>
          <p:cNvSpPr txBox="1">
            <a:spLocks noGrp="1"/>
          </p:cNvSpPr>
          <p:nvPr>
            <p:ph type="title"/>
          </p:nvPr>
        </p:nvSpPr>
        <p:spPr>
          <a:xfrm>
            <a:off x="380184" y="356217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Cross Product</a:t>
            </a:r>
            <a:endParaRPr dirty="0"/>
          </a:p>
        </p:txBody>
      </p:sp>
      <p:sp>
        <p:nvSpPr>
          <p:cNvPr id="308" name="Google Shape;308;p34"/>
          <p:cNvSpPr txBox="1">
            <a:spLocks noGrp="1"/>
          </p:cNvSpPr>
          <p:nvPr>
            <p:ph type="body" idx="1"/>
          </p:nvPr>
        </p:nvSpPr>
        <p:spPr>
          <a:xfrm>
            <a:off x="311700" y="1374176"/>
            <a:ext cx="8520600" cy="1266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 dirty="0">
                <a:solidFill>
                  <a:srgbClr val="434343"/>
                </a:solidFill>
              </a:rPr>
              <a:t>The cross product of two vectors, </a:t>
            </a:r>
            <a:r>
              <a:rPr lang="en" b="1" dirty="0">
                <a:solidFill>
                  <a:srgbClr val="434343"/>
                </a:solidFill>
              </a:rPr>
              <a:t>a</a:t>
            </a:r>
            <a:r>
              <a:rPr lang="en" dirty="0">
                <a:solidFill>
                  <a:srgbClr val="434343"/>
                </a:solidFill>
              </a:rPr>
              <a:t> and </a:t>
            </a:r>
            <a:r>
              <a:rPr lang="en" b="1" dirty="0">
                <a:solidFill>
                  <a:srgbClr val="434343"/>
                </a:solidFill>
              </a:rPr>
              <a:t>b</a:t>
            </a:r>
            <a:r>
              <a:rPr lang="en" dirty="0">
                <a:solidFill>
                  <a:srgbClr val="434343"/>
                </a:solidFill>
              </a:rPr>
              <a:t>, produces a</a:t>
            </a:r>
            <a:r>
              <a:rPr lang="en" dirty="0"/>
              <a:t> </a:t>
            </a:r>
            <a:r>
              <a:rPr lang="en" dirty="0">
                <a:solidFill>
                  <a:srgbClr val="9900FF"/>
                </a:solidFill>
              </a:rPr>
              <a:t>third vector, </a:t>
            </a:r>
            <a:r>
              <a:rPr lang="en" b="1" dirty="0">
                <a:solidFill>
                  <a:srgbClr val="9900FF"/>
                </a:solidFill>
              </a:rPr>
              <a:t>a</a:t>
            </a:r>
            <a:r>
              <a:rPr lang="en" dirty="0">
                <a:solidFill>
                  <a:srgbClr val="9900FF"/>
                </a:solidFill>
              </a:rPr>
              <a:t>x</a:t>
            </a:r>
            <a:r>
              <a:rPr lang="en" b="1" dirty="0">
                <a:solidFill>
                  <a:srgbClr val="9900FF"/>
                </a:solidFill>
              </a:rPr>
              <a:t>b</a:t>
            </a:r>
            <a:r>
              <a:rPr lang="en" dirty="0"/>
              <a:t>,</a:t>
            </a:r>
            <a:r>
              <a:rPr lang="en" dirty="0">
                <a:solidFill>
                  <a:srgbClr val="434343"/>
                </a:solidFill>
              </a:rPr>
              <a:t> that is orthogonal to both </a:t>
            </a:r>
            <a:r>
              <a:rPr lang="en" b="1" dirty="0">
                <a:solidFill>
                  <a:srgbClr val="434343"/>
                </a:solidFill>
              </a:rPr>
              <a:t>a</a:t>
            </a:r>
            <a:r>
              <a:rPr lang="en" dirty="0">
                <a:solidFill>
                  <a:srgbClr val="434343"/>
                </a:solidFill>
              </a:rPr>
              <a:t> and </a:t>
            </a:r>
            <a:r>
              <a:rPr lang="en" b="1" dirty="0">
                <a:solidFill>
                  <a:srgbClr val="434343"/>
                </a:solidFill>
              </a:rPr>
              <a:t>b</a:t>
            </a:r>
            <a:r>
              <a:rPr lang="en" dirty="0">
                <a:solidFill>
                  <a:srgbClr val="434343"/>
                </a:solidFill>
              </a:rPr>
              <a:t>. It is defined by:</a:t>
            </a:r>
            <a:endParaRPr dirty="0">
              <a:solidFill>
                <a:srgbClr val="434343"/>
              </a:solidFill>
            </a:endParaRPr>
          </a:p>
        </p:txBody>
      </p:sp>
      <p:sp>
        <p:nvSpPr>
          <p:cNvPr id="309" name="Google Shape;309;p34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33</a:t>
            </a:fld>
            <a:endParaRPr/>
          </a:p>
        </p:txBody>
      </p:sp>
      <p:sp>
        <p:nvSpPr>
          <p:cNvPr id="310" name="Google Shape;310;p34"/>
          <p:cNvSpPr txBox="1"/>
          <p:nvPr/>
        </p:nvSpPr>
        <p:spPr>
          <a:xfrm>
            <a:off x="311700" y="3275875"/>
            <a:ext cx="4988100" cy="2066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where:</a:t>
            </a:r>
            <a:endParaRPr sz="2000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457200"/>
            <a:r>
              <a:rPr lang="en" sz="20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θ is the angle between the vectors   and </a:t>
            </a:r>
            <a:endParaRPr sz="2000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/>
            <a:r>
              <a:rPr lang="en" sz="2000" b="1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lang="en" sz="20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 is the unit vector normal to a plane containing </a:t>
            </a:r>
            <a:r>
              <a:rPr lang="en" sz="2000" b="1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lang="en" sz="20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 &amp; </a:t>
            </a:r>
            <a:r>
              <a:rPr lang="en" sz="2000" b="1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b</a:t>
            </a:r>
            <a:r>
              <a:rPr lang="en" sz="20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, with direction given by the </a:t>
            </a:r>
            <a:r>
              <a:rPr lang="en" sz="2000" b="1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right-hand rule.</a:t>
            </a:r>
            <a:endParaRPr sz="2000" b="1" dirty="0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sz="2000"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1C458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11" name="Google Shape;31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3350" y="2726950"/>
            <a:ext cx="1880274" cy="2615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4" descr="bold a. times bold b equals the absolute value of bold a. times the absolute value of bold b times sine theta n caret comma 0 is less than or equal to theta is less than or equal to pi⁣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560" y="2940485"/>
            <a:ext cx="4688240" cy="3353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3" name="Google Shape;313;p34"/>
          <p:cNvCxnSpPr/>
          <p:nvPr/>
        </p:nvCxnSpPr>
        <p:spPr>
          <a:xfrm>
            <a:off x="7858734" y="3725509"/>
            <a:ext cx="1043400" cy="4278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14" name="Google Shape;314;p34"/>
          <p:cNvCxnSpPr/>
          <p:nvPr/>
        </p:nvCxnSpPr>
        <p:spPr>
          <a:xfrm rot="10800000" flipH="1">
            <a:off x="7860084" y="4142868"/>
            <a:ext cx="1040700" cy="422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08B8C04-DC89-F22A-34FC-FF6776F73447}"/>
              </a:ext>
            </a:extLst>
          </p:cNvPr>
          <p:cNvSpPr txBox="1"/>
          <p:nvPr/>
        </p:nvSpPr>
        <p:spPr>
          <a:xfrm>
            <a:off x="716916" y="5452402"/>
            <a:ext cx="75995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The magnitude of the cross product is equal to the area of the parallelogram formed by vectors a &amp; b.  </a:t>
            </a:r>
            <a:endParaRPr lang="en-US" sz="2400" dirty="0">
              <a:solidFill>
                <a:srgbClr val="38761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5"/>
          <p:cNvSpPr txBox="1">
            <a:spLocks noGrp="1"/>
          </p:cNvSpPr>
          <p:nvPr>
            <p:ph type="title"/>
          </p:nvPr>
        </p:nvSpPr>
        <p:spPr>
          <a:xfrm>
            <a:off x="247360" y="260648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Exercise</a:t>
            </a:r>
            <a:endParaRPr dirty="0"/>
          </a:p>
        </p:txBody>
      </p:sp>
      <p:sp>
        <p:nvSpPr>
          <p:cNvPr id="320" name="Google Shape;320;p35"/>
          <p:cNvSpPr txBox="1">
            <a:spLocks noGrp="1"/>
          </p:cNvSpPr>
          <p:nvPr>
            <p:ph type="body" idx="1"/>
          </p:nvPr>
        </p:nvSpPr>
        <p:spPr>
          <a:xfrm>
            <a:off x="311700" y="962087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rgbClr val="1C4587"/>
                </a:solidFill>
              </a:rPr>
              <a:t>What values does the cross product magnitude give for the angles below? Give a layman explanation of the main characteristic of the cross product.</a:t>
            </a:r>
            <a:endParaRPr dirty="0"/>
          </a:p>
        </p:txBody>
      </p:sp>
      <p:sp>
        <p:nvSpPr>
          <p:cNvPr id="321" name="Google Shape;321;p35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34</a:t>
            </a:fld>
            <a:endParaRPr/>
          </a:p>
        </p:txBody>
      </p:sp>
      <p:graphicFrame>
        <p:nvGraphicFramePr>
          <p:cNvPr id="322" name="Google Shape;322;p35"/>
          <p:cNvGraphicFramePr/>
          <p:nvPr>
            <p:extLst>
              <p:ext uri="{D42A27DB-BD31-4B8C-83A1-F6EECF244321}">
                <p14:modId xmlns:p14="http://schemas.microsoft.com/office/powerpoint/2010/main" val="1943299944"/>
              </p:ext>
            </p:extLst>
          </p:nvPr>
        </p:nvGraphicFramePr>
        <p:xfrm>
          <a:off x="395536" y="2420642"/>
          <a:ext cx="4536505" cy="122438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07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7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73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73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059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θ</a:t>
                      </a: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π/2</a:t>
                      </a: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π</a:t>
                      </a: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(0, π)</a:t>
                      </a:r>
                      <a:endParaRPr sz="12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78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|a</a:t>
                      </a:r>
                      <a:r>
                        <a:rPr lang="en" sz="1200"/>
                        <a:t>x</a:t>
                      </a:r>
                      <a:r>
                        <a:rPr lang="en" sz="1200" b="1"/>
                        <a:t>b|</a:t>
                      </a:r>
                      <a:endParaRPr sz="12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5"/>
          <p:cNvSpPr txBox="1">
            <a:spLocks noGrp="1"/>
          </p:cNvSpPr>
          <p:nvPr>
            <p:ph type="title"/>
          </p:nvPr>
        </p:nvSpPr>
        <p:spPr>
          <a:xfrm>
            <a:off x="247360" y="260648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Exercise</a:t>
            </a:r>
            <a:endParaRPr dirty="0"/>
          </a:p>
        </p:txBody>
      </p:sp>
      <p:sp>
        <p:nvSpPr>
          <p:cNvPr id="320" name="Google Shape;320;p35"/>
          <p:cNvSpPr txBox="1">
            <a:spLocks noGrp="1"/>
          </p:cNvSpPr>
          <p:nvPr>
            <p:ph type="body" idx="1"/>
          </p:nvPr>
        </p:nvSpPr>
        <p:spPr>
          <a:xfrm>
            <a:off x="311700" y="962087"/>
            <a:ext cx="8520600" cy="153080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rgbClr val="1C4587"/>
                </a:solidFill>
              </a:rPr>
              <a:t>What values does the cross product magnitude give for the angles below? Give a layman explanation of the main characteristic of the cross product.</a:t>
            </a:r>
            <a:endParaRPr dirty="0"/>
          </a:p>
        </p:txBody>
      </p:sp>
      <p:sp>
        <p:nvSpPr>
          <p:cNvPr id="321" name="Google Shape;321;p35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35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DA98C2-B389-F8BE-9C03-7AC4448B197C}"/>
                  </a:ext>
                </a:extLst>
              </p:cNvPr>
              <p:cNvSpPr txBox="1"/>
              <p:nvPr/>
            </p:nvSpPr>
            <p:spPr>
              <a:xfrm>
                <a:off x="2215537" y="2348880"/>
                <a:ext cx="458424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1800" b="1" i="1" spc="-3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𝒂</m:t>
                      </m:r>
                      <m:r>
                        <a:rPr lang="en-SG" sz="1800" b="1" i="1" spc="-3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×</m:t>
                      </m:r>
                      <m:r>
                        <a:rPr lang="en-SG" sz="1800" b="1" i="1" spc="-3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𝒃</m:t>
                      </m:r>
                      <m:r>
                        <a:rPr lang="en-US" sz="18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SG" sz="18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𝒂</m:t>
                          </m:r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SG" sz="18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𝒃</m:t>
                          </m:r>
                        </m:e>
                      </m:d>
                      <m:r>
                        <a:rPr lang="en-SG" sz="1800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𝑠𝑖𝑛</m:t>
                      </m:r>
                      <m:r>
                        <a:rPr lang="en-SG" sz="1800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(</m:t>
                      </m:r>
                      <m:r>
                        <a:rPr lang="en-US" sz="1800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𝜃</m:t>
                      </m:r>
                      <m:r>
                        <a:rPr lang="en-SG" sz="1800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en-US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accPr>
                        <m:e>
                          <m:r>
                            <a:rPr lang="en-SG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en-US" sz="18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8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SG" sz="18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𝒂</m:t>
                          </m:r>
                          <m:r>
                            <a:rPr lang="en-SG" sz="18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×</m:t>
                          </m:r>
                          <m:r>
                            <a:rPr lang="en-SG" sz="18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𝒃</m:t>
                          </m:r>
                        </m:e>
                      </m:d>
                      <m:r>
                        <a:rPr lang="en-US" sz="18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SG" sz="18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𝒂</m:t>
                          </m:r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SG" sz="18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𝒃</m:t>
                          </m:r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SG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𝑠𝑖𝑛</m:t>
                          </m:r>
                          <m:r>
                            <a:rPr lang="en-SG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(</m:t>
                          </m:r>
                          <m:r>
                            <a:rPr lang="en-SG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𝜃</m:t>
                          </m:r>
                          <m:r>
                            <a:rPr lang="en-SG" sz="1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8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DA98C2-B389-F8BE-9C03-7AC4448B1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537" y="2348880"/>
                <a:ext cx="4584246" cy="646331"/>
              </a:xfrm>
              <a:prstGeom prst="rect">
                <a:avLst/>
              </a:prstGeom>
              <a:blipFill>
                <a:blip r:embed="rId3"/>
                <a:stretch>
                  <a:fillRect t="-2830" b="-8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DEB1FEF-6C78-888E-8893-F3F4D0DC9D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8906741"/>
                  </p:ext>
                </p:extLst>
              </p:nvPr>
            </p:nvGraphicFramePr>
            <p:xfrm>
              <a:off x="52705" y="3200959"/>
              <a:ext cx="8911784" cy="231950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343592">
                      <a:extLst>
                        <a:ext uri="{9D8B030D-6E8A-4147-A177-3AD203B41FA5}">
                          <a16:colId xmlns:a16="http://schemas.microsoft.com/office/drawing/2014/main" val="3570258486"/>
                        </a:ext>
                      </a:extLst>
                    </a:gridCol>
                    <a:gridCol w="1650377">
                      <a:extLst>
                        <a:ext uri="{9D8B030D-6E8A-4147-A177-3AD203B41FA5}">
                          <a16:colId xmlns:a16="http://schemas.microsoft.com/office/drawing/2014/main" val="2855730612"/>
                        </a:ext>
                      </a:extLst>
                    </a:gridCol>
                    <a:gridCol w="2137476">
                      <a:extLst>
                        <a:ext uri="{9D8B030D-6E8A-4147-A177-3AD203B41FA5}">
                          <a16:colId xmlns:a16="http://schemas.microsoft.com/office/drawing/2014/main" val="1207326473"/>
                        </a:ext>
                      </a:extLst>
                    </a:gridCol>
                    <a:gridCol w="2202589">
                      <a:extLst>
                        <a:ext uri="{9D8B030D-6E8A-4147-A177-3AD203B41FA5}">
                          <a16:colId xmlns:a16="http://schemas.microsoft.com/office/drawing/2014/main" val="1775200476"/>
                        </a:ext>
                      </a:extLst>
                    </a:gridCol>
                    <a:gridCol w="1577750">
                      <a:extLst>
                        <a:ext uri="{9D8B030D-6E8A-4147-A177-3AD203B41FA5}">
                          <a16:colId xmlns:a16="http://schemas.microsoft.com/office/drawing/2014/main" val="2294134990"/>
                        </a:ext>
                      </a:extLst>
                    </a:gridCol>
                  </a:tblGrid>
                  <a:tr h="619068"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en-US" sz="18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8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i="1" spc="-3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spc="-3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SG" sz="1800" spc="-3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n-US" sz="18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n-US" sz="18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110023272"/>
                      </a:ext>
                    </a:extLst>
                  </a:tr>
                  <a:tr h="364380"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SG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  <m:r>
                                  <a:rPr lang="en-US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en-US" sz="18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SG" sz="1800" spc="-30">
                                  <a:effectLst/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SG" sz="1800" spc="-30">
                                  <a:effectLst/>
                                  <a:latin typeface="Cambria Math" panose="02040503050406030204" pitchFamily="18" charset="0"/>
                                </a:rPr>
                                <m:t>(0)=</m:t>
                              </m:r>
                            </m:oMath>
                          </a14:m>
                          <a:r>
                            <a:rPr lang="en-SG" sz="1800" spc="-30">
                              <a:effectLst/>
                            </a:rPr>
                            <a:t>0</a:t>
                          </a:r>
                          <a:endParaRPr lang="en-US" sz="18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SG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  <m:r>
                                  <a:rPr lang="en-SG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(90)=1</m:t>
                                </m:r>
                              </m:oMath>
                            </m:oMathPara>
                          </a14:m>
                          <a:endParaRPr lang="en-US" sz="18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en-SG" sz="1800" spc="-30">
                                    <a:effectLst/>
                                    <a:latin typeface="Cambria Math" panose="02040503050406030204" pitchFamily="18" charset="0"/>
                                  </a:rPr>
                                  <m:t>(180)=0</m:t>
                                </m:r>
                              </m:oMath>
                            </m:oMathPara>
                          </a14:m>
                          <a:endParaRPr lang="en-US" sz="18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800" spc="-30">
                              <a:effectLst/>
                            </a:rPr>
                            <a:t>positive</a:t>
                          </a:r>
                          <a:endParaRPr lang="en-US" sz="18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784479382"/>
                      </a:ext>
                    </a:extLst>
                  </a:tr>
                  <a:tr h="364380"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800" i="1" spc="-3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SG" sz="1800" spc="-3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  <m:r>
                                      <a:rPr lang="en-SG" sz="1800" spc="-3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× </m:t>
                                    </m:r>
                                    <m:r>
                                      <a:rPr lang="en-SG" sz="1800" spc="-3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800" spc="-30" dirty="0">
                              <a:effectLst/>
                            </a:rPr>
                            <a:t>0</a:t>
                          </a:r>
                          <a:endParaRPr lang="en-US" sz="18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800" i="1" spc="-3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SG" sz="1800" spc="-3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</m:d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800" i="1" spc="-3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SG" sz="1800" spc="-3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800" spc="-30">
                              <a:effectLst/>
                            </a:rPr>
                            <a:t>0</a:t>
                          </a:r>
                          <a:endParaRPr lang="en-US" sz="18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800" spc="-30">
                              <a:effectLst/>
                            </a:rPr>
                            <a:t>positive</a:t>
                          </a:r>
                          <a:endParaRPr lang="en-US" sz="18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62762552"/>
                      </a:ext>
                    </a:extLst>
                  </a:tr>
                  <a:tr h="971680"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800" spc="-30">
                              <a:effectLst/>
                            </a:rPr>
                            <a:t> </a:t>
                          </a:r>
                          <a:endParaRPr lang="en-US" sz="18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800" spc="-30" dirty="0">
                              <a:effectLst/>
                            </a:rPr>
                            <a:t>Cross product of two parallel vectors is 0</a:t>
                          </a:r>
                          <a:endParaRPr lang="en-US" sz="18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800" spc="-30" dirty="0">
                              <a:effectLst/>
                            </a:rPr>
                            <a:t>Cross product of two perpendicular vectors is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 spc="-3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SG" sz="1800" spc="-30">
                                      <a:effectLst/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 spc="-3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SG" sz="1800" spc="-30">
                                      <a:effectLst/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</m:d>
                            </m:oMath>
                          </a14:m>
                          <a:endParaRPr lang="en-US" sz="18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800" spc="-30" dirty="0">
                              <a:effectLst/>
                            </a:rPr>
                            <a:t> </a:t>
                          </a:r>
                          <a:endParaRPr lang="en-US" sz="18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800" spc="-30" dirty="0">
                              <a:effectLst/>
                            </a:rPr>
                            <a:t> </a:t>
                          </a:r>
                          <a:endParaRPr lang="en-US" sz="18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014915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DEB1FEF-6C78-888E-8893-F3F4D0DC9D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8906741"/>
                  </p:ext>
                </p:extLst>
              </p:nvPr>
            </p:nvGraphicFramePr>
            <p:xfrm>
              <a:off x="52705" y="3200959"/>
              <a:ext cx="8911784" cy="231950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343592">
                      <a:extLst>
                        <a:ext uri="{9D8B030D-6E8A-4147-A177-3AD203B41FA5}">
                          <a16:colId xmlns:a16="http://schemas.microsoft.com/office/drawing/2014/main" val="3570258486"/>
                        </a:ext>
                      </a:extLst>
                    </a:gridCol>
                    <a:gridCol w="1650377">
                      <a:extLst>
                        <a:ext uri="{9D8B030D-6E8A-4147-A177-3AD203B41FA5}">
                          <a16:colId xmlns:a16="http://schemas.microsoft.com/office/drawing/2014/main" val="2855730612"/>
                        </a:ext>
                      </a:extLst>
                    </a:gridCol>
                    <a:gridCol w="2137476">
                      <a:extLst>
                        <a:ext uri="{9D8B030D-6E8A-4147-A177-3AD203B41FA5}">
                          <a16:colId xmlns:a16="http://schemas.microsoft.com/office/drawing/2014/main" val="1207326473"/>
                        </a:ext>
                      </a:extLst>
                    </a:gridCol>
                    <a:gridCol w="2202589">
                      <a:extLst>
                        <a:ext uri="{9D8B030D-6E8A-4147-A177-3AD203B41FA5}">
                          <a16:colId xmlns:a16="http://schemas.microsoft.com/office/drawing/2014/main" val="1775200476"/>
                        </a:ext>
                      </a:extLst>
                    </a:gridCol>
                    <a:gridCol w="1577750">
                      <a:extLst>
                        <a:ext uri="{9D8B030D-6E8A-4147-A177-3AD203B41FA5}">
                          <a16:colId xmlns:a16="http://schemas.microsoft.com/office/drawing/2014/main" val="2294134990"/>
                        </a:ext>
                      </a:extLst>
                    </a:gridCol>
                  </a:tblGrid>
                  <a:tr h="6190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452" t="-980" r="-563801" b="-275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81919" t="-980" r="-359779" b="-275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40857" t="-980" r="-178571" b="-275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232873" t="-980" r="-72652" b="-275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465251" t="-980" r="-1544" b="-2754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0023272"/>
                      </a:ext>
                    </a:extLst>
                  </a:tr>
                  <a:tr h="3643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452" t="-171667" r="-563801" b="-36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81919" t="-171667" r="-359779" b="-36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40857" t="-171667" r="-178571" b="-36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232873" t="-171667" r="-72652" b="-36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800" spc="-30">
                              <a:effectLst/>
                            </a:rPr>
                            <a:t>positive</a:t>
                          </a:r>
                          <a:endParaRPr lang="en-US" sz="18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784479382"/>
                      </a:ext>
                    </a:extLst>
                  </a:tr>
                  <a:tr h="3643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452" t="-276271" r="-563801" b="-274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800" spc="-30" dirty="0">
                              <a:effectLst/>
                            </a:rPr>
                            <a:t>0</a:t>
                          </a:r>
                          <a:endParaRPr lang="en-US" sz="18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40857" t="-276271" r="-178571" b="-274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800" spc="-30">
                              <a:effectLst/>
                            </a:rPr>
                            <a:t>0</a:t>
                          </a:r>
                          <a:endParaRPr lang="en-US" sz="18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800" spc="-30">
                              <a:effectLst/>
                            </a:rPr>
                            <a:t>positive</a:t>
                          </a:r>
                          <a:endParaRPr lang="en-US" sz="18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62762552"/>
                      </a:ext>
                    </a:extLst>
                  </a:tr>
                  <a:tr h="971680"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800" spc="-30">
                              <a:effectLst/>
                            </a:rPr>
                            <a:t> </a:t>
                          </a:r>
                          <a:endParaRPr lang="en-US" sz="1800" spc="-3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800" spc="-30" dirty="0">
                              <a:effectLst/>
                            </a:rPr>
                            <a:t>Cross product of two parallel vectors is 0</a:t>
                          </a:r>
                          <a:endParaRPr lang="en-US" sz="18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40857" t="-138750" r="-178571" b="-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800" spc="-30" dirty="0">
                              <a:effectLst/>
                            </a:rPr>
                            <a:t> </a:t>
                          </a:r>
                          <a:endParaRPr lang="en-US" sz="18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SG" sz="1800" spc="-30" dirty="0">
                              <a:effectLst/>
                            </a:rPr>
                            <a:t> </a:t>
                          </a:r>
                          <a:endParaRPr lang="en-US" sz="1800" spc="-30" dirty="0">
                            <a:effectLst/>
                            <a:latin typeface="Arial" panose="020B0604020202020204" pitchFamily="34" charset="0"/>
                            <a:ea typeface="SimSun" panose="02010600030101010101" pitchFamily="2" charset="-122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0149157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902439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6"/>
          <p:cNvSpPr txBox="1">
            <a:spLocks noGrp="1"/>
          </p:cNvSpPr>
          <p:nvPr>
            <p:ph type="title"/>
          </p:nvPr>
        </p:nvSpPr>
        <p:spPr>
          <a:xfrm>
            <a:off x="439238" y="260648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/>
              <a:t>Cross Product</a:t>
            </a:r>
            <a:endParaRPr/>
          </a:p>
          <a:p>
            <a:endParaRPr/>
          </a:p>
        </p:txBody>
      </p:sp>
      <p:sp>
        <p:nvSpPr>
          <p:cNvPr id="328" name="Google Shape;328;p36"/>
          <p:cNvSpPr txBox="1">
            <a:spLocks noGrp="1"/>
          </p:cNvSpPr>
          <p:nvPr>
            <p:ph type="body" idx="1"/>
          </p:nvPr>
        </p:nvSpPr>
        <p:spPr>
          <a:xfrm>
            <a:off x="311700" y="1334224"/>
            <a:ext cx="8520600" cy="37452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rgbClr val="434343"/>
                </a:solidFill>
              </a:rPr>
              <a:t>The cross product of two vectors, </a:t>
            </a:r>
            <a:r>
              <a:rPr lang="en" b="1" dirty="0">
                <a:solidFill>
                  <a:srgbClr val="434343"/>
                </a:solidFill>
              </a:rPr>
              <a:t>a</a:t>
            </a:r>
            <a:r>
              <a:rPr lang="en" dirty="0">
                <a:solidFill>
                  <a:srgbClr val="434343"/>
                </a:solidFill>
              </a:rPr>
              <a:t> and </a:t>
            </a:r>
            <a:r>
              <a:rPr lang="en" b="1" dirty="0">
                <a:solidFill>
                  <a:srgbClr val="434343"/>
                </a:solidFill>
              </a:rPr>
              <a:t>b</a:t>
            </a:r>
            <a:r>
              <a:rPr lang="en" dirty="0">
                <a:solidFill>
                  <a:srgbClr val="434343"/>
                </a:solidFill>
              </a:rPr>
              <a:t>, is more directly computed from:</a:t>
            </a:r>
            <a:endParaRPr dirty="0">
              <a:solidFill>
                <a:srgbClr val="434343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buNone/>
            </a:pPr>
            <a:endParaRPr sz="1400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None/>
            </a:pPr>
            <a:endParaRPr sz="1400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None/>
            </a:pPr>
            <a:endParaRPr sz="1400" dirty="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None/>
            </a:pPr>
            <a:endParaRPr sz="1400" dirty="0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None/>
            </a:pPr>
            <a:r>
              <a:rPr lang="en" sz="2400" dirty="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Tip: To obtain the expression in any row, cover that row and perform a ‘cross multiplication’ of the other two rows.</a:t>
            </a:r>
            <a:endParaRPr sz="2400" dirty="0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None/>
            </a:pPr>
            <a:endParaRPr sz="2400" dirty="0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None/>
            </a:pPr>
            <a:r>
              <a:rPr lang="en" sz="2400" dirty="0">
                <a:latin typeface="Arial"/>
                <a:ea typeface="Arial"/>
                <a:cs typeface="Arial"/>
                <a:sym typeface="Arial"/>
              </a:rPr>
              <a:t>Notice that the cross product of two vectors produces a vector, hence it is also known as a vector product.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None/>
            </a:pPr>
            <a:endParaRPr sz="2400" dirty="0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None/>
            </a:pPr>
            <a:endParaRPr dirty="0"/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329" name="Google Shape;329;p36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36</a:t>
            </a:fld>
            <a:endParaRPr/>
          </a:p>
        </p:txBody>
      </p:sp>
      <p:pic>
        <p:nvPicPr>
          <p:cNvPr id="330" name="Google Shape;330;p36" descr="a. right-arrow times b right-arrow equals the 3 by 1 column matrix a. sub 1 a. sub 2 a. sub 3 times the 3 by 1 column matrix b sub 1 b sub 2 b sub 3 equals the 3 by 1 column matrix Row 1: a. sub 2 b sub 3 minus a. sub 3 b sub 2 Row 2: negative open paren a. sub 1 b sub 3 minus a. sub 3 b sub 1 close paren Row 3: a. sub 1 b sub 2 minus a. sub 2 b sub 1⁣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664" y="2564904"/>
            <a:ext cx="4809304" cy="1023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7"/>
          <p:cNvSpPr txBox="1">
            <a:spLocks noGrp="1"/>
          </p:cNvSpPr>
          <p:nvPr>
            <p:ph type="title"/>
          </p:nvPr>
        </p:nvSpPr>
        <p:spPr>
          <a:xfrm>
            <a:off x="465323" y="18864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Properties of the Cross Product</a:t>
            </a:r>
            <a:endParaRPr dirty="0"/>
          </a:p>
        </p:txBody>
      </p:sp>
      <p:sp>
        <p:nvSpPr>
          <p:cNvPr id="336" name="Google Shape;336;p37"/>
          <p:cNvSpPr txBox="1">
            <a:spLocks noGrp="1"/>
          </p:cNvSpPr>
          <p:nvPr>
            <p:ph type="body" idx="1"/>
          </p:nvPr>
        </p:nvSpPr>
        <p:spPr>
          <a:xfrm>
            <a:off x="259568" y="1124744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rgbClr val="434343"/>
                </a:solidFill>
              </a:rPr>
              <a:t>The following hold for vectors </a:t>
            </a:r>
            <a:r>
              <a:rPr lang="en" b="1" dirty="0">
                <a:solidFill>
                  <a:srgbClr val="434343"/>
                </a:solidFill>
              </a:rPr>
              <a:t>a</a:t>
            </a:r>
            <a:r>
              <a:rPr lang="en" dirty="0">
                <a:solidFill>
                  <a:srgbClr val="434343"/>
                </a:solidFill>
              </a:rPr>
              <a:t>, </a:t>
            </a:r>
            <a:r>
              <a:rPr lang="en" b="1" dirty="0">
                <a:solidFill>
                  <a:srgbClr val="434343"/>
                </a:solidFill>
              </a:rPr>
              <a:t>b</a:t>
            </a:r>
            <a:r>
              <a:rPr lang="en" dirty="0">
                <a:solidFill>
                  <a:srgbClr val="434343"/>
                </a:solidFill>
              </a:rPr>
              <a:t> and </a:t>
            </a:r>
            <a:r>
              <a:rPr lang="en" b="1" dirty="0">
                <a:solidFill>
                  <a:srgbClr val="434343"/>
                </a:solidFill>
              </a:rPr>
              <a:t>c</a:t>
            </a:r>
            <a:r>
              <a:rPr lang="en" dirty="0">
                <a:solidFill>
                  <a:srgbClr val="434343"/>
                </a:solidFill>
              </a:rPr>
              <a:t>, and real numbers k.</a:t>
            </a:r>
            <a:endParaRPr dirty="0">
              <a:solidFill>
                <a:srgbClr val="434343"/>
              </a:solidFill>
            </a:endParaRPr>
          </a:p>
          <a:p>
            <a:pPr>
              <a:spcBef>
                <a:spcPts val="1600"/>
              </a:spcBef>
              <a:buAutoNum type="arabicPeriod"/>
            </a:pPr>
            <a:r>
              <a:rPr lang="en" b="1" dirty="0">
                <a:solidFill>
                  <a:srgbClr val="434343"/>
                </a:solidFill>
              </a:rPr>
              <a:t>a</a:t>
            </a:r>
            <a:r>
              <a:rPr lang="en" dirty="0">
                <a:solidFill>
                  <a:srgbClr val="434343"/>
                </a:solidFill>
              </a:rPr>
              <a:t> x </a:t>
            </a:r>
            <a:r>
              <a:rPr lang="en" b="1" dirty="0">
                <a:solidFill>
                  <a:srgbClr val="434343"/>
                </a:solidFill>
              </a:rPr>
              <a:t>b</a:t>
            </a:r>
            <a:r>
              <a:rPr lang="en" dirty="0">
                <a:solidFill>
                  <a:srgbClr val="434343"/>
                </a:solidFill>
              </a:rPr>
              <a:t> = -(</a:t>
            </a:r>
            <a:r>
              <a:rPr lang="en" b="1" dirty="0">
                <a:solidFill>
                  <a:srgbClr val="434343"/>
                </a:solidFill>
              </a:rPr>
              <a:t>b</a:t>
            </a:r>
            <a:r>
              <a:rPr lang="en" dirty="0">
                <a:solidFill>
                  <a:srgbClr val="434343"/>
                </a:solidFill>
              </a:rPr>
              <a:t> x </a:t>
            </a:r>
            <a:r>
              <a:rPr lang="en" b="1" dirty="0">
                <a:solidFill>
                  <a:srgbClr val="434343"/>
                </a:solidFill>
              </a:rPr>
              <a:t>a</a:t>
            </a:r>
            <a:r>
              <a:rPr lang="en" dirty="0">
                <a:solidFill>
                  <a:srgbClr val="434343"/>
                </a:solidFill>
              </a:rPr>
              <a:t>)</a:t>
            </a:r>
            <a:endParaRPr dirty="0">
              <a:solidFill>
                <a:srgbClr val="434343"/>
              </a:solidFill>
            </a:endParaRPr>
          </a:p>
          <a:p>
            <a:pPr>
              <a:buAutoNum type="arabicPeriod"/>
            </a:pPr>
            <a:r>
              <a:rPr lang="en" dirty="0">
                <a:solidFill>
                  <a:srgbClr val="434343"/>
                </a:solidFill>
              </a:rPr>
              <a:t>k(</a:t>
            </a:r>
            <a:r>
              <a:rPr lang="en" b="1" dirty="0">
                <a:solidFill>
                  <a:srgbClr val="434343"/>
                </a:solidFill>
              </a:rPr>
              <a:t>a</a:t>
            </a:r>
            <a:r>
              <a:rPr lang="en" dirty="0">
                <a:solidFill>
                  <a:srgbClr val="434343"/>
                </a:solidFill>
              </a:rPr>
              <a:t> x </a:t>
            </a:r>
            <a:r>
              <a:rPr lang="en" b="1" dirty="0">
                <a:solidFill>
                  <a:srgbClr val="434343"/>
                </a:solidFill>
              </a:rPr>
              <a:t>b</a:t>
            </a:r>
            <a:r>
              <a:rPr lang="en" dirty="0">
                <a:solidFill>
                  <a:srgbClr val="434343"/>
                </a:solidFill>
              </a:rPr>
              <a:t>) = k</a:t>
            </a:r>
            <a:r>
              <a:rPr lang="en" b="1" dirty="0">
                <a:solidFill>
                  <a:srgbClr val="434343"/>
                </a:solidFill>
              </a:rPr>
              <a:t>a</a:t>
            </a:r>
            <a:r>
              <a:rPr lang="en" dirty="0">
                <a:solidFill>
                  <a:srgbClr val="434343"/>
                </a:solidFill>
              </a:rPr>
              <a:t> x </a:t>
            </a:r>
            <a:r>
              <a:rPr lang="en" b="1" dirty="0">
                <a:solidFill>
                  <a:srgbClr val="434343"/>
                </a:solidFill>
              </a:rPr>
              <a:t>b</a:t>
            </a:r>
            <a:r>
              <a:rPr lang="en" dirty="0">
                <a:solidFill>
                  <a:srgbClr val="434343"/>
                </a:solidFill>
              </a:rPr>
              <a:t> = </a:t>
            </a:r>
            <a:r>
              <a:rPr lang="en" b="1" dirty="0">
                <a:solidFill>
                  <a:srgbClr val="434343"/>
                </a:solidFill>
              </a:rPr>
              <a:t>a</a:t>
            </a:r>
            <a:r>
              <a:rPr lang="en" dirty="0">
                <a:solidFill>
                  <a:srgbClr val="434343"/>
                </a:solidFill>
              </a:rPr>
              <a:t> x k</a:t>
            </a:r>
            <a:r>
              <a:rPr lang="en" b="1" dirty="0">
                <a:solidFill>
                  <a:srgbClr val="434343"/>
                </a:solidFill>
              </a:rPr>
              <a:t>b</a:t>
            </a:r>
            <a:endParaRPr b="1" dirty="0">
              <a:solidFill>
                <a:srgbClr val="434343"/>
              </a:solidFill>
            </a:endParaRPr>
          </a:p>
          <a:p>
            <a:pPr>
              <a:buAutoNum type="arabicPeriod"/>
            </a:pPr>
            <a:r>
              <a:rPr lang="en" b="1" dirty="0">
                <a:solidFill>
                  <a:srgbClr val="434343"/>
                </a:solidFill>
              </a:rPr>
              <a:t>c</a:t>
            </a:r>
            <a:r>
              <a:rPr lang="en" dirty="0">
                <a:solidFill>
                  <a:srgbClr val="434343"/>
                </a:solidFill>
              </a:rPr>
              <a:t> x (</a:t>
            </a:r>
            <a:r>
              <a:rPr lang="en" b="1" dirty="0">
                <a:solidFill>
                  <a:srgbClr val="434343"/>
                </a:solidFill>
              </a:rPr>
              <a:t>a</a:t>
            </a:r>
            <a:r>
              <a:rPr lang="en" dirty="0">
                <a:solidFill>
                  <a:srgbClr val="434343"/>
                </a:solidFill>
              </a:rPr>
              <a:t> + </a:t>
            </a:r>
            <a:r>
              <a:rPr lang="en" b="1" dirty="0">
                <a:solidFill>
                  <a:srgbClr val="434343"/>
                </a:solidFill>
              </a:rPr>
              <a:t>b</a:t>
            </a:r>
            <a:r>
              <a:rPr lang="en" dirty="0">
                <a:solidFill>
                  <a:srgbClr val="434343"/>
                </a:solidFill>
              </a:rPr>
              <a:t>) = </a:t>
            </a:r>
            <a:r>
              <a:rPr lang="en" b="1" dirty="0">
                <a:solidFill>
                  <a:srgbClr val="434343"/>
                </a:solidFill>
              </a:rPr>
              <a:t>c</a:t>
            </a:r>
            <a:r>
              <a:rPr lang="en" dirty="0">
                <a:solidFill>
                  <a:srgbClr val="434343"/>
                </a:solidFill>
              </a:rPr>
              <a:t> x </a:t>
            </a:r>
            <a:r>
              <a:rPr lang="en" b="1" dirty="0">
                <a:solidFill>
                  <a:srgbClr val="434343"/>
                </a:solidFill>
              </a:rPr>
              <a:t>a</a:t>
            </a:r>
            <a:r>
              <a:rPr lang="en" dirty="0">
                <a:solidFill>
                  <a:srgbClr val="434343"/>
                </a:solidFill>
              </a:rPr>
              <a:t> + </a:t>
            </a:r>
            <a:r>
              <a:rPr lang="en" b="1" dirty="0">
                <a:solidFill>
                  <a:srgbClr val="434343"/>
                </a:solidFill>
              </a:rPr>
              <a:t>c</a:t>
            </a:r>
            <a:r>
              <a:rPr lang="en" dirty="0">
                <a:solidFill>
                  <a:srgbClr val="434343"/>
                </a:solidFill>
              </a:rPr>
              <a:t> x </a:t>
            </a:r>
            <a:r>
              <a:rPr lang="en" b="1" dirty="0">
                <a:solidFill>
                  <a:srgbClr val="434343"/>
                </a:solidFill>
              </a:rPr>
              <a:t>b</a:t>
            </a:r>
            <a:endParaRPr b="1" dirty="0">
              <a:solidFill>
                <a:srgbClr val="434343"/>
              </a:solidFill>
            </a:endParaRPr>
          </a:p>
          <a:p>
            <a:pPr>
              <a:buAutoNum type="arabicPeriod"/>
            </a:pPr>
            <a:r>
              <a:rPr lang="en" dirty="0">
                <a:solidFill>
                  <a:srgbClr val="434343"/>
                </a:solidFill>
              </a:rPr>
              <a:t>(</a:t>
            </a:r>
            <a:r>
              <a:rPr lang="en" b="1" dirty="0">
                <a:solidFill>
                  <a:srgbClr val="434343"/>
                </a:solidFill>
              </a:rPr>
              <a:t>a</a:t>
            </a:r>
            <a:r>
              <a:rPr lang="en" dirty="0">
                <a:solidFill>
                  <a:srgbClr val="434343"/>
                </a:solidFill>
              </a:rPr>
              <a:t> + </a:t>
            </a:r>
            <a:r>
              <a:rPr lang="en" b="1" dirty="0">
                <a:solidFill>
                  <a:srgbClr val="434343"/>
                </a:solidFill>
              </a:rPr>
              <a:t>b</a:t>
            </a:r>
            <a:r>
              <a:rPr lang="en" dirty="0">
                <a:solidFill>
                  <a:srgbClr val="434343"/>
                </a:solidFill>
              </a:rPr>
              <a:t>) x </a:t>
            </a:r>
            <a:r>
              <a:rPr lang="en" b="1" dirty="0">
                <a:solidFill>
                  <a:srgbClr val="434343"/>
                </a:solidFill>
              </a:rPr>
              <a:t>c</a:t>
            </a:r>
            <a:r>
              <a:rPr lang="en" dirty="0">
                <a:solidFill>
                  <a:srgbClr val="434343"/>
                </a:solidFill>
              </a:rPr>
              <a:t> = </a:t>
            </a:r>
            <a:r>
              <a:rPr lang="en" b="1" dirty="0">
                <a:solidFill>
                  <a:srgbClr val="434343"/>
                </a:solidFill>
              </a:rPr>
              <a:t>a</a:t>
            </a:r>
            <a:r>
              <a:rPr lang="en" dirty="0">
                <a:solidFill>
                  <a:srgbClr val="434343"/>
                </a:solidFill>
              </a:rPr>
              <a:t> x </a:t>
            </a:r>
            <a:r>
              <a:rPr lang="en" b="1" dirty="0">
                <a:solidFill>
                  <a:srgbClr val="434343"/>
                </a:solidFill>
              </a:rPr>
              <a:t>c</a:t>
            </a:r>
            <a:r>
              <a:rPr lang="en" dirty="0">
                <a:solidFill>
                  <a:srgbClr val="434343"/>
                </a:solidFill>
              </a:rPr>
              <a:t> + </a:t>
            </a:r>
            <a:r>
              <a:rPr lang="en" b="1" dirty="0">
                <a:solidFill>
                  <a:srgbClr val="434343"/>
                </a:solidFill>
              </a:rPr>
              <a:t>b</a:t>
            </a:r>
            <a:r>
              <a:rPr lang="en" dirty="0">
                <a:solidFill>
                  <a:srgbClr val="434343"/>
                </a:solidFill>
              </a:rPr>
              <a:t> x </a:t>
            </a:r>
            <a:r>
              <a:rPr lang="en" b="1" dirty="0">
                <a:solidFill>
                  <a:srgbClr val="434343"/>
                </a:solidFill>
              </a:rPr>
              <a:t>c</a:t>
            </a:r>
            <a:endParaRPr b="1" dirty="0">
              <a:solidFill>
                <a:srgbClr val="434343"/>
              </a:solidFill>
            </a:endParaRPr>
          </a:p>
          <a:p>
            <a:pPr>
              <a:buAutoNum type="arabicPeriod"/>
            </a:pPr>
            <a:r>
              <a:rPr lang="en" b="1" dirty="0">
                <a:solidFill>
                  <a:srgbClr val="434343"/>
                </a:solidFill>
              </a:rPr>
              <a:t>a</a:t>
            </a:r>
            <a:r>
              <a:rPr lang="en" dirty="0">
                <a:solidFill>
                  <a:srgbClr val="434343"/>
                </a:solidFill>
              </a:rPr>
              <a:t> x </a:t>
            </a:r>
            <a:r>
              <a:rPr lang="en" b="1" dirty="0">
                <a:solidFill>
                  <a:srgbClr val="434343"/>
                </a:solidFill>
              </a:rPr>
              <a:t>a</a:t>
            </a:r>
            <a:r>
              <a:rPr lang="en" dirty="0">
                <a:solidFill>
                  <a:srgbClr val="434343"/>
                </a:solidFill>
              </a:rPr>
              <a:t> = </a:t>
            </a:r>
            <a:r>
              <a:rPr lang="en" b="1" dirty="0">
                <a:solidFill>
                  <a:srgbClr val="434343"/>
                </a:solidFill>
              </a:rPr>
              <a:t>0</a:t>
            </a:r>
            <a:r>
              <a:rPr lang="en" dirty="0">
                <a:solidFill>
                  <a:srgbClr val="434343"/>
                </a:solidFill>
              </a:rPr>
              <a:t> (zero vector)</a:t>
            </a:r>
            <a:endParaRPr dirty="0">
              <a:solidFill>
                <a:srgbClr val="434343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" dirty="0">
                <a:solidFill>
                  <a:srgbClr val="0B5394"/>
                </a:solidFill>
              </a:rPr>
              <a:t>Exercise: Verify each property above.</a:t>
            </a:r>
            <a:endParaRPr dirty="0">
              <a:solidFill>
                <a:srgbClr val="0B5394"/>
              </a:solidFill>
            </a:endParaRPr>
          </a:p>
          <a:p>
            <a:pPr marL="0" indent="0"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337" name="Google Shape;337;p37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7"/>
          <p:cNvSpPr txBox="1">
            <a:spLocks noGrp="1"/>
          </p:cNvSpPr>
          <p:nvPr>
            <p:ph type="title"/>
          </p:nvPr>
        </p:nvSpPr>
        <p:spPr>
          <a:xfrm>
            <a:off x="465323" y="18864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Properties of the Cross Product</a:t>
            </a:r>
            <a:endParaRPr dirty="0"/>
          </a:p>
        </p:txBody>
      </p:sp>
      <p:sp>
        <p:nvSpPr>
          <p:cNvPr id="337" name="Google Shape;337;p37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38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F8424B-9304-C7EE-57E4-07E090289A53}"/>
                  </a:ext>
                </a:extLst>
              </p:cNvPr>
              <p:cNvSpPr txBox="1"/>
              <p:nvPr/>
            </p:nvSpPr>
            <p:spPr>
              <a:xfrm>
                <a:off x="-36512" y="1124744"/>
                <a:ext cx="8784976" cy="54371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marR="0" lvl="0" indent="-342900" algn="just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SG" sz="22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Anti-commutative </a:t>
                </a:r>
                <a14:m>
                  <m:oMath xmlns:m="http://schemas.openxmlformats.org/officeDocument/2006/math"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𝒂</m:t>
                    </m:r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×</m:t>
                    </m:r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𝒃</m:t>
                    </m:r>
                    <m:r>
                      <a:rPr lang="en-US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−(</m:t>
                    </m:r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𝒃</m:t>
                    </m:r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×</m:t>
                    </m:r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𝒂</m:t>
                    </m:r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)</m:t>
                    </m:r>
                  </m:oMath>
                </a14:m>
                <a:endParaRPr lang="en-US" sz="22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2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Let </a:t>
                </a:r>
                <a14:m>
                  <m:oMath xmlns:m="http://schemas.openxmlformats.org/officeDocument/2006/math"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𝒂</m:t>
                    </m:r>
                    <m:r>
                      <a:rPr lang="en-US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en-US" sz="22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𝒃</m:t>
                    </m:r>
                    <m:r>
                      <a:rPr lang="en-US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en-US" sz="22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sz="22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. Then, </a:t>
                </a:r>
                <a14:m>
                  <m:oMath xmlns:m="http://schemas.openxmlformats.org/officeDocument/2006/math"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𝒂</m:t>
                    </m:r>
                    <m:r>
                      <a:rPr lang="en-US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×</m:t>
                    </m:r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𝒃</m:t>
                    </m:r>
                    <m:r>
                      <a:rPr lang="en-US" sz="22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en-US" sz="22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2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 </m:t>
                    </m:r>
                    <m:r>
                      <a:rPr lang="en-US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×</m:t>
                    </m:r>
                    <m:d>
                      <m:dPr>
                        <m:ctrlPr>
                          <a:rPr lang="en-US" sz="22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2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en-US" sz="22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2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2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2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sz="22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,</a:t>
                </a: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2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𝒃</m:t>
                    </m:r>
                    <m:r>
                      <a:rPr lang="en-US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×</m:t>
                    </m:r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𝒂</m:t>
                    </m:r>
                    <m:r>
                      <a:rPr lang="en-US" sz="22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en-US" sz="22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2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 </m:t>
                    </m:r>
                    <m:r>
                      <a:rPr lang="en-US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×</m:t>
                    </m:r>
                    <m:d>
                      <m:dPr>
                        <m:ctrlPr>
                          <a:rPr lang="en-US" sz="22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2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en-US" sz="22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2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2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2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2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200" b="1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 </a:t>
                </a:r>
                <a:endParaRPr lang="en-US" sz="22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200" spc="-30" dirty="0">
                    <a:effectLst/>
                    <a:ea typeface="SimSun" panose="02010600030101010101" pitchFamily="2" charset="-122"/>
                  </a:rPr>
                  <a:t>Hence, </a:t>
                </a:r>
                <a14:m>
                  <m:oMath xmlns:m="http://schemas.openxmlformats.org/officeDocument/2006/math"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−(</m:t>
                    </m:r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𝒃</m:t>
                    </m:r>
                    <m:r>
                      <a:rPr lang="en-US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×</m:t>
                    </m:r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𝒂</m:t>
                    </m:r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)</m:t>
                    </m:r>
                    <m:r>
                      <a:rPr lang="en-US" sz="22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en-US" sz="22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SG" sz="22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2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sz="2200" i="1" spc="-30">
                                              <a:effectLst/>
                                              <a:latin typeface="Cambria Math" panose="02040503050406030204" pitchFamily="18" charset="0"/>
                                              <a:ea typeface="SimSun" panose="02010600030101010101" pitchFamily="2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sz="2200" i="1" spc="-30">
                                              <a:effectLst/>
                                              <a:latin typeface="Cambria Math" panose="02040503050406030204" pitchFamily="18" charset="0"/>
                                              <a:ea typeface="SimSun" panose="02010600030101010101" pitchFamily="2" charset="-122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sz="2200" i="1" spc="-30">
                                              <a:effectLst/>
                                              <a:latin typeface="Cambria Math" panose="02040503050406030204" pitchFamily="18" charset="0"/>
                                              <a:ea typeface="SimSun" panose="02010600030101010101" pitchFamily="2" charset="-122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2200" i="1" spc="-30">
                                              <a:effectLst/>
                                              <a:latin typeface="Cambria Math" panose="02040503050406030204" pitchFamily="18" charset="0"/>
                                              <a:ea typeface="SimSun" panose="02010600030101010101" pitchFamily="2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sz="2200" i="1" spc="-30">
                                              <a:effectLst/>
                                              <a:latin typeface="Cambria Math" panose="02040503050406030204" pitchFamily="18" charset="0"/>
                                              <a:ea typeface="SimSun" panose="02010600030101010101" pitchFamily="2" charset="-122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200" i="1" spc="-30">
                                              <a:effectLst/>
                                              <a:latin typeface="Cambria Math" panose="02040503050406030204" pitchFamily="18" charset="0"/>
                                              <a:ea typeface="SimSun" panose="02010600030101010101" pitchFamily="2" charset="-122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SG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−</m:t>
                                      </m:r>
                                      <m:r>
                                        <a:rPr lang="en-SG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200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−</m:t>
                                  </m:r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𝒂</m:t>
                    </m:r>
                    <m:r>
                      <a:rPr lang="en-US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×</m:t>
                    </m:r>
                    <m:r>
                      <a:rPr lang="en-SG" sz="22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𝒃</m:t>
                    </m:r>
                  </m:oMath>
                </a14:m>
                <a:endParaRPr lang="en-US" sz="22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b="1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 </a:t>
                </a:r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F8424B-9304-C7EE-57E4-07E090289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512" y="1124744"/>
                <a:ext cx="8784976" cy="5437129"/>
              </a:xfrm>
              <a:prstGeom prst="rect">
                <a:avLst/>
              </a:prstGeom>
              <a:blipFill>
                <a:blip r:embed="rId3"/>
                <a:stretch>
                  <a:fillRect l="-902" t="-67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05365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7"/>
          <p:cNvSpPr txBox="1">
            <a:spLocks noGrp="1"/>
          </p:cNvSpPr>
          <p:nvPr>
            <p:ph type="title"/>
          </p:nvPr>
        </p:nvSpPr>
        <p:spPr>
          <a:xfrm>
            <a:off x="465323" y="18864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Properties of the Cross Product</a:t>
            </a:r>
            <a:endParaRPr dirty="0"/>
          </a:p>
        </p:txBody>
      </p:sp>
      <p:sp>
        <p:nvSpPr>
          <p:cNvPr id="337" name="Google Shape;337;p37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39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F8424B-9304-C7EE-57E4-07E090289A53}"/>
                  </a:ext>
                </a:extLst>
              </p:cNvPr>
              <p:cNvSpPr txBox="1"/>
              <p:nvPr/>
            </p:nvSpPr>
            <p:spPr>
              <a:xfrm>
                <a:off x="-36512" y="1124744"/>
                <a:ext cx="9505056" cy="56621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2. Scalar multiplication</a:t>
                </a:r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R="0" lvl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3. Distributive </a:t>
                </a:r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Let </a:t>
                </a:r>
                <a14:m>
                  <m:oMath xmlns:m="http://schemas.openxmlformats.org/officeDocument/2006/math">
                    <m:r>
                      <a:rPr lang="en-SG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𝒂</m:t>
                    </m:r>
                    <m:r>
                      <a:rPr lang="en-US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en-US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SG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</m:t>
                    </m:r>
                    <m:r>
                      <a:rPr lang="en-SG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𝒃</m:t>
                    </m:r>
                    <m:r>
                      <a:rPr lang="en-US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en-US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SG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</m:t>
                    </m:r>
                    <m:r>
                      <a:rPr lang="en-SG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𝒄</m:t>
                    </m:r>
                    <m:r>
                      <a:rPr lang="en-US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en-US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𝒄</m:t>
                      </m:r>
                      <m:r>
                        <a:rPr lang="en-US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×</m:t>
                      </m:r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(</m:t>
                      </m:r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𝒂</m:t>
                      </m:r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+</m:t>
                      </m:r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𝒃</m:t>
                      </m:r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)</m:t>
                      </m:r>
                      <m:r>
                        <a:rPr lang="en-US" sz="2000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SG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0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sz="2000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×</m:t>
                      </m:r>
                      <m:d>
                        <m:d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)−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)−</m:t>
                                    </m:r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)−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 spc="-30">
                                                <a:effectLst/>
                                                <a:latin typeface="Cambria Math" panose="02040503050406030204" pitchFamily="18" charset="0"/>
                                                <a:ea typeface="SimSun" panose="02010600030101010101" pitchFamily="2" charset="-122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SG" sz="2000" i="1" spc="-30">
                                                <a:effectLst/>
                                                <a:latin typeface="Cambria Math" panose="02040503050406030204" pitchFamily="18" charset="0"/>
                                                <a:ea typeface="SimSun" panose="02010600030101010101" pitchFamily="2" charset="-122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SG" sz="2000" i="1" spc="-30">
                                                <a:effectLst/>
                                                <a:latin typeface="Cambria Math" panose="02040503050406030204" pitchFamily="18" charset="0"/>
                                                <a:ea typeface="SimSun" panose="02010600030101010101" pitchFamily="2" charset="-122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 spc="-30">
                                                <a:effectLst/>
                                                <a:latin typeface="Cambria Math" panose="02040503050406030204" pitchFamily="18" charset="0"/>
                                                <a:ea typeface="SimSun" panose="02010600030101010101" pitchFamily="2" charset="-122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SG" sz="2000" i="1" spc="-30">
                                                <a:effectLst/>
                                                <a:latin typeface="Cambria Math" panose="02040503050406030204" pitchFamily="18" charset="0"/>
                                                <a:ea typeface="SimSun" panose="02010600030101010101" pitchFamily="2" charset="-122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SG" sz="2000" i="1" spc="-30">
                                                <a:effectLst/>
                                                <a:latin typeface="Cambria Math" panose="02040503050406030204" pitchFamily="18" charset="0"/>
                                                <a:ea typeface="SimSun" panose="02010600030101010101" pitchFamily="2" charset="-122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+</m:t>
                      </m:r>
                      <m:d>
                        <m:d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 spc="-30">
                                                <a:effectLst/>
                                                <a:latin typeface="Cambria Math" panose="02040503050406030204" pitchFamily="18" charset="0"/>
                                                <a:ea typeface="SimSun" panose="02010600030101010101" pitchFamily="2" charset="-122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SG" sz="2000" i="1" spc="-30">
                                                <a:effectLst/>
                                                <a:latin typeface="Cambria Math" panose="02040503050406030204" pitchFamily="18" charset="0"/>
                                                <a:ea typeface="SimSun" panose="02010600030101010101" pitchFamily="2" charset="-122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SG" sz="2000" i="1" spc="-30">
                                                <a:effectLst/>
                                                <a:latin typeface="Cambria Math" panose="02040503050406030204" pitchFamily="18" charset="0"/>
                                                <a:ea typeface="SimSun" panose="02010600030101010101" pitchFamily="2" charset="-122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×</m:t>
                          </m:r>
                          <m:d>
                            <m:dPr>
                              <m:ctrlPr>
                                <a:rPr lang="en-US" sz="20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×</m:t>
                          </m:r>
                          <m:d>
                            <m:dPr>
                              <m:ctrlPr>
                                <a:rPr lang="en-US" sz="2000" b="1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SG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sz="2000" i="1" spc="-30">
                                            <a:effectLst/>
                                            <a:latin typeface="Cambria Math" panose="02040503050406030204" pitchFamily="18" charset="0"/>
                                            <a:ea typeface="SimSun" panose="02010600030101010101" pitchFamily="2" charset="-122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(</m:t>
                      </m:r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𝒄</m:t>
                      </m:r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×</m:t>
                      </m:r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𝒂</m:t>
                      </m:r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)+(</m:t>
                      </m:r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𝒄</m:t>
                      </m:r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×</m:t>
                      </m:r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𝒃</m:t>
                      </m:r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)</m:t>
                      </m:r>
                    </m:oMath>
                  </m:oMathPara>
                </a14:m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F8424B-9304-C7EE-57E4-07E090289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512" y="1124744"/>
                <a:ext cx="9505056" cy="5662127"/>
              </a:xfrm>
              <a:prstGeom prst="rect">
                <a:avLst/>
              </a:prstGeom>
              <a:blipFill>
                <a:blip r:embed="rId3"/>
                <a:stretch>
                  <a:fillRect l="-641" t="-53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42036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7"/>
          <p:cNvSpPr txBox="1">
            <a:spLocks noGrp="1"/>
          </p:cNvSpPr>
          <p:nvPr>
            <p:ph type="title"/>
          </p:nvPr>
        </p:nvSpPr>
        <p:spPr>
          <a:xfrm>
            <a:off x="465323" y="18864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Properties of the Cross Product (cont’d)</a:t>
            </a:r>
            <a:endParaRPr dirty="0"/>
          </a:p>
        </p:txBody>
      </p:sp>
      <p:sp>
        <p:nvSpPr>
          <p:cNvPr id="337" name="Google Shape;337;p37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40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94BCD3-928C-155D-AEBE-5D4EA9FDCDA9}"/>
                  </a:ext>
                </a:extLst>
              </p:cNvPr>
              <p:cNvSpPr txBox="1"/>
              <p:nvPr/>
            </p:nvSpPr>
            <p:spPr>
              <a:xfrm>
                <a:off x="122842" y="1124744"/>
                <a:ext cx="8349616" cy="12126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18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 </a:t>
                </a:r>
                <a:r>
                  <a:rPr lang="en-US" sz="2400" spc="-30" dirty="0">
                    <a:latin typeface="Arial" panose="020B0604020202020204" pitchFamily="34" charset="0"/>
                    <a:ea typeface="SimSun" panose="02010600030101010101" pitchFamily="2" charset="-122"/>
                  </a:rPr>
                  <a:t>5. </a:t>
                </a:r>
                <a:r>
                  <a:rPr lang="en-SG" sz="24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Cross product of the vector with itself = zero vector</a:t>
                </a:r>
              </a:p>
              <a:p>
                <a:pPr marR="0" lvl="0" algn="just">
                  <a:spcBef>
                    <a:spcPts val="0"/>
                  </a:spcBef>
                  <a:spcAft>
                    <a:spcPts val="0"/>
                  </a:spcAft>
                </a:pPr>
                <a:endParaRPr lang="en-US" sz="24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4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𝒂</m:t>
                      </m:r>
                      <m:r>
                        <a:rPr lang="en-SG" sz="24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×</m:t>
                      </m:r>
                      <m:r>
                        <a:rPr lang="en-SG" sz="24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𝒂</m:t>
                      </m:r>
                      <m:r>
                        <a:rPr lang="en-US" sz="24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SG" sz="24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𝒂</m:t>
                          </m:r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sz="24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SG" sz="24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𝒂</m:t>
                          </m:r>
                        </m:e>
                      </m:d>
                      <m:r>
                        <a:rPr lang="en-SG" sz="2400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𝑠𝑖𝑛</m:t>
                      </m:r>
                      <m:r>
                        <a:rPr lang="en-SG" sz="2400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(0)</m:t>
                      </m:r>
                      <m:acc>
                        <m:accPr>
                          <m:chr m:val="̂"/>
                          <m:ctrlPr>
                            <a:rPr lang="en-US" sz="24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accPr>
                        <m:e>
                          <m:r>
                            <a:rPr lang="en-SG" sz="24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e>
                      </m:acc>
                      <m:r>
                        <a:rPr lang="en-SG" sz="2400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sz="24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accPr>
                        <m:e>
                          <m:r>
                            <a:rPr lang="en-SG" sz="24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lang="en-US" sz="24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94BCD3-928C-155D-AEBE-5D4EA9FDC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42" y="1124744"/>
                <a:ext cx="8349616" cy="1212640"/>
              </a:xfrm>
              <a:prstGeom prst="rect">
                <a:avLst/>
              </a:prstGeom>
              <a:blipFill>
                <a:blip r:embed="rId3"/>
                <a:stretch>
                  <a:fillRect l="-365" t="-353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57327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8"/>
          <p:cNvSpPr txBox="1">
            <a:spLocks noGrp="1"/>
          </p:cNvSpPr>
          <p:nvPr>
            <p:ph type="title"/>
          </p:nvPr>
        </p:nvSpPr>
        <p:spPr>
          <a:xfrm>
            <a:off x="343567" y="260648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Exercise</a:t>
            </a:r>
            <a:endParaRPr dirty="0"/>
          </a:p>
        </p:txBody>
      </p:sp>
      <p:sp>
        <p:nvSpPr>
          <p:cNvPr id="343" name="Google Shape;343;p38"/>
          <p:cNvSpPr txBox="1">
            <a:spLocks noGrp="1"/>
          </p:cNvSpPr>
          <p:nvPr>
            <p:ph type="body" idx="1"/>
          </p:nvPr>
        </p:nvSpPr>
        <p:spPr>
          <a:xfrm>
            <a:off x="311700" y="937973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rgbClr val="1C4587"/>
                </a:solidFill>
              </a:rPr>
              <a:t>Compute the cross products of (3, 1, 0) and (0, 2, 0) in both directions and sketch the resultant vectors. What did you notice about their directions?</a:t>
            </a:r>
            <a:endParaRPr dirty="0">
              <a:solidFill>
                <a:srgbClr val="1C4587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344" name="Google Shape;344;p38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8"/>
          <p:cNvSpPr txBox="1">
            <a:spLocks noGrp="1"/>
          </p:cNvSpPr>
          <p:nvPr>
            <p:ph type="title"/>
          </p:nvPr>
        </p:nvSpPr>
        <p:spPr>
          <a:xfrm>
            <a:off x="343567" y="260648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Exercise</a:t>
            </a:r>
            <a:endParaRPr dirty="0"/>
          </a:p>
        </p:txBody>
      </p:sp>
      <p:sp>
        <p:nvSpPr>
          <p:cNvPr id="343" name="Google Shape;343;p38"/>
          <p:cNvSpPr txBox="1">
            <a:spLocks noGrp="1"/>
          </p:cNvSpPr>
          <p:nvPr>
            <p:ph type="body" idx="1"/>
          </p:nvPr>
        </p:nvSpPr>
        <p:spPr>
          <a:xfrm>
            <a:off x="311700" y="937973"/>
            <a:ext cx="8520600" cy="162693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rgbClr val="1C4587"/>
                </a:solidFill>
              </a:rPr>
              <a:t>Compute the cross products of (3, 1, 0) and (0, 2, 0) in both directions and sketch the resultant vectors. What did you notice about their directions?</a:t>
            </a:r>
            <a:endParaRPr dirty="0">
              <a:solidFill>
                <a:srgbClr val="1C4587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344" name="Google Shape;344;p38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42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5FB279-AF4D-8E50-4AF8-31F4A05A4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935" y="2492896"/>
            <a:ext cx="3314065" cy="226822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BEF3E34-8AF2-1F42-6F9E-7B5F03DB912F}"/>
                  </a:ext>
                </a:extLst>
              </p:cNvPr>
              <p:cNvSpPr txBox="1"/>
              <p:nvPr/>
            </p:nvSpPr>
            <p:spPr>
              <a:xfrm>
                <a:off x="251520" y="2669529"/>
                <a:ext cx="5256584" cy="2689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1" i="1" spc="-30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×</m:t>
                      </m:r>
                      <m:d>
                        <m:d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1(0)−0(2)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3(0)−0(0)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3(2)−1(0)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×</m:t>
                      </m:r>
                      <m:d>
                        <m:d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2(0)−0(1)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SG" sz="2000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0(0)−0(3)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0(1)−2(3)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SG" sz="2000" b="1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sz="2000" b="1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sz="2000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The resultant vectors are opposite in direction</a:t>
                </a:r>
                <a:r>
                  <a:rPr lang="en-SG" sz="18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.</a:t>
                </a:r>
                <a:endParaRPr lang="en-US" sz="18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BEF3E34-8AF2-1F42-6F9E-7B5F03DB9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669529"/>
                <a:ext cx="5256584" cy="2689582"/>
              </a:xfrm>
              <a:prstGeom prst="rect">
                <a:avLst/>
              </a:prstGeom>
              <a:blipFill>
                <a:blip r:embed="rId4"/>
                <a:stretch>
                  <a:fillRect l="-1159" b="-317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33178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9"/>
          <p:cNvSpPr txBox="1">
            <a:spLocks noGrp="1"/>
          </p:cNvSpPr>
          <p:nvPr>
            <p:ph type="title"/>
          </p:nvPr>
        </p:nvSpPr>
        <p:spPr>
          <a:xfrm>
            <a:off x="378955" y="236331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Vector Representation of a Line in ℝ</a:t>
            </a:r>
            <a:r>
              <a:rPr lang="en" baseline="30000" dirty="0"/>
              <a:t>2</a:t>
            </a:r>
            <a:endParaRPr baseline="30000" dirty="0"/>
          </a:p>
        </p:txBody>
      </p:sp>
      <p:sp>
        <p:nvSpPr>
          <p:cNvPr id="350" name="Google Shape;350;p39"/>
          <p:cNvSpPr txBox="1">
            <a:spLocks noGrp="1"/>
          </p:cNvSpPr>
          <p:nvPr>
            <p:ph type="body" idx="1"/>
          </p:nvPr>
        </p:nvSpPr>
        <p:spPr>
          <a:xfrm>
            <a:off x="285939" y="1160029"/>
            <a:ext cx="8520600" cy="15552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rgbClr val="434343"/>
                </a:solidFill>
              </a:rPr>
              <a:t>For a line L in the plane defined by </a:t>
            </a:r>
            <a:r>
              <a:rPr lang="en" i="1" dirty="0">
                <a:solidFill>
                  <a:srgbClr val="434343"/>
                </a:solidFill>
              </a:rPr>
              <a:t>y = mx + c</a:t>
            </a:r>
            <a:r>
              <a:rPr lang="en" dirty="0">
                <a:solidFill>
                  <a:srgbClr val="434343"/>
                </a:solidFill>
              </a:rPr>
              <a:t>, a</a:t>
            </a:r>
            <a:r>
              <a:rPr lang="en" dirty="0"/>
              <a:t> </a:t>
            </a:r>
            <a:r>
              <a:rPr lang="en" dirty="0">
                <a:solidFill>
                  <a:srgbClr val="0000FF"/>
                </a:solidFill>
              </a:rPr>
              <a:t>vector equation</a:t>
            </a:r>
            <a:r>
              <a:rPr lang="en" dirty="0"/>
              <a:t> </a:t>
            </a:r>
            <a:r>
              <a:rPr lang="en" dirty="0">
                <a:solidFill>
                  <a:srgbClr val="434343"/>
                </a:solidFill>
              </a:rPr>
              <a:t>in the form below can be used to describe the same line:</a:t>
            </a:r>
            <a:endParaRPr dirty="0">
              <a:solidFill>
                <a:srgbClr val="434343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351" name="Google Shape;351;p39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43</a:t>
            </a:fld>
            <a:endParaRPr/>
          </a:p>
        </p:txBody>
      </p:sp>
      <p:sp>
        <p:nvSpPr>
          <p:cNvPr id="352" name="Google Shape;352;p39"/>
          <p:cNvSpPr txBox="1"/>
          <p:nvPr/>
        </p:nvSpPr>
        <p:spPr>
          <a:xfrm>
            <a:off x="379157" y="3055225"/>
            <a:ext cx="3877200" cy="1957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where:</a:t>
            </a:r>
            <a:endParaRPr sz="2000"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r>
              <a:rPr lang="en" sz="2000" b="1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lang="en" sz="2000" b="1" baseline="-25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" sz="2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 is a position vector to any point on L,</a:t>
            </a:r>
            <a:endParaRPr sz="2000"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r>
              <a:rPr lang="en" sz="2000" b="1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v </a:t>
            </a:r>
            <a:r>
              <a:rPr lang="en" sz="2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is any vector in the direction of L and </a:t>
            </a:r>
            <a:r>
              <a:rPr lang="en" sz="2000" b="1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t</a:t>
            </a:r>
            <a:r>
              <a:rPr lang="en" sz="2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 is a scalar.</a:t>
            </a:r>
          </a:p>
          <a:p>
            <a:endParaRPr sz="2000"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r>
              <a:rPr lang="en-US" sz="2000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When t is varied, vector </a:t>
            </a:r>
            <a:r>
              <a:rPr lang="en-US" sz="2000" b="1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lang="en-US" sz="2000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 is able to define all points on line L, hence a vector equation.</a:t>
            </a:r>
          </a:p>
          <a:p>
            <a:r>
              <a:rPr lang="en-US" sz="2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Note that </a:t>
            </a:r>
            <a:r>
              <a:rPr lang="en-US" sz="2000" b="1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lang="en-US" sz="2000" b="1" baseline="-25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-US" sz="2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 and </a:t>
            </a:r>
            <a:r>
              <a:rPr lang="en-US" sz="2000" b="1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r>
              <a:rPr lang="en-US" sz="2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 are not unique. </a:t>
            </a:r>
          </a:p>
          <a:p>
            <a:endParaRPr dirty="0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53" name="Google Shape;35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664" y="2546202"/>
            <a:ext cx="1716013" cy="43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1070" y="2398284"/>
            <a:ext cx="4531300" cy="265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9"/>
          <p:cNvSpPr txBox="1"/>
          <p:nvPr/>
        </p:nvSpPr>
        <p:spPr>
          <a:xfrm>
            <a:off x="7164288" y="2418055"/>
            <a:ext cx="1849376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38761D"/>
                </a:solidFill>
                <a:latin typeface="Proxima Nova"/>
                <a:ea typeface="Proxima Nova"/>
                <a:cs typeface="Proxima Nova"/>
                <a:sym typeface="Proxima Nova"/>
              </a:rPr>
              <a:t>L: y = mx + c</a:t>
            </a:r>
            <a:endParaRPr dirty="0">
              <a:solidFill>
                <a:srgbClr val="38761D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38761D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38761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0"/>
          <p:cNvSpPr txBox="1">
            <a:spLocks noGrp="1"/>
          </p:cNvSpPr>
          <p:nvPr>
            <p:ph type="title"/>
          </p:nvPr>
        </p:nvSpPr>
        <p:spPr>
          <a:xfrm>
            <a:off x="365700" y="27101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Vector Representation of a Line in ℝ</a:t>
            </a:r>
            <a:r>
              <a:rPr lang="en" baseline="30000" dirty="0"/>
              <a:t>2</a:t>
            </a:r>
            <a:endParaRPr baseline="30000" dirty="0"/>
          </a:p>
        </p:txBody>
      </p:sp>
      <p:sp>
        <p:nvSpPr>
          <p:cNvPr id="361" name="Google Shape;361;p40"/>
          <p:cNvSpPr txBox="1">
            <a:spLocks noGrp="1"/>
          </p:cNvSpPr>
          <p:nvPr>
            <p:ph type="body" idx="1"/>
          </p:nvPr>
        </p:nvSpPr>
        <p:spPr>
          <a:xfrm>
            <a:off x="398205" y="1233615"/>
            <a:ext cx="8520600" cy="15552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 dirty="0">
                <a:solidFill>
                  <a:srgbClr val="0B5394"/>
                </a:solidFill>
              </a:rPr>
              <a:t>Exercise: Define another general vector equation of line L and show it on the graph.</a:t>
            </a:r>
            <a:endParaRPr dirty="0">
              <a:solidFill>
                <a:srgbClr val="0B5394"/>
              </a:solidFill>
            </a:endParaRPr>
          </a:p>
        </p:txBody>
      </p:sp>
      <p:sp>
        <p:nvSpPr>
          <p:cNvPr id="362" name="Google Shape;362;p40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44</a:t>
            </a:fld>
            <a:endParaRPr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6075048-678B-53AB-DE96-81284490BA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624090"/>
              </p:ext>
            </p:extLst>
          </p:nvPr>
        </p:nvGraphicFramePr>
        <p:xfrm>
          <a:off x="1475656" y="2996951"/>
          <a:ext cx="1368152" cy="522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98400" imgH="266400" progId="Equation.DSMT4">
                  <p:embed/>
                </p:oleObj>
              </mc:Choice>
              <mc:Fallback>
                <p:oleObj name="Equation" r:id="rId3" imgW="698400" imgH="2664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16075048-678B-53AB-DE96-81284490BA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5656" y="2996951"/>
                        <a:ext cx="1368152" cy="522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13A6C88-381D-A338-D979-FFC8B16C89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7711" y="2565100"/>
            <a:ext cx="5238084" cy="329469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1"/>
          <p:cNvSpPr txBox="1">
            <a:spLocks noGrp="1"/>
          </p:cNvSpPr>
          <p:nvPr>
            <p:ph type="title"/>
          </p:nvPr>
        </p:nvSpPr>
        <p:spPr>
          <a:xfrm>
            <a:off x="311700" y="231263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Vector Representation of a Line in ℝ</a:t>
            </a:r>
            <a:r>
              <a:rPr lang="en" baseline="30000" dirty="0"/>
              <a:t>2</a:t>
            </a:r>
            <a:endParaRPr baseline="30000" dirty="0"/>
          </a:p>
        </p:txBody>
      </p:sp>
      <p:sp>
        <p:nvSpPr>
          <p:cNvPr id="370" name="Google Shape;370;p41"/>
          <p:cNvSpPr txBox="1">
            <a:spLocks noGrp="1"/>
          </p:cNvSpPr>
          <p:nvPr>
            <p:ph type="body" idx="1"/>
          </p:nvPr>
        </p:nvSpPr>
        <p:spPr>
          <a:xfrm>
            <a:off x="348264" y="1115684"/>
            <a:ext cx="8520600" cy="5601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 dirty="0">
                <a:solidFill>
                  <a:srgbClr val="434343"/>
                </a:solidFill>
              </a:rPr>
              <a:t>Steps to obtain the exact vector equation are:</a:t>
            </a:r>
            <a:endParaRPr dirty="0">
              <a:solidFill>
                <a:srgbClr val="434343"/>
              </a:solidFill>
            </a:endParaRPr>
          </a:p>
        </p:txBody>
      </p:sp>
      <p:sp>
        <p:nvSpPr>
          <p:cNvPr id="371" name="Google Shape;371;p41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45</a:t>
            </a:fld>
            <a:endParaRPr/>
          </a:p>
        </p:txBody>
      </p:sp>
      <p:pic>
        <p:nvPicPr>
          <p:cNvPr id="372" name="Google Shape;372;p41"/>
          <p:cNvPicPr preferRelativeResize="0"/>
          <p:nvPr/>
        </p:nvPicPr>
        <p:blipFill rotWithShape="1">
          <a:blip r:embed="rId3">
            <a:alphaModFix/>
          </a:blip>
          <a:srcRect l="29567"/>
          <a:stretch/>
        </p:blipFill>
        <p:spPr>
          <a:xfrm>
            <a:off x="4572000" y="2729776"/>
            <a:ext cx="4314300" cy="3065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41"/>
          <p:cNvSpPr txBox="1"/>
          <p:nvPr/>
        </p:nvSpPr>
        <p:spPr>
          <a:xfrm>
            <a:off x="7819364" y="2418055"/>
            <a:ext cx="1194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38761D"/>
                </a:solidFill>
                <a:latin typeface="Proxima Nova"/>
                <a:ea typeface="Proxima Nova"/>
                <a:cs typeface="Proxima Nova"/>
                <a:sym typeface="Proxima Nova"/>
              </a:rPr>
              <a:t>L: y = mx + c</a:t>
            </a:r>
            <a:endParaRPr>
              <a:solidFill>
                <a:srgbClr val="38761D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>
              <a:solidFill>
                <a:srgbClr val="38761D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>
              <a:solidFill>
                <a:srgbClr val="38761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4" name="Google Shape;374;p41"/>
          <p:cNvSpPr txBox="1"/>
          <p:nvPr/>
        </p:nvSpPr>
        <p:spPr>
          <a:xfrm>
            <a:off x="303505" y="1711068"/>
            <a:ext cx="3877200" cy="3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317500">
              <a:buClr>
                <a:srgbClr val="0000FF"/>
              </a:buClr>
              <a:buSzPts val="1400"/>
              <a:buFont typeface="Proxima Nova"/>
              <a:buAutoNum type="arabicPeriod"/>
            </a:pPr>
            <a:r>
              <a:rPr lang="en" sz="2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Define the position vector, r</a:t>
            </a:r>
            <a:r>
              <a:rPr lang="en" sz="2000" baseline="-25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" sz="2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, by finding a point (x</a:t>
            </a:r>
            <a:r>
              <a:rPr lang="en" sz="2000" baseline="-25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" sz="2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, y</a:t>
            </a:r>
            <a:r>
              <a:rPr lang="en" sz="2000" baseline="-25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" sz="2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) on the line. Then,</a:t>
            </a:r>
            <a:endParaRPr sz="2000"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sz="2000"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sz="2000"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sz="2000"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39700">
              <a:buClr>
                <a:srgbClr val="FF0000"/>
              </a:buClr>
              <a:buSzPts val="1400"/>
            </a:pPr>
            <a:r>
              <a:rPr lang="en" sz="2000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2. Define the direction vector, v, by finding another point (x</a:t>
            </a:r>
            <a:r>
              <a:rPr lang="en" sz="2000" baseline="-25000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2000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, y</a:t>
            </a:r>
            <a:r>
              <a:rPr lang="en" sz="2000" baseline="-25000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2000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) on the line. Then,</a:t>
            </a:r>
            <a:endParaRPr sz="2000" dirty="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sz="2000"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39700">
              <a:buClr>
                <a:srgbClr val="434343"/>
              </a:buClr>
              <a:buSzPts val="1400"/>
            </a:pPr>
            <a:endParaRPr lang="en"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39700">
              <a:buClr>
                <a:srgbClr val="434343"/>
              </a:buClr>
              <a:buSzPts val="1400"/>
            </a:pPr>
            <a:r>
              <a:rPr lang="en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3. </a:t>
            </a:r>
            <a:r>
              <a:rPr lang="en" sz="2000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Finally, write:</a:t>
            </a:r>
            <a:endParaRPr sz="2000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r>
              <a:rPr lang="en" sz="2000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Procedure is similar for a line in ℝ</a:t>
            </a:r>
            <a:r>
              <a:rPr lang="en" sz="2000" baseline="30000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lang="en" sz="2000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2000" dirty="0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75" name="Google Shape;375;p41" descr="r sub 0 right-arrow equals the 2 by 1 column matrix x sub 0 y sub 0⁣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4967" y="2811655"/>
            <a:ext cx="1215352" cy="580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1" descr="v right-arrow equals the 2 by 1 column matrix Row 1: x sub 1 minus x sub 0 Row 2: y sub 1 minus y sub 0⁣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4479" y="4648464"/>
            <a:ext cx="1365145" cy="580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41" descr="bold r equals bold r sub bold 0 plus t bold bold v⁣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58783" y="5520467"/>
            <a:ext cx="1365145" cy="22184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1"/>
          <p:cNvSpPr/>
          <p:nvPr/>
        </p:nvSpPr>
        <p:spPr>
          <a:xfrm>
            <a:off x="5976530" y="3690661"/>
            <a:ext cx="98700" cy="94800"/>
          </a:xfrm>
          <a:prstGeom prst="flowChartConnector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79" name="Google Shape;379;p41"/>
          <p:cNvSpPr/>
          <p:nvPr/>
        </p:nvSpPr>
        <p:spPr>
          <a:xfrm>
            <a:off x="6254507" y="3554720"/>
            <a:ext cx="98700" cy="94800"/>
          </a:xfrm>
          <a:prstGeom prst="flowChartConnector">
            <a:avLst/>
          </a:prstGeom>
          <a:solidFill>
            <a:srgbClr val="FF0000"/>
          </a:solidFill>
          <a:ln w="952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80" name="Google Shape;380;p41"/>
          <p:cNvSpPr txBox="1"/>
          <p:nvPr/>
        </p:nvSpPr>
        <p:spPr>
          <a:xfrm>
            <a:off x="5524185" y="3458103"/>
            <a:ext cx="730321" cy="3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100" b="1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(x</a:t>
            </a:r>
            <a:r>
              <a:rPr lang="en" sz="1100" b="1" baseline="-25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" sz="1100" b="1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,y</a:t>
            </a:r>
            <a:r>
              <a:rPr lang="en" sz="1100" b="1" baseline="-25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" sz="1100" b="1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100" b="1"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sz="1100" b="1"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1" name="Google Shape;381;p41"/>
          <p:cNvSpPr txBox="1"/>
          <p:nvPr/>
        </p:nvSpPr>
        <p:spPr>
          <a:xfrm>
            <a:off x="5879874" y="3282859"/>
            <a:ext cx="708349" cy="3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100" b="1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(x</a:t>
            </a:r>
            <a:r>
              <a:rPr lang="en" sz="1100" b="1" baseline="-25000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1100" b="1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,y</a:t>
            </a:r>
            <a:r>
              <a:rPr lang="en" sz="1100" b="1" baseline="-25000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1100" b="1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100" b="1" dirty="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sz="1100" b="1" dirty="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2"/>
          <p:cNvSpPr txBox="1">
            <a:spLocks noGrp="1"/>
          </p:cNvSpPr>
          <p:nvPr>
            <p:ph type="title"/>
          </p:nvPr>
        </p:nvSpPr>
        <p:spPr>
          <a:xfrm>
            <a:off x="226208" y="260648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Vector Representation of a Line in ℝ</a:t>
            </a:r>
            <a:r>
              <a:rPr lang="en" baseline="30000" dirty="0"/>
              <a:t>2</a:t>
            </a:r>
            <a:endParaRPr baseline="30000" dirty="0"/>
          </a:p>
          <a:p>
            <a:endParaRPr dirty="0"/>
          </a:p>
        </p:txBody>
      </p:sp>
      <p:sp>
        <p:nvSpPr>
          <p:cNvPr id="387" name="Google Shape;387;p42"/>
          <p:cNvSpPr txBox="1">
            <a:spLocks noGrp="1"/>
          </p:cNvSpPr>
          <p:nvPr>
            <p:ph type="body" idx="1"/>
          </p:nvPr>
        </p:nvSpPr>
        <p:spPr>
          <a:xfrm>
            <a:off x="262250" y="1255953"/>
            <a:ext cx="53430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 dirty="0">
                <a:solidFill>
                  <a:srgbClr val="0B5394"/>
                </a:solidFill>
              </a:rPr>
              <a:t>Exercise: Determine the vector equation of a line L</a:t>
            </a:r>
            <a:r>
              <a:rPr lang="en" baseline="-25000" dirty="0">
                <a:solidFill>
                  <a:srgbClr val="0B5394"/>
                </a:solidFill>
              </a:rPr>
              <a:t>1</a:t>
            </a:r>
            <a:r>
              <a:rPr lang="en" dirty="0">
                <a:solidFill>
                  <a:srgbClr val="0B5394"/>
                </a:solidFill>
              </a:rPr>
              <a:t> given by y = -2x+5. Draw it on the graph.</a:t>
            </a:r>
            <a:endParaRPr dirty="0">
              <a:solidFill>
                <a:srgbClr val="0B5394"/>
              </a:solidFill>
            </a:endParaRPr>
          </a:p>
        </p:txBody>
      </p:sp>
      <p:sp>
        <p:nvSpPr>
          <p:cNvPr id="388" name="Google Shape;388;p42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46</a:t>
            </a:fld>
            <a:endParaRPr/>
          </a:p>
        </p:txBody>
      </p:sp>
      <p:pic>
        <p:nvPicPr>
          <p:cNvPr id="389" name="Google Shape;38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5250" y="2009725"/>
            <a:ext cx="3177600" cy="3571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2"/>
          <p:cNvSpPr txBox="1">
            <a:spLocks noGrp="1"/>
          </p:cNvSpPr>
          <p:nvPr>
            <p:ph type="title"/>
          </p:nvPr>
        </p:nvSpPr>
        <p:spPr>
          <a:xfrm>
            <a:off x="226208" y="260648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Vector Representation of a Line in ℝ</a:t>
            </a:r>
            <a:r>
              <a:rPr lang="en" baseline="30000" dirty="0"/>
              <a:t>2</a:t>
            </a:r>
            <a:endParaRPr baseline="30000" dirty="0"/>
          </a:p>
          <a:p>
            <a:endParaRPr dirty="0"/>
          </a:p>
        </p:txBody>
      </p:sp>
      <p:sp>
        <p:nvSpPr>
          <p:cNvPr id="387" name="Google Shape;387;p42"/>
          <p:cNvSpPr txBox="1">
            <a:spLocks noGrp="1"/>
          </p:cNvSpPr>
          <p:nvPr>
            <p:ph type="body" idx="1"/>
          </p:nvPr>
        </p:nvSpPr>
        <p:spPr>
          <a:xfrm>
            <a:off x="226208" y="923700"/>
            <a:ext cx="8881750" cy="116493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-US">
                <a:solidFill>
                  <a:srgbClr val="0B5394"/>
                </a:solidFill>
              </a:rPr>
              <a:t>Exercise: Determine the vector equation of a line L</a:t>
            </a:r>
            <a:r>
              <a:rPr lang="en-US" baseline="-25000">
                <a:solidFill>
                  <a:srgbClr val="0B5394"/>
                </a:solidFill>
              </a:rPr>
              <a:t>1</a:t>
            </a:r>
            <a:r>
              <a:rPr lang="en-US">
                <a:solidFill>
                  <a:srgbClr val="0B5394"/>
                </a:solidFill>
              </a:rPr>
              <a:t> given by y = -2x+5. Draw it on the graph.</a:t>
            </a:r>
            <a:endParaRPr lang="en-US" dirty="0">
              <a:solidFill>
                <a:srgbClr val="0B5394"/>
              </a:solidFill>
            </a:endParaRPr>
          </a:p>
        </p:txBody>
      </p:sp>
      <p:sp>
        <p:nvSpPr>
          <p:cNvPr id="388" name="Google Shape;388;p42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47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085B738-94AA-65A8-68C6-287C1F3D90D2}"/>
                  </a:ext>
                </a:extLst>
              </p:cNvPr>
              <p:cNvSpPr txBox="1"/>
              <p:nvPr/>
            </p:nvSpPr>
            <p:spPr>
              <a:xfrm>
                <a:off x="139812" y="2088635"/>
                <a:ext cx="4637314" cy="42801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 spc="-3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y</m:t>
                    </m:r>
                    <m:r>
                      <a:rPr lang="en-SG" spc="-3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>
                      <a:rPr lang="en-SG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−</m:t>
                    </m:r>
                    <m:r>
                      <a:rPr lang="en-SG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2</m:t>
                    </m:r>
                    <m:r>
                      <m:rPr>
                        <m:sty m:val="p"/>
                      </m:rPr>
                      <a:rPr lang="en-SG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x</m:t>
                    </m:r>
                    <m:r>
                      <a:rPr lang="en-SG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+5</m:t>
                    </m:r>
                  </m:oMath>
                </a14:m>
                <a:r>
                  <a:rPr lang="en-SG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.</a:t>
                </a:r>
              </a:p>
              <a:p>
                <a:r>
                  <a:rPr lang="en-SG" spc="-30" dirty="0"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Find a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SG" i="1" spc="-3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 spc="-3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SG" spc="-30" dirty="0"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 on the line, let’s say we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b="0" i="0" spc="-30" smtClean="0">
                        <a:latin typeface="Cambria Math" panose="020405030504060302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rPr>
                      <m:t>=1</m:t>
                    </m:r>
                  </m:oMath>
                </a14:m>
                <a:r>
                  <a:rPr lang="en-SG" spc="-30" dirty="0"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SG" spc="-30" dirty="0"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 must be 3. </a:t>
                </a:r>
                <a:r>
                  <a:rPr lang="en-SG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	</a:t>
                </a:r>
                <a:endParaRPr lang="en-US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pc="-30" dirty="0">
                    <a:latin typeface="Arial" panose="020B0604020202020204" pitchFamily="34" charset="0"/>
                    <a:ea typeface="SimSun" panose="02010600030101010101" pitchFamily="2" charset="-122"/>
                  </a:rPr>
                  <a:t>Therefore,</a:t>
                </a:r>
                <a:r>
                  <a:rPr lang="en-SG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𝒓</m:t>
                        </m:r>
                      </m:e>
                      <m:sub>
                        <m:r>
                          <a:rPr lang="en-SG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𝒐</m:t>
                        </m:r>
                      </m:sub>
                    </m:sSub>
                    <m:r>
                      <a:rPr lang="en-SG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SG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SG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SG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.</a:t>
                </a:r>
              </a:p>
              <a:p>
                <a:r>
                  <a:rPr lang="en-US" spc="-30" dirty="0">
                    <a:latin typeface="Arial" panose="020B0604020202020204" pitchFamily="34" charset="0"/>
                    <a:ea typeface="SimSun" panose="02010600030101010101" pitchFamily="2" charset="-122"/>
                  </a:rPr>
                  <a:t>Find another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SG" i="1" spc="-3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 spc="-30">
                        <a:latin typeface="Cambria Math" panose="020405030504060302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pc="-30" dirty="0">
                    <a:latin typeface="Arial" panose="020B0604020202020204" pitchFamily="34" charset="0"/>
                    <a:ea typeface="SimSun" panose="02010600030101010101" pitchFamily="2" charset="-122"/>
                  </a:rPr>
                  <a:t>on the line, let’s say we </a:t>
                </a:r>
                <a:r>
                  <a:rPr lang="en-SG" spc="-30" dirty="0"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spc="-30">
                        <a:latin typeface="Cambria Math" panose="020405030504060302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rPr>
                      <m:t>=</m:t>
                    </m:r>
                    <m:r>
                      <a:rPr lang="en-US" b="0" i="0" spc="-30" smtClean="0">
                        <a:latin typeface="Cambria Math" panose="020405030504060302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rPr>
                      <m:t>2</m:t>
                    </m:r>
                  </m:oMath>
                </a14:m>
                <a:r>
                  <a:rPr lang="en-SG" spc="-30" dirty="0"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 this time,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SG" spc="-30" dirty="0"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 must be 1.</a:t>
                </a:r>
                <a:r>
                  <a:rPr lang="en-US" spc="-30" dirty="0">
                    <a:latin typeface="Arial" panose="020B0604020202020204" pitchFamily="34" charset="0"/>
                    <a:ea typeface="SimSun" panose="02010600030101010101" pitchFamily="2" charset="-122"/>
                  </a:rPr>
                  <a:t>  </a:t>
                </a:r>
                <a:r>
                  <a:rPr lang="en-SG" spc="-30" dirty="0">
                    <a:latin typeface="Arial" panose="020B0604020202020204" pitchFamily="34" charset="0"/>
                    <a:ea typeface="SimSun" panose="02010600030101010101" pitchFamily="2" charset="-122"/>
                  </a:rPr>
                  <a:t>So,</a:t>
                </a:r>
                <a:r>
                  <a:rPr lang="en-SG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SG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SG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SG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SG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SG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pc="-30" dirty="0">
                    <a:effectLst/>
                    <a:ea typeface="SimSun" panose="02010600030101010101" pitchFamily="2" charset="-122"/>
                  </a:rPr>
                  <a:t>Therefore, </a:t>
                </a:r>
                <a14:m>
                  <m:oMath xmlns:m="http://schemas.openxmlformats.org/officeDocument/2006/math">
                    <m:r>
                      <a:rPr lang="en-SG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𝒗</m:t>
                    </m:r>
                    <m:r>
                      <a:rPr lang="en-SG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SG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SG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−</m:t>
                                  </m:r>
                                  <m:r>
                                    <a:rPr lang="en-SG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SG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SG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SG" i="1" spc="-30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SG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−</m:t>
                                  </m:r>
                                  <m:r>
                                    <a:rPr lang="en-SG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SG" i="1" spc="-30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SG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2−1</m:t>
                              </m:r>
                            </m:e>
                          </m:mr>
                          <m:mr>
                            <m:e>
                              <m:r>
                                <a:rPr lang="en-SG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1−3</m:t>
                              </m:r>
                            </m:e>
                          </m:mr>
                        </m:m>
                      </m:e>
                    </m:d>
                    <m:r>
                      <a:rPr lang="en-SG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 </a:t>
                </a:r>
                <a:endParaRPr lang="en-US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pc="-30" dirty="0">
                    <a:effectLst/>
                    <a:ea typeface="SimSun" panose="02010600030101010101" pitchFamily="2" charset="-122"/>
                  </a:rPr>
                  <a:t>Hence,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𝒓</m:t>
                        </m:r>
                        <m:r>
                          <a:rPr lang="en-SG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=</m:t>
                        </m:r>
                        <m:r>
                          <a:rPr lang="en-SG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𝒓</m:t>
                        </m:r>
                      </m:e>
                      <m:sub>
                        <m:r>
                          <a:rPr lang="en-SG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𝒐</m:t>
                        </m:r>
                      </m:sub>
                    </m:sSub>
                    <m:r>
                      <a:rPr lang="en-SG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 </m:t>
                    </m:r>
                    <m:r>
                      <a:rPr lang="en-SG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𝑡</m:t>
                    </m:r>
                    <m:r>
                      <a:rPr lang="en-SG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𝒗</m:t>
                    </m:r>
                    <m:r>
                      <a:rPr lang="en-SG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en-SG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r>
                      <a:rPr lang="en-SG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endParaRPr lang="en-US" spc="-30" dirty="0"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r>
                  <a:rPr lang="en-US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Remember,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pc="-30" smtClean="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𝒓</m:t>
                        </m:r>
                      </m:e>
                      <m:sub>
                        <m:r>
                          <a:rPr lang="en-SG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𝒐</m:t>
                        </m:r>
                      </m:sub>
                    </m:sSub>
                  </m:oMath>
                </a14:m>
                <a:r>
                  <a:rPr lang="en-US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 and </a:t>
                </a:r>
                <a14:m>
                  <m:oMath xmlns:m="http://schemas.openxmlformats.org/officeDocument/2006/math">
                    <m:r>
                      <a:rPr lang="en-SG" b="1" i="1" spc="-3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𝒗</m:t>
                    </m:r>
                  </m:oMath>
                </a14:m>
                <a:r>
                  <a:rPr lang="en-US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 are not unique.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085B738-94AA-65A8-68C6-287C1F3D9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12" y="2088635"/>
                <a:ext cx="4637314" cy="4280146"/>
              </a:xfrm>
              <a:prstGeom prst="rect">
                <a:avLst/>
              </a:prstGeom>
              <a:blipFill>
                <a:blip r:embed="rId3"/>
                <a:stretch>
                  <a:fillRect l="-1183" t="-855" r="-263" b="-142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E168C56-97B5-98C9-B875-FA7B0D32F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848" y="1988840"/>
            <a:ext cx="3925610" cy="44307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79420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3"/>
          <p:cNvSpPr txBox="1">
            <a:spLocks noGrp="1"/>
          </p:cNvSpPr>
          <p:nvPr>
            <p:ph type="title"/>
          </p:nvPr>
        </p:nvSpPr>
        <p:spPr>
          <a:xfrm>
            <a:off x="311700" y="288829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Vector Representation of a Line in ℝ</a:t>
            </a:r>
            <a:r>
              <a:rPr lang="en" baseline="30000" dirty="0"/>
              <a:t>3</a:t>
            </a:r>
            <a:endParaRPr baseline="30000" dirty="0"/>
          </a:p>
        </p:txBody>
      </p:sp>
      <p:sp>
        <p:nvSpPr>
          <p:cNvPr id="395" name="Google Shape;395;p43"/>
          <p:cNvSpPr txBox="1">
            <a:spLocks noGrp="1"/>
          </p:cNvSpPr>
          <p:nvPr>
            <p:ph type="body" idx="1"/>
          </p:nvPr>
        </p:nvSpPr>
        <p:spPr>
          <a:xfrm>
            <a:off x="311700" y="1604135"/>
            <a:ext cx="8520600" cy="14193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 dirty="0">
                <a:solidFill>
                  <a:srgbClr val="434343"/>
                </a:solidFill>
              </a:rPr>
              <a:t>The same procedure can be applied to obtain a </a:t>
            </a:r>
            <a:r>
              <a:rPr lang="en" dirty="0">
                <a:solidFill>
                  <a:srgbClr val="0000FF"/>
                </a:solidFill>
              </a:rPr>
              <a:t>vector equation</a:t>
            </a:r>
            <a:r>
              <a:rPr lang="en" dirty="0"/>
              <a:t> </a:t>
            </a:r>
            <a:r>
              <a:rPr lang="en" dirty="0">
                <a:solidFill>
                  <a:srgbClr val="434343"/>
                </a:solidFill>
              </a:rPr>
              <a:t>of a line in ℝ</a:t>
            </a:r>
            <a:r>
              <a:rPr lang="en" baseline="30000" dirty="0">
                <a:solidFill>
                  <a:srgbClr val="434343"/>
                </a:solidFill>
              </a:rPr>
              <a:t>3</a:t>
            </a:r>
            <a:r>
              <a:rPr lang="en" dirty="0">
                <a:solidFill>
                  <a:srgbClr val="434343"/>
                </a:solidFill>
              </a:rPr>
              <a:t>, given by the Cartesian equations: </a:t>
            </a:r>
            <a:endParaRPr dirty="0">
              <a:solidFill>
                <a:srgbClr val="434343"/>
              </a:solidFill>
            </a:endParaRPr>
          </a:p>
        </p:txBody>
      </p:sp>
      <p:sp>
        <p:nvSpPr>
          <p:cNvPr id="396" name="Google Shape;396;p43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48</a:t>
            </a:fld>
            <a:endParaRPr/>
          </a:p>
        </p:txBody>
      </p:sp>
      <p:pic>
        <p:nvPicPr>
          <p:cNvPr id="397" name="Google Shape;397;p43" descr="the fraction with numerator x minus x sub 0 and denominator a. equals the fraction with numerator y minus y sub 0 and denominator b equals the fraction with numerator z minus z sub 0 and denominator c⁣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9950" y="2780928"/>
            <a:ext cx="2783978" cy="5988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8" name="Google Shape;398;p43"/>
          <p:cNvGrpSpPr/>
          <p:nvPr/>
        </p:nvGrpSpPr>
        <p:grpSpPr>
          <a:xfrm>
            <a:off x="5977531" y="3788201"/>
            <a:ext cx="1177075" cy="1247975"/>
            <a:chOff x="6768830" y="2799075"/>
            <a:chExt cx="1177075" cy="1247975"/>
          </a:xfrm>
        </p:grpSpPr>
        <p:cxnSp>
          <p:nvCxnSpPr>
            <p:cNvPr id="399" name="Google Shape;399;p43"/>
            <p:cNvCxnSpPr/>
            <p:nvPr/>
          </p:nvCxnSpPr>
          <p:spPr>
            <a:xfrm>
              <a:off x="7184450" y="3579870"/>
              <a:ext cx="518400" cy="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0" name="Google Shape;400;p43"/>
            <p:cNvCxnSpPr/>
            <p:nvPr/>
          </p:nvCxnSpPr>
          <p:spPr>
            <a:xfrm flipH="1">
              <a:off x="6894309" y="3588095"/>
              <a:ext cx="288000" cy="26340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1" name="Google Shape;401;p43"/>
            <p:cNvCxnSpPr/>
            <p:nvPr/>
          </p:nvCxnSpPr>
          <p:spPr>
            <a:xfrm rot="10800000">
              <a:off x="7192673" y="2962653"/>
              <a:ext cx="0" cy="65010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oval" w="med" len="med"/>
              <a:tailEnd type="triangle" w="med" len="med"/>
            </a:ln>
          </p:spPr>
        </p:cxnSp>
        <p:sp>
          <p:nvSpPr>
            <p:cNvPr id="402" name="Google Shape;402;p43"/>
            <p:cNvSpPr txBox="1"/>
            <p:nvPr/>
          </p:nvSpPr>
          <p:spPr>
            <a:xfrm>
              <a:off x="6768830" y="3721850"/>
              <a:ext cx="3363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100" b="1">
                  <a:solidFill>
                    <a:srgbClr val="43434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x</a:t>
              </a:r>
              <a:endParaRPr sz="1100" b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endParaRPr sz="1100" b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03" name="Google Shape;403;p43"/>
            <p:cNvSpPr txBox="1"/>
            <p:nvPr/>
          </p:nvSpPr>
          <p:spPr>
            <a:xfrm>
              <a:off x="7609605" y="3417275"/>
              <a:ext cx="3363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100" b="1">
                  <a:solidFill>
                    <a:srgbClr val="43434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y</a:t>
              </a:r>
              <a:endParaRPr sz="1100" b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endParaRPr sz="1100" b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04" name="Google Shape;404;p43"/>
            <p:cNvSpPr txBox="1"/>
            <p:nvPr/>
          </p:nvSpPr>
          <p:spPr>
            <a:xfrm>
              <a:off x="6983155" y="2799075"/>
              <a:ext cx="3363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100" b="1">
                  <a:solidFill>
                    <a:srgbClr val="43434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z</a:t>
              </a:r>
              <a:endParaRPr sz="1100" b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endParaRPr sz="1100" b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cxnSp>
        <p:nvCxnSpPr>
          <p:cNvPr id="405" name="Google Shape;405;p43"/>
          <p:cNvCxnSpPr/>
          <p:nvPr/>
        </p:nvCxnSpPr>
        <p:spPr>
          <a:xfrm rot="10800000" flipH="1">
            <a:off x="6495325" y="3379825"/>
            <a:ext cx="1294200" cy="97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406" name="Google Shape;406;p43"/>
          <p:cNvSpPr txBox="1"/>
          <p:nvPr/>
        </p:nvSpPr>
        <p:spPr>
          <a:xfrm>
            <a:off x="311700" y="3563775"/>
            <a:ext cx="4757700" cy="23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Exercise: Draw the projections of the line L onto the coordinate planes and state their respective equations. (Hence, understand the Cartesian equation of a line in ℝ</a:t>
            </a:r>
            <a:r>
              <a:rPr lang="en" sz="2400" baseline="30000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lang="en" sz="2400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.)</a:t>
            </a:r>
            <a:endParaRPr sz="2400" dirty="0">
              <a:solidFill>
                <a:srgbClr val="0B539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7" name="Google Shape;407;p43"/>
          <p:cNvSpPr txBox="1"/>
          <p:nvPr/>
        </p:nvSpPr>
        <p:spPr>
          <a:xfrm>
            <a:off x="7722050" y="3200425"/>
            <a:ext cx="388800" cy="3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100" b="1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L</a:t>
            </a:r>
            <a:endParaRPr sz="1100" b="1" baseline="-25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sz="1100" b="1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3757E4-678C-E896-DB6F-6118A4DAA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AECB-2000-4191-92DD-345791BD487C}" type="slidenum">
              <a:rPr lang="en-SG" smtClean="0"/>
              <a:t>49</a:t>
            </a:fld>
            <a:endParaRPr lang="en-SG"/>
          </a:p>
        </p:txBody>
      </p:sp>
      <p:sp>
        <p:nvSpPr>
          <p:cNvPr id="5" name="Google Shape;394;p43">
            <a:extLst>
              <a:ext uri="{FF2B5EF4-FFF2-40B4-BE49-F238E27FC236}">
                <a16:creationId xmlns:a16="http://schemas.microsoft.com/office/drawing/2014/main" id="{AA955D11-114D-064C-86FC-EAF2690750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363" y="357188"/>
            <a:ext cx="6929437" cy="50006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Vector Representation of a Line in ℝ</a:t>
            </a:r>
            <a:r>
              <a:rPr lang="en" baseline="30000" dirty="0"/>
              <a:t>3</a:t>
            </a:r>
            <a:endParaRPr baseline="300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5F6A029-2A50-5391-5E3B-F11F64CD0740}"/>
              </a:ext>
            </a:extLst>
          </p:cNvPr>
          <p:cNvGraphicFramePr>
            <a:graphicFrameLocks noGrp="1" noChangeAspect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813551528"/>
              </p:ext>
            </p:extLst>
          </p:nvPr>
        </p:nvGraphicFramePr>
        <p:xfrm>
          <a:off x="2572410" y="2435151"/>
          <a:ext cx="3384375" cy="3921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62040" imgH="1815840" progId="Equation.DSMT4">
                  <p:embed/>
                </p:oleObj>
              </mc:Choice>
              <mc:Fallback>
                <p:oleObj name="Equation" r:id="rId2" imgW="1562040" imgH="1815840" progId="Equation.DSMT4">
                  <p:embed/>
                  <p:pic>
                    <p:nvPicPr>
                      <p:cNvPr id="6" name="Content Placeholder 5">
                        <a:extLst>
                          <a:ext uri="{FF2B5EF4-FFF2-40B4-BE49-F238E27FC236}">
                            <a16:creationId xmlns:a16="http://schemas.microsoft.com/office/drawing/2014/main" id="{65F6A029-2A50-5391-5E3B-F11F64CD07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72410" y="2435151"/>
                        <a:ext cx="3384375" cy="3921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Google Shape;406;p43">
            <a:extLst>
              <a:ext uri="{FF2B5EF4-FFF2-40B4-BE49-F238E27FC236}">
                <a16:creationId xmlns:a16="http://schemas.microsoft.com/office/drawing/2014/main" id="{74651530-B0C9-D99A-B5D5-63B07BBAA41B}"/>
              </a:ext>
            </a:extLst>
          </p:cNvPr>
          <p:cNvSpPr txBox="1"/>
          <p:nvPr/>
        </p:nvSpPr>
        <p:spPr>
          <a:xfrm>
            <a:off x="325406" y="1116000"/>
            <a:ext cx="7846994" cy="23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Exercise: Draw the projections of the line L onto the coordinate planes and state their respective equations. (Hence, understand the Cartesian equation of a line in ℝ</a:t>
            </a:r>
            <a:r>
              <a:rPr lang="en" sz="2400" baseline="30000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lang="en" sz="2400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.)</a:t>
            </a:r>
            <a:endParaRPr sz="2400" dirty="0">
              <a:solidFill>
                <a:srgbClr val="0B539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756567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isContent="1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4"/>
          <p:cNvSpPr txBox="1">
            <a:spLocks noGrp="1"/>
          </p:cNvSpPr>
          <p:nvPr>
            <p:ph type="title"/>
          </p:nvPr>
        </p:nvSpPr>
        <p:spPr>
          <a:xfrm>
            <a:off x="211313" y="29500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Vector Representation of a Line in ℝ</a:t>
            </a:r>
            <a:r>
              <a:rPr lang="en" baseline="30000" dirty="0"/>
              <a:t>3</a:t>
            </a:r>
            <a:endParaRPr baseline="30000" dirty="0"/>
          </a:p>
        </p:txBody>
      </p:sp>
      <p:sp>
        <p:nvSpPr>
          <p:cNvPr id="413" name="Google Shape;413;p44"/>
          <p:cNvSpPr txBox="1">
            <a:spLocks noGrp="1"/>
          </p:cNvSpPr>
          <p:nvPr>
            <p:ph type="body" idx="1"/>
          </p:nvPr>
        </p:nvSpPr>
        <p:spPr>
          <a:xfrm>
            <a:off x="311700" y="1345729"/>
            <a:ext cx="8520600" cy="901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 dirty="0">
                <a:solidFill>
                  <a:srgbClr val="0B5394"/>
                </a:solidFill>
              </a:rPr>
              <a:t>Exercise: Using the same procedure for a line in ℝ</a:t>
            </a:r>
            <a:r>
              <a:rPr lang="en" baseline="30000" dirty="0">
                <a:solidFill>
                  <a:srgbClr val="0B5394"/>
                </a:solidFill>
              </a:rPr>
              <a:t>2</a:t>
            </a:r>
            <a:r>
              <a:rPr lang="en" dirty="0">
                <a:solidFill>
                  <a:srgbClr val="0B5394"/>
                </a:solidFill>
              </a:rPr>
              <a:t>, define the vector equation of a line L</a:t>
            </a:r>
            <a:r>
              <a:rPr lang="en" baseline="-25000" dirty="0">
                <a:solidFill>
                  <a:srgbClr val="0B5394"/>
                </a:solidFill>
              </a:rPr>
              <a:t>2</a:t>
            </a:r>
            <a:r>
              <a:rPr lang="en" dirty="0">
                <a:solidFill>
                  <a:srgbClr val="0B5394"/>
                </a:solidFill>
              </a:rPr>
              <a:t> defined below. Sketch it on the graph.</a:t>
            </a:r>
            <a:endParaRPr dirty="0">
              <a:solidFill>
                <a:srgbClr val="0B5394"/>
              </a:solidFill>
            </a:endParaRPr>
          </a:p>
        </p:txBody>
      </p:sp>
      <p:sp>
        <p:nvSpPr>
          <p:cNvPr id="414" name="Google Shape;414;p44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50</a:t>
            </a:fld>
            <a:endParaRPr/>
          </a:p>
        </p:txBody>
      </p:sp>
      <p:grpSp>
        <p:nvGrpSpPr>
          <p:cNvPr id="415" name="Google Shape;415;p44"/>
          <p:cNvGrpSpPr/>
          <p:nvPr/>
        </p:nvGrpSpPr>
        <p:grpSpPr>
          <a:xfrm>
            <a:off x="5936406" y="4272501"/>
            <a:ext cx="1177075" cy="1247975"/>
            <a:chOff x="6768830" y="2799075"/>
            <a:chExt cx="1177075" cy="1247975"/>
          </a:xfrm>
        </p:grpSpPr>
        <p:cxnSp>
          <p:nvCxnSpPr>
            <p:cNvPr id="416" name="Google Shape;416;p44"/>
            <p:cNvCxnSpPr/>
            <p:nvPr/>
          </p:nvCxnSpPr>
          <p:spPr>
            <a:xfrm>
              <a:off x="7184450" y="3579870"/>
              <a:ext cx="518400" cy="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17" name="Google Shape;417;p44"/>
            <p:cNvCxnSpPr/>
            <p:nvPr/>
          </p:nvCxnSpPr>
          <p:spPr>
            <a:xfrm flipH="1">
              <a:off x="6894309" y="3588095"/>
              <a:ext cx="288000" cy="26340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18" name="Google Shape;418;p44"/>
            <p:cNvCxnSpPr/>
            <p:nvPr/>
          </p:nvCxnSpPr>
          <p:spPr>
            <a:xfrm rot="10800000">
              <a:off x="7192673" y="2962653"/>
              <a:ext cx="0" cy="65010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oval" w="med" len="med"/>
              <a:tailEnd type="triangle" w="med" len="med"/>
            </a:ln>
          </p:spPr>
        </p:cxnSp>
        <p:sp>
          <p:nvSpPr>
            <p:cNvPr id="419" name="Google Shape;419;p44"/>
            <p:cNvSpPr txBox="1"/>
            <p:nvPr/>
          </p:nvSpPr>
          <p:spPr>
            <a:xfrm>
              <a:off x="6768830" y="3721850"/>
              <a:ext cx="3363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100" b="1">
                  <a:solidFill>
                    <a:srgbClr val="43434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x</a:t>
              </a:r>
              <a:endParaRPr sz="1100" b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endParaRPr sz="1100" b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20" name="Google Shape;420;p44"/>
            <p:cNvSpPr txBox="1"/>
            <p:nvPr/>
          </p:nvSpPr>
          <p:spPr>
            <a:xfrm>
              <a:off x="7609605" y="3417275"/>
              <a:ext cx="3363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100" b="1">
                  <a:solidFill>
                    <a:srgbClr val="43434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y</a:t>
              </a:r>
              <a:endParaRPr sz="1100" b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endParaRPr sz="1100" b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21" name="Google Shape;421;p44"/>
            <p:cNvSpPr txBox="1"/>
            <p:nvPr/>
          </p:nvSpPr>
          <p:spPr>
            <a:xfrm>
              <a:off x="6983155" y="2799075"/>
              <a:ext cx="3363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100" b="1">
                  <a:solidFill>
                    <a:srgbClr val="43434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z</a:t>
              </a:r>
              <a:endParaRPr sz="1100" b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endParaRPr sz="1100" b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422" name="Google Shape;422;p44"/>
          <p:cNvSpPr txBox="1"/>
          <p:nvPr/>
        </p:nvSpPr>
        <p:spPr>
          <a:xfrm>
            <a:off x="311700" y="3563775"/>
            <a:ext cx="4757700" cy="23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>
              <a:solidFill>
                <a:srgbClr val="0B539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23" name="Google Shape;423;p44" descr="the fraction with numerator x minus 1 and denominator 2 equals y plus 1 equals z⁣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5400" y="2911225"/>
            <a:ext cx="2374552" cy="6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93072F2-FBE0-4DDC-08C3-E0E126E9AB3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4134" y="1902584"/>
                <a:ext cx="8520600" cy="4587992"/>
              </a:xfrm>
            </p:spPr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pc="-30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SG" sz="2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𝑥</m:t>
                          </m:r>
                          <m:r>
                            <a:rPr lang="en-SG" sz="2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−1</m:t>
                          </m:r>
                        </m:num>
                        <m:den>
                          <m:r>
                            <a:rPr lang="en-SG" sz="2800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2</m:t>
                          </m:r>
                        </m:den>
                      </m:f>
                      <m:r>
                        <a:rPr lang="en-SG" sz="2800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>
                        <a:rPr lang="en-SG" sz="2800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𝑦</m:t>
                      </m:r>
                      <m:r>
                        <a:rPr lang="en-SG" sz="2800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+1=</m:t>
                      </m:r>
                      <m:r>
                        <a:rPr lang="en-SG" sz="2800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𝑧</m:t>
                      </m:r>
                    </m:oMath>
                  </m:oMathPara>
                </a14:m>
                <a:endParaRPr lang="en-US" sz="28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114300" indent="0">
                  <a:buNone/>
                </a:pPr>
                <a:r>
                  <a:rPr lang="en-US" spc="-30" dirty="0">
                    <a:latin typeface="Arial" panose="020B0604020202020204" pitchFamily="34" charset="0"/>
                    <a:ea typeface="SimSun" panose="02010600030101010101" pitchFamily="2" charset="-122"/>
                  </a:rPr>
                  <a:t>Parametrize: Let </a:t>
                </a:r>
                <a:endParaRPr lang="en-US" sz="28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93072F2-FBE0-4DDC-08C3-E0E126E9AB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4134" y="1902584"/>
                <a:ext cx="8520600" cy="4587992"/>
              </a:xfrm>
              <a:blipFill>
                <a:blip r:embed="rId2"/>
                <a:stretch>
                  <a:fillRect l="-14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F3575-9FD1-D6C0-E28E-E17DDEA74F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51</a:t>
            </a:fld>
            <a:endParaRPr lang="en"/>
          </a:p>
        </p:txBody>
      </p:sp>
      <p:sp>
        <p:nvSpPr>
          <p:cNvPr id="5" name="Google Shape;412;p44">
            <a:extLst>
              <a:ext uri="{FF2B5EF4-FFF2-40B4-BE49-F238E27FC236}">
                <a16:creationId xmlns:a16="http://schemas.microsoft.com/office/drawing/2014/main" id="{2673193F-C15D-9D74-A82F-C53B352BCA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1313" y="29500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Vector Representation of a Line in ℝ</a:t>
            </a:r>
            <a:r>
              <a:rPr lang="en" baseline="30000" dirty="0"/>
              <a:t>3</a:t>
            </a:r>
            <a:endParaRPr baseline="30000" dirty="0"/>
          </a:p>
        </p:txBody>
      </p:sp>
      <p:sp>
        <p:nvSpPr>
          <p:cNvPr id="6" name="Google Shape;413;p44">
            <a:extLst>
              <a:ext uri="{FF2B5EF4-FFF2-40B4-BE49-F238E27FC236}">
                <a16:creationId xmlns:a16="http://schemas.microsoft.com/office/drawing/2014/main" id="{CA9C706C-57AF-5BA3-F9D7-19F04273C12C}"/>
              </a:ext>
            </a:extLst>
          </p:cNvPr>
          <p:cNvSpPr txBox="1">
            <a:spLocks/>
          </p:cNvSpPr>
          <p:nvPr/>
        </p:nvSpPr>
        <p:spPr>
          <a:xfrm>
            <a:off x="0" y="934392"/>
            <a:ext cx="8832300" cy="901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457200" lvl="0" indent="-34290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Arial" panose="020B0604020202020204" pitchFamily="34" charset="0"/>
              <a:buChar char="●"/>
              <a:defRPr sz="28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1pPr>
            <a:lvl2pPr marL="914400" lvl="1" indent="-317500" algn="l" defTabSz="914400" rtl="0" eaLnBrk="1" latinLnBrk="0" hangingPunct="1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 pitchFamily="34" charset="0"/>
              <a:buChar char="○"/>
              <a:defRPr sz="24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2pPr>
            <a:lvl3pPr marL="1371600" lvl="2" indent="-317500" algn="l" defTabSz="914400" rtl="0" eaLnBrk="1" latinLnBrk="0" hangingPunct="1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 pitchFamily="34" charset="0"/>
              <a:buChar char="■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3pPr>
            <a:lvl4pPr marL="1828800" lvl="3" indent="-317500" algn="l" defTabSz="914400" rtl="0" eaLnBrk="1" latinLnBrk="0" hangingPunct="1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 pitchFamily="34" charset="0"/>
              <a:buChar char="●"/>
              <a:defRPr sz="18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4pPr>
            <a:lvl5pPr marL="2286000" lvl="4" indent="-317500" algn="l" defTabSz="914400" rtl="0" eaLnBrk="1" latinLnBrk="0" hangingPunct="1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 pitchFamily="34" charset="0"/>
              <a:buChar char="○"/>
              <a:defRPr sz="18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5pPr>
            <a:lvl6pPr marL="2743200" lvl="5" indent="-317500" algn="l" defTabSz="914400" rtl="0" eaLnBrk="1" latinLnBrk="0" hangingPunct="1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 pitchFamily="34" charset="0"/>
              <a:buChar char="■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6pPr>
            <a:lvl7pPr marL="3200400" lvl="6" indent="-317500" algn="l" defTabSz="914400" rtl="0" eaLnBrk="1" latinLnBrk="0" hangingPunct="1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 pitchFamily="34" charset="0"/>
              <a:buChar char="●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7pPr>
            <a:lvl8pPr marL="3657600" lvl="7" indent="-317500" algn="l" defTabSz="914400" rtl="0" eaLnBrk="1" latinLnBrk="0" hangingPunct="1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 panose="020B0604020202020204" pitchFamily="34" charset="0"/>
              <a:buChar char="○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8pPr>
            <a:lvl9pPr marL="4114800" lvl="8" indent="-317500" algn="l" defTabSz="914400" rtl="0" eaLnBrk="1" latinLnBrk="0" hangingPunct="1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Arial" panose="020B0604020202020204" pitchFamily="34" charset="0"/>
              <a:buChar char="■"/>
              <a:defRPr sz="2000" kern="1200">
                <a:solidFill>
                  <a:srgbClr val="43434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600"/>
              </a:spcAft>
              <a:buFont typeface="Arial" panose="020B0604020202020204" pitchFamily="34" charset="0"/>
              <a:buNone/>
            </a:pPr>
            <a:r>
              <a:rPr lang="en-US" sz="2400">
                <a:solidFill>
                  <a:srgbClr val="0B5394"/>
                </a:solidFill>
              </a:rPr>
              <a:t>Exercise: Using the same procedure for a line in ℝ</a:t>
            </a:r>
            <a:r>
              <a:rPr lang="en-US" sz="2400" baseline="30000">
                <a:solidFill>
                  <a:srgbClr val="0B5394"/>
                </a:solidFill>
              </a:rPr>
              <a:t>2</a:t>
            </a:r>
            <a:r>
              <a:rPr lang="en-US" sz="2400">
                <a:solidFill>
                  <a:srgbClr val="0B5394"/>
                </a:solidFill>
              </a:rPr>
              <a:t>, define the vector equation of a line L</a:t>
            </a:r>
            <a:r>
              <a:rPr lang="en-US" sz="2400" baseline="-25000">
                <a:solidFill>
                  <a:srgbClr val="0B5394"/>
                </a:solidFill>
              </a:rPr>
              <a:t>2</a:t>
            </a:r>
            <a:r>
              <a:rPr lang="en-US" sz="2400">
                <a:solidFill>
                  <a:srgbClr val="0B5394"/>
                </a:solidFill>
              </a:rPr>
              <a:t> defined below. Sketch it on the graph.</a:t>
            </a:r>
            <a:endParaRPr lang="en-US" sz="2400" dirty="0">
              <a:solidFill>
                <a:srgbClr val="0B5394"/>
              </a:solidFill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DA5348E-14DC-AC58-147A-74D0BB7CD5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0724436"/>
              </p:ext>
            </p:extLst>
          </p:nvPr>
        </p:nvGraphicFramePr>
        <p:xfrm>
          <a:off x="1331640" y="3228202"/>
          <a:ext cx="3384376" cy="3054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55520" imgH="1765080" progId="Equation.DSMT4">
                  <p:embed/>
                </p:oleObj>
              </mc:Choice>
              <mc:Fallback>
                <p:oleObj name="Equation" r:id="rId3" imgW="1955520" imgH="176508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BDA5348E-14DC-AC58-147A-74D0BB7CD5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1640" y="3228202"/>
                        <a:ext cx="3384376" cy="30547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321F226F-D70B-4A00-A41E-E1E2CFFFA7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574" y="2780928"/>
            <a:ext cx="3874339" cy="284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8415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5"/>
          <p:cNvSpPr txBox="1">
            <a:spLocks noGrp="1"/>
          </p:cNvSpPr>
          <p:nvPr>
            <p:ph type="title"/>
          </p:nvPr>
        </p:nvSpPr>
        <p:spPr>
          <a:xfrm>
            <a:off x="226208" y="123686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Vector Representation of a Plane in ℝ</a:t>
            </a:r>
            <a:r>
              <a:rPr lang="en" baseline="30000" dirty="0"/>
              <a:t>3</a:t>
            </a:r>
            <a:r>
              <a:rPr lang="en" dirty="0"/>
              <a:t> </a:t>
            </a:r>
            <a:endParaRPr dirty="0"/>
          </a:p>
        </p:txBody>
      </p:sp>
      <p:sp>
        <p:nvSpPr>
          <p:cNvPr id="429" name="Google Shape;429;p45"/>
          <p:cNvSpPr txBox="1">
            <a:spLocks noGrp="1"/>
          </p:cNvSpPr>
          <p:nvPr>
            <p:ph type="body" idx="1"/>
          </p:nvPr>
        </p:nvSpPr>
        <p:spPr>
          <a:xfrm>
            <a:off x="279133" y="1577139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rgbClr val="434343"/>
                </a:solidFill>
              </a:rPr>
              <a:t>A plane in ℝ</a:t>
            </a:r>
            <a:r>
              <a:rPr lang="en" baseline="30000" dirty="0">
                <a:solidFill>
                  <a:srgbClr val="434343"/>
                </a:solidFill>
              </a:rPr>
              <a:t>3</a:t>
            </a:r>
            <a:r>
              <a:rPr lang="en" dirty="0">
                <a:solidFill>
                  <a:srgbClr val="434343"/>
                </a:solidFill>
              </a:rPr>
              <a:t> is defined by the Cartesian equation below:</a:t>
            </a:r>
            <a:endParaRPr dirty="0">
              <a:solidFill>
                <a:srgbClr val="434343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 </a:t>
            </a:r>
            <a:endParaRPr dirty="0"/>
          </a:p>
        </p:txBody>
      </p:sp>
      <p:sp>
        <p:nvSpPr>
          <p:cNvPr id="430" name="Google Shape;430;p45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52</a:t>
            </a:fld>
            <a:endParaRPr/>
          </a:p>
        </p:txBody>
      </p:sp>
      <p:pic>
        <p:nvPicPr>
          <p:cNvPr id="431" name="Google Shape;431;p45" descr="a. x plus b y plus c z equals k⁣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6816" y="2394845"/>
            <a:ext cx="2177041" cy="289954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5"/>
          <p:cNvSpPr txBox="1"/>
          <p:nvPr/>
        </p:nvSpPr>
        <p:spPr>
          <a:xfrm>
            <a:off x="311700" y="3066750"/>
            <a:ext cx="4757700" cy="26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where a, b, c and k are constants.</a:t>
            </a:r>
            <a:endParaRPr sz="2400"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r>
              <a:rPr lang="en" sz="2400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Exercise: From the above equation, define z = f(x,y) and explain the graphical meaning. (Hence, understand the Cartesian equation of a plane in ℝ</a:t>
            </a:r>
            <a:r>
              <a:rPr lang="en" sz="2400" baseline="30000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lang="en" sz="2400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.)</a:t>
            </a:r>
            <a:endParaRPr sz="2400" dirty="0">
              <a:solidFill>
                <a:srgbClr val="0B539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433" name="Google Shape;433;p45"/>
          <p:cNvGrpSpPr/>
          <p:nvPr/>
        </p:nvGrpSpPr>
        <p:grpSpPr>
          <a:xfrm>
            <a:off x="5936406" y="4196301"/>
            <a:ext cx="1177075" cy="1247975"/>
            <a:chOff x="6768830" y="2799075"/>
            <a:chExt cx="1177075" cy="1247975"/>
          </a:xfrm>
        </p:grpSpPr>
        <p:cxnSp>
          <p:nvCxnSpPr>
            <p:cNvPr id="434" name="Google Shape;434;p45"/>
            <p:cNvCxnSpPr/>
            <p:nvPr/>
          </p:nvCxnSpPr>
          <p:spPr>
            <a:xfrm>
              <a:off x="7184450" y="3579870"/>
              <a:ext cx="518400" cy="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35" name="Google Shape;435;p45"/>
            <p:cNvCxnSpPr/>
            <p:nvPr/>
          </p:nvCxnSpPr>
          <p:spPr>
            <a:xfrm flipH="1">
              <a:off x="6894309" y="3588095"/>
              <a:ext cx="288000" cy="26340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36" name="Google Shape;436;p45"/>
            <p:cNvCxnSpPr/>
            <p:nvPr/>
          </p:nvCxnSpPr>
          <p:spPr>
            <a:xfrm rot="10800000">
              <a:off x="7192673" y="2962653"/>
              <a:ext cx="0" cy="65010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oval" w="med" len="med"/>
              <a:tailEnd type="triangle" w="med" len="med"/>
            </a:ln>
          </p:spPr>
        </p:cxnSp>
        <p:sp>
          <p:nvSpPr>
            <p:cNvPr id="437" name="Google Shape;437;p45"/>
            <p:cNvSpPr txBox="1"/>
            <p:nvPr/>
          </p:nvSpPr>
          <p:spPr>
            <a:xfrm>
              <a:off x="6768830" y="3721850"/>
              <a:ext cx="3363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100" b="1">
                  <a:solidFill>
                    <a:srgbClr val="43434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x</a:t>
              </a:r>
              <a:endParaRPr sz="1100" b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endParaRPr sz="1100" b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38" name="Google Shape;438;p45"/>
            <p:cNvSpPr txBox="1"/>
            <p:nvPr/>
          </p:nvSpPr>
          <p:spPr>
            <a:xfrm>
              <a:off x="7609605" y="3417275"/>
              <a:ext cx="3363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100" b="1">
                  <a:solidFill>
                    <a:srgbClr val="43434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y</a:t>
              </a:r>
              <a:endParaRPr sz="1100" b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endParaRPr sz="1100" b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39" name="Google Shape;439;p45"/>
            <p:cNvSpPr txBox="1"/>
            <p:nvPr/>
          </p:nvSpPr>
          <p:spPr>
            <a:xfrm>
              <a:off x="6983155" y="2799075"/>
              <a:ext cx="3363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100" b="1">
                  <a:solidFill>
                    <a:srgbClr val="434343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z</a:t>
              </a:r>
              <a:endParaRPr sz="1100" b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endParaRPr sz="1100" b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440" name="Google Shape;440;p45"/>
          <p:cNvGrpSpPr/>
          <p:nvPr/>
        </p:nvGrpSpPr>
        <p:grpSpPr>
          <a:xfrm>
            <a:off x="5463299" y="2370300"/>
            <a:ext cx="2964063" cy="2113200"/>
            <a:chOff x="5868325" y="2208276"/>
            <a:chExt cx="2765500" cy="2113200"/>
          </a:xfrm>
        </p:grpSpPr>
        <p:sp>
          <p:nvSpPr>
            <p:cNvPr id="441" name="Google Shape;441;p45"/>
            <p:cNvSpPr/>
            <p:nvPr/>
          </p:nvSpPr>
          <p:spPr>
            <a:xfrm rot="-8948164">
              <a:off x="5889546" y="2847659"/>
              <a:ext cx="2723056" cy="834432"/>
            </a:xfrm>
            <a:prstGeom prst="flowChartInputOutpu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cxnSp>
          <p:nvCxnSpPr>
            <p:cNvPr id="442" name="Google Shape;442;p45"/>
            <p:cNvCxnSpPr/>
            <p:nvPr/>
          </p:nvCxnSpPr>
          <p:spPr>
            <a:xfrm>
              <a:off x="5875925" y="2927600"/>
              <a:ext cx="1868100" cy="11109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3" name="Google Shape;443;p45"/>
            <p:cNvCxnSpPr/>
            <p:nvPr/>
          </p:nvCxnSpPr>
          <p:spPr>
            <a:xfrm flipH="1">
              <a:off x="7743945" y="3610655"/>
              <a:ext cx="888900" cy="4362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44" name="Google Shape;444;p45"/>
          <p:cNvSpPr txBox="1"/>
          <p:nvPr/>
        </p:nvSpPr>
        <p:spPr>
          <a:xfrm>
            <a:off x="6648048" y="5186285"/>
            <a:ext cx="1188052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latin typeface="Proxima Nova"/>
                <a:ea typeface="Proxima Nova"/>
                <a:cs typeface="Proxima Nova"/>
                <a:sym typeface="Proxima Nova"/>
              </a:rPr>
              <a:t>(x, y)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445" name="Google Shape;445;p45"/>
          <p:cNvCxnSpPr/>
          <p:nvPr/>
        </p:nvCxnSpPr>
        <p:spPr>
          <a:xfrm rot="10800000">
            <a:off x="6673775" y="3426900"/>
            <a:ext cx="4200" cy="1937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oval" w="med" len="med"/>
            <a:tailEnd type="oval" w="med" len="med"/>
          </a:ln>
        </p:spPr>
      </p:cxnSp>
      <p:sp>
        <p:nvSpPr>
          <p:cNvPr id="446" name="Google Shape;446;p45"/>
          <p:cNvSpPr txBox="1"/>
          <p:nvPr/>
        </p:nvSpPr>
        <p:spPr>
          <a:xfrm>
            <a:off x="6006604" y="3129810"/>
            <a:ext cx="200223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latin typeface="Proxima Nova"/>
                <a:ea typeface="Proxima Nova"/>
                <a:cs typeface="Proxima Nova"/>
                <a:sym typeface="Proxima Nova"/>
              </a:rPr>
              <a:t>(x, y, z = f(x, y))</a:t>
            </a:r>
            <a:endParaRPr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922CD612-7D0F-1B49-BD44-1DA542ABE1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7516960"/>
              </p:ext>
            </p:extLst>
          </p:nvPr>
        </p:nvGraphicFramePr>
        <p:xfrm>
          <a:off x="669925" y="5862638"/>
          <a:ext cx="3557588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15840" imgH="393480" progId="Equation.DSMT4">
                  <p:embed/>
                </p:oleObj>
              </mc:Choice>
              <mc:Fallback>
                <p:oleObj name="Equation" r:id="rId4" imgW="1815840" imgH="39348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922CD612-7D0F-1B49-BD44-1DA542ABE1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9925" y="5862638"/>
                        <a:ext cx="3557588" cy="769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6"/>
          <p:cNvSpPr txBox="1">
            <a:spLocks noGrp="1"/>
          </p:cNvSpPr>
          <p:nvPr>
            <p:ph type="body" idx="1"/>
          </p:nvPr>
        </p:nvSpPr>
        <p:spPr>
          <a:xfrm>
            <a:off x="311700" y="987532"/>
            <a:ext cx="8520600" cy="798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dirty="0">
                <a:solidFill>
                  <a:srgbClr val="434343"/>
                </a:solidFill>
              </a:rPr>
              <a:t>For a plane P in ℝ</a:t>
            </a:r>
            <a:r>
              <a:rPr lang="en" baseline="30000" dirty="0">
                <a:solidFill>
                  <a:srgbClr val="434343"/>
                </a:solidFill>
              </a:rPr>
              <a:t>3</a:t>
            </a:r>
            <a:r>
              <a:rPr lang="en" dirty="0">
                <a:solidFill>
                  <a:srgbClr val="434343"/>
                </a:solidFill>
              </a:rPr>
              <a:t> defined by </a:t>
            </a:r>
            <a:r>
              <a:rPr lang="en" i="1" dirty="0">
                <a:solidFill>
                  <a:srgbClr val="434343"/>
                </a:solidFill>
              </a:rPr>
              <a:t>ax+by+cz=k</a:t>
            </a:r>
            <a:r>
              <a:rPr lang="en" dirty="0">
                <a:solidFill>
                  <a:srgbClr val="434343"/>
                </a:solidFill>
              </a:rPr>
              <a:t>, a</a:t>
            </a:r>
            <a:r>
              <a:rPr lang="en" dirty="0"/>
              <a:t> </a:t>
            </a:r>
            <a:r>
              <a:rPr lang="en" dirty="0">
                <a:solidFill>
                  <a:srgbClr val="0000FF"/>
                </a:solidFill>
              </a:rPr>
              <a:t>vector equation</a:t>
            </a:r>
            <a:r>
              <a:rPr lang="en" dirty="0"/>
              <a:t> </a:t>
            </a:r>
            <a:r>
              <a:rPr lang="en" dirty="0">
                <a:solidFill>
                  <a:srgbClr val="434343"/>
                </a:solidFill>
              </a:rPr>
              <a:t>in the form below can be used to describe the same plane:</a:t>
            </a:r>
            <a:endParaRPr dirty="0">
              <a:solidFill>
                <a:srgbClr val="434343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endParaRPr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452" name="Google Shape;452;p46"/>
          <p:cNvSpPr txBox="1">
            <a:spLocks noGrp="1"/>
          </p:cNvSpPr>
          <p:nvPr>
            <p:ph type="title"/>
          </p:nvPr>
        </p:nvSpPr>
        <p:spPr>
          <a:xfrm>
            <a:off x="311700" y="200849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Vector Representation of a Plane in ℝ</a:t>
            </a:r>
            <a:r>
              <a:rPr lang="en" baseline="30000" dirty="0"/>
              <a:t>3</a:t>
            </a:r>
            <a:r>
              <a:rPr lang="en" dirty="0"/>
              <a:t> </a:t>
            </a:r>
            <a:endParaRPr dirty="0"/>
          </a:p>
        </p:txBody>
      </p:sp>
      <p:sp>
        <p:nvSpPr>
          <p:cNvPr id="453" name="Google Shape;453;p46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53</a:t>
            </a:fld>
            <a:endParaRPr/>
          </a:p>
        </p:txBody>
      </p:sp>
      <p:sp>
        <p:nvSpPr>
          <p:cNvPr id="465" name="Google Shape;465;p46"/>
          <p:cNvSpPr txBox="1"/>
          <p:nvPr/>
        </p:nvSpPr>
        <p:spPr>
          <a:xfrm>
            <a:off x="276048" y="2509094"/>
            <a:ext cx="4469700" cy="25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where:</a:t>
            </a:r>
            <a:endParaRPr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r>
              <a:rPr lang="en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	</a:t>
            </a:r>
            <a:r>
              <a:rPr lang="en" b="1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lang="en" b="1" baseline="-25000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" dirty="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 is a position vector to any point on P,</a:t>
            </a:r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457200"/>
            <a:r>
              <a:rPr lang="en" b="1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v </a:t>
            </a:r>
            <a:r>
              <a:rPr lang="en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and</a:t>
            </a:r>
            <a:r>
              <a:rPr lang="en" b="1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 u </a:t>
            </a:r>
            <a:r>
              <a:rPr lang="en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are any 2 </a:t>
            </a:r>
            <a:r>
              <a:rPr lang="en" u="sng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non-parallel</a:t>
            </a:r>
            <a:r>
              <a:rPr lang="en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 vectors on P and</a:t>
            </a:r>
            <a:endParaRPr dirty="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457200"/>
            <a:r>
              <a:rPr lang="en" b="1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t </a:t>
            </a:r>
            <a:r>
              <a:rPr lang="en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and</a:t>
            </a:r>
            <a:r>
              <a:rPr lang="en" b="1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 s</a:t>
            </a:r>
            <a:r>
              <a:rPr lang="en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 are scalars.</a:t>
            </a:r>
            <a:endParaRPr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r>
              <a:rPr lang="en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When t and s are varied, vector </a:t>
            </a:r>
            <a:r>
              <a:rPr lang="en" b="1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lang="en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 is able to define all points on plane P, hence a vector equation.</a:t>
            </a:r>
            <a:endParaRPr dirty="0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r>
              <a:rPr lang="en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Note that </a:t>
            </a:r>
            <a:r>
              <a:rPr lang="en" b="1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lang="en" b="1" baseline="-25000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lang="en" b="1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r>
              <a:rPr lang="en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 and </a:t>
            </a:r>
            <a:r>
              <a:rPr lang="en" b="1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u</a:t>
            </a:r>
            <a:r>
              <a:rPr lang="en" dirty="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 are not unique. </a:t>
            </a:r>
            <a:endParaRPr dirty="0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0B5394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r>
              <a:rPr lang="en" dirty="0">
                <a:solidFill>
                  <a:srgbClr val="0B5394"/>
                </a:solidFill>
                <a:latin typeface="Proxima Nova"/>
                <a:ea typeface="Proxima Nova"/>
                <a:cs typeface="Proxima Nova"/>
                <a:sym typeface="Proxima Nova"/>
              </a:rPr>
              <a:t>Exercise: Define and draw another vector equation on the graph.</a:t>
            </a:r>
            <a:endParaRPr dirty="0">
              <a:solidFill>
                <a:srgbClr val="0B5394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endParaRPr dirty="0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66" name="Google Shape;466;p46" descr="r right-arrow equals r sub 0 right-arrow plus t v right-arrow plus s u right-arrow⁣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289" y="2015250"/>
            <a:ext cx="1582655" cy="333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533892-AFF5-5666-019C-97C7A1C75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031" y="2244945"/>
            <a:ext cx="3993777" cy="3710149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7"/>
          <p:cNvSpPr txBox="1">
            <a:spLocks noGrp="1"/>
          </p:cNvSpPr>
          <p:nvPr>
            <p:ph type="title"/>
          </p:nvPr>
        </p:nvSpPr>
        <p:spPr>
          <a:xfrm>
            <a:off x="226208" y="18864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Vector Representation of a Plane in ℝ</a:t>
            </a:r>
            <a:r>
              <a:rPr lang="en" baseline="30000" dirty="0"/>
              <a:t>3</a:t>
            </a:r>
            <a:r>
              <a:rPr lang="en" dirty="0"/>
              <a:t> </a:t>
            </a:r>
            <a:endParaRPr dirty="0"/>
          </a:p>
        </p:txBody>
      </p:sp>
      <p:sp>
        <p:nvSpPr>
          <p:cNvPr id="480" name="Google Shape;480;p47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54</a:t>
            </a:fld>
            <a:endParaRPr/>
          </a:p>
        </p:txBody>
      </p:sp>
      <p:sp>
        <p:nvSpPr>
          <p:cNvPr id="481" name="Google Shape;481;p47"/>
          <p:cNvSpPr txBox="1">
            <a:spLocks noGrp="1"/>
          </p:cNvSpPr>
          <p:nvPr>
            <p:ph type="body" idx="1"/>
          </p:nvPr>
        </p:nvSpPr>
        <p:spPr>
          <a:xfrm>
            <a:off x="226208" y="1196752"/>
            <a:ext cx="82881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 dirty="0">
                <a:solidFill>
                  <a:srgbClr val="0B5394"/>
                </a:solidFill>
              </a:rPr>
              <a:t>Exercise: Determine the vector equation of a plane P</a:t>
            </a:r>
            <a:r>
              <a:rPr lang="en" baseline="-25000" dirty="0">
                <a:solidFill>
                  <a:srgbClr val="0B5394"/>
                </a:solidFill>
              </a:rPr>
              <a:t>1</a:t>
            </a:r>
            <a:r>
              <a:rPr lang="en" dirty="0">
                <a:solidFill>
                  <a:srgbClr val="0B5394"/>
                </a:solidFill>
              </a:rPr>
              <a:t> given by </a:t>
            </a:r>
            <a:r>
              <a:rPr lang="en" i="1" dirty="0">
                <a:solidFill>
                  <a:srgbClr val="0B5394"/>
                </a:solidFill>
              </a:rPr>
              <a:t>x - 4y + 2z = 7</a:t>
            </a:r>
            <a:r>
              <a:rPr lang="en" dirty="0">
                <a:solidFill>
                  <a:srgbClr val="0B5394"/>
                </a:solidFill>
              </a:rPr>
              <a:t>. (Hint: Procedure is analogous to that of a line. Sketch a graph.) </a:t>
            </a:r>
            <a:endParaRPr dirty="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7"/>
          <p:cNvSpPr txBox="1">
            <a:spLocks noGrp="1"/>
          </p:cNvSpPr>
          <p:nvPr>
            <p:ph type="title"/>
          </p:nvPr>
        </p:nvSpPr>
        <p:spPr>
          <a:xfrm>
            <a:off x="226208" y="18864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Vector Representation of a Plane in ℝ</a:t>
            </a:r>
            <a:r>
              <a:rPr lang="en" baseline="30000" dirty="0"/>
              <a:t>3</a:t>
            </a:r>
            <a:r>
              <a:rPr lang="en" dirty="0"/>
              <a:t> </a:t>
            </a:r>
            <a:endParaRPr dirty="0"/>
          </a:p>
        </p:txBody>
      </p:sp>
      <p:sp>
        <p:nvSpPr>
          <p:cNvPr id="480" name="Google Shape;480;p47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55</a:t>
            </a:fld>
            <a:endParaRPr/>
          </a:p>
        </p:txBody>
      </p:sp>
      <p:sp>
        <p:nvSpPr>
          <p:cNvPr id="481" name="Google Shape;481;p47"/>
          <p:cNvSpPr txBox="1">
            <a:spLocks noGrp="1"/>
          </p:cNvSpPr>
          <p:nvPr>
            <p:ph type="body" idx="1"/>
          </p:nvPr>
        </p:nvSpPr>
        <p:spPr>
          <a:xfrm>
            <a:off x="170464" y="871847"/>
            <a:ext cx="82881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 sz="2200" dirty="0">
                <a:solidFill>
                  <a:srgbClr val="0B5394"/>
                </a:solidFill>
              </a:rPr>
              <a:t>Exercise: Determine the vector equation of a plane P</a:t>
            </a:r>
            <a:r>
              <a:rPr lang="en" sz="2200" baseline="-25000" dirty="0">
                <a:solidFill>
                  <a:srgbClr val="0B5394"/>
                </a:solidFill>
              </a:rPr>
              <a:t>1</a:t>
            </a:r>
            <a:r>
              <a:rPr lang="en" sz="2200" dirty="0">
                <a:solidFill>
                  <a:srgbClr val="0B5394"/>
                </a:solidFill>
              </a:rPr>
              <a:t> given by </a:t>
            </a:r>
            <a:r>
              <a:rPr lang="en" sz="2200" i="1" dirty="0">
                <a:solidFill>
                  <a:srgbClr val="0B5394"/>
                </a:solidFill>
              </a:rPr>
              <a:t>x - 4y + 2z = 7</a:t>
            </a:r>
            <a:r>
              <a:rPr lang="en" sz="2200" dirty="0">
                <a:solidFill>
                  <a:srgbClr val="0B5394"/>
                </a:solidFill>
              </a:rPr>
              <a:t>. (Hint: Procedure is analogous to that of a line. Sketch a graph.) </a:t>
            </a:r>
            <a:endParaRPr sz="2200" dirty="0">
              <a:solidFill>
                <a:srgbClr val="0B539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FD5E6E0-2C16-10EC-E8CE-D161000FA157}"/>
                  </a:ext>
                </a:extLst>
              </p:cNvPr>
              <p:cNvSpPr txBox="1"/>
              <p:nvPr/>
            </p:nvSpPr>
            <p:spPr>
              <a:xfrm>
                <a:off x="188990" y="1772816"/>
                <a:ext cx="9154064" cy="4685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000" spc="-30" dirty="0">
                    <a:effectLst/>
                    <a:ea typeface="SimSun" panose="02010600030101010101" pitchFamily="2" charset="-122"/>
                  </a:rPr>
                  <a:t>Given the </a:t>
                </a:r>
                <a:r>
                  <a:rPr lang="en-SG" sz="2000" spc="-30" dirty="0">
                    <a:ea typeface="SimSun" panose="02010600030101010101" pitchFamily="2" charset="-122"/>
                  </a:rPr>
                  <a:t>C</a:t>
                </a:r>
                <a:r>
                  <a:rPr lang="en-SG" sz="2000" spc="-30" dirty="0">
                    <a:effectLst/>
                    <a:ea typeface="SimSun" panose="02010600030101010101" pitchFamily="2" charset="-122"/>
                  </a:rPr>
                  <a:t>artesian equation of the plane is </a:t>
                </a:r>
                <a14:m>
                  <m:oMath xmlns:m="http://schemas.openxmlformats.org/officeDocument/2006/math">
                    <m:r>
                      <a:rPr lang="en-SG" sz="2000" i="1" spc="-3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𝑥</m:t>
                    </m:r>
                    <m:r>
                      <a:rPr lang="en-SG" sz="2000" i="1" spc="-3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−4</m:t>
                    </m:r>
                    <m:r>
                      <a:rPr lang="en-SG" sz="2000" i="1" spc="-3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𝑦</m:t>
                    </m:r>
                    <m:r>
                      <a:rPr lang="en-SG" sz="2000" i="1" spc="-3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+2</m:t>
                    </m:r>
                    <m:r>
                      <a:rPr lang="en-SG" sz="2000" i="1" spc="-3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𝑧</m:t>
                    </m:r>
                    <m:r>
                      <a:rPr lang="en-SG" sz="2000" i="1" spc="-3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=7</m:t>
                    </m:r>
                  </m:oMath>
                </a14:m>
                <a:r>
                  <a:rPr lang="en-US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, we can find the parametric equation by </a:t>
                </a:r>
                <a:r>
                  <a:rPr lang="en-SG" sz="2000" spc="-30" dirty="0">
                    <a:latin typeface="Arial" panose="020B0604020202020204" pitchFamily="34" charset="0"/>
                    <a:ea typeface="SimSun" panose="02010600030101010101" pitchFamily="2" charset="-122"/>
                  </a:rPr>
                  <a:t>l</a:t>
                </a:r>
                <a:r>
                  <a:rPr lang="en-SG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etting </a:t>
                </a: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𝑦</m:t>
                    </m:r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>
                      <a:rPr lang="en-US" sz="2000" b="0" i="1" spc="-3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𝑡</m:t>
                    </m:r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   </m:t>
                    </m:r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𝑧</m:t>
                    </m:r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>
                      <a:rPr lang="en-US" sz="2000" b="0" i="1" spc="-3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𝑠</m:t>
                    </m:r>
                  </m:oMath>
                </a14:m>
                <a:r>
                  <a:rPr lang="en-US" sz="2000" i="1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𝑥</m:t>
                    </m:r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=7+4</m:t>
                    </m:r>
                    <m:r>
                      <a:rPr lang="en-US" sz="2000" b="0" i="1" spc="-3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𝑡</m:t>
                    </m:r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−2</m:t>
                    </m:r>
                    <m:r>
                      <a:rPr lang="en-US" sz="2000" b="0" i="1" spc="-3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𝑠</m:t>
                    </m:r>
                  </m:oMath>
                </a14:m>
                <a:r>
                  <a:rPr lang="en-US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𝑦</m:t>
                    </m:r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=0+1</m:t>
                    </m:r>
                    <m:r>
                      <a:rPr lang="en-US" sz="2000" b="0" i="1" spc="-3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𝑡</m:t>
                    </m:r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+0</m:t>
                    </m:r>
                    <m:r>
                      <a:rPr lang="en-US" sz="2000" b="0" i="1" spc="-3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𝑠</m:t>
                    </m:r>
                  </m:oMath>
                </a14:m>
                <a:r>
                  <a:rPr lang="en-US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𝑧</m:t>
                    </m:r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=0+0</m:t>
                    </m:r>
                    <m:r>
                      <a:rPr lang="en-US" sz="2000" b="0" i="1" spc="-3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𝑡</m:t>
                    </m:r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+1</m:t>
                    </m:r>
                    <m:r>
                      <a:rPr lang="en-US" sz="2000" b="0" i="1" spc="-3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𝑠</m:t>
                    </m:r>
                  </m:oMath>
                </a14:m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Therefore,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pc="-30" smtClean="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𝐫</m:t>
                        </m:r>
                        <m:r>
                          <a:rPr lang="en-SG" sz="2000" b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=</m:t>
                        </m:r>
                        <m:r>
                          <a:rPr lang="en-SG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𝐫</m:t>
                        </m:r>
                      </m:e>
                      <m:sub>
                        <m:r>
                          <a:rPr lang="en-SG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𝐨</m:t>
                        </m:r>
                      </m:sub>
                    </m:sSub>
                    <m:r>
                      <a:rPr lang="en-SG" sz="2000" b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r>
                      <m:rPr>
                        <m:sty m:val="p"/>
                      </m:rPr>
                      <a:rPr lang="en-SG" sz="20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t</m:t>
                    </m:r>
                    <m:r>
                      <a:rPr lang="en-SG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𝐯</m:t>
                    </m:r>
                    <m:r>
                      <a:rPr lang="en-SG" sz="2000" b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r>
                      <m:rPr>
                        <m:sty m:val="p"/>
                      </m:rPr>
                      <a:rPr lang="en-SG" sz="20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s</m:t>
                    </m:r>
                    <m:r>
                      <a:rPr lang="en-SG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𝐮</m:t>
                    </m:r>
                    <m:r>
                      <a:rPr lang="en-SG" sz="20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20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SG" sz="20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SG" sz="20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SG" sz="20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𝑡</m:t>
                    </m:r>
                    <m:d>
                      <m:dPr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pc="-30" smtClean="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b="0" i="0" spc="-30" smtClean="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0" spc="-30" smtClean="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0" spc="-30" smtClean="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SG" sz="20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𝑠</m:t>
                    </m:r>
                    <m:d>
                      <m:dPr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0" spc="-30" smtClean="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r>
                                <a:rPr lang="en-US" sz="2000" b="0" i="0" spc="-30" smtClean="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0" spc="-30" smtClean="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0" spc="-30" smtClean="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.</a:t>
                </a:r>
              </a:p>
              <a:p>
                <a:r>
                  <a:rPr lang="en-US" sz="2000" spc="-30" dirty="0">
                    <a:latin typeface="Arial" panose="020B0604020202020204" pitchFamily="34" charset="0"/>
                    <a:ea typeface="SimSun" panose="02010600030101010101" pitchFamily="2" charset="-122"/>
                  </a:rPr>
                  <a:t>OR </a:t>
                </a:r>
              </a:p>
              <a:p>
                <a:r>
                  <a:rPr lang="en-SG" sz="2000" spc="-30" dirty="0"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Find a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sz="2000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00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b="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SG" sz="2000" i="1" spc="-3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b="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 spc="-3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SG" sz="2000" i="1" spc="-3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b="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000" i="1" spc="-3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SG" sz="2000" spc="-30" dirty="0"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 on the plane, let’s say we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sz="2000" b="0" i="0" spc="-30" smtClean="0">
                        <a:latin typeface="Cambria Math" panose="020405030504060302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rPr>
                      <m:t>=0</m:t>
                    </m:r>
                  </m:oMath>
                </a14:m>
                <a:r>
                  <a:rPr lang="en-SG" sz="2000" spc="-30" dirty="0"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𝑧</m:t>
                        </m:r>
                      </m:e>
                      <m:sub>
                        <m:r>
                          <a:rPr lang="en-US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sz="2000" spc="-30">
                        <a:latin typeface="Cambria Math" panose="020405030504060302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rPr>
                      <m:t>=0</m:t>
                    </m:r>
                  </m:oMath>
                </a14:m>
                <a:r>
                  <a:rPr lang="en-SG" sz="2000" spc="-30" dirty="0"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 then using the equation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SG" sz="2000" spc="-30" dirty="0"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 must be 7. Hence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000" b="1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𝐫</m:t>
                        </m:r>
                      </m:e>
                      <m:sub>
                        <m:r>
                          <a:rPr lang="en-SG" sz="2000" b="1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𝐨</m:t>
                        </m:r>
                      </m:sub>
                    </m:sSub>
                    <m:r>
                      <a:rPr lang="en-US" sz="2000" b="1" i="1" spc="-30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>
                      <a:rPr lang="en-SG" sz="2000" b="1" i="1" spc="-3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 </m:t>
                    </m:r>
                    <m:d>
                      <m:dPr>
                        <m:ctrlPr>
                          <a:rPr lang="en-US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pc="-3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2000" spc="-3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SG" sz="2000" spc="-3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SG" sz="2000" spc="-3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. </a:t>
                </a:r>
                <a:endParaRPr lang="en-US" sz="2000" spc="-30" dirty="0"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r>
                  <a:rPr lang="en-US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Find another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sz="2000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00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b="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SG" sz="2000" i="1" spc="-3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b="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SG" sz="2000" i="1" spc="-3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b="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000" b="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SG" sz="2000" spc="-30" dirty="0"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 on the plane, let’s say we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sz="2000" b="0" i="0" spc="-30" smtClean="0">
                        <a:latin typeface="Cambria Math" panose="020405030504060302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rPr>
                      <m:t>=1</m:t>
                    </m:r>
                  </m:oMath>
                </a14:m>
                <a:r>
                  <a:rPr lang="en-SG" sz="2000" spc="-30" dirty="0"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𝑧</m:t>
                        </m:r>
                      </m:e>
                      <m:sub>
                        <m:r>
                          <a:rPr lang="en-US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sz="2000" spc="-30">
                        <a:latin typeface="Cambria Math" panose="020405030504060302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rPr>
                      <m:t>=0</m:t>
                    </m:r>
                  </m:oMath>
                </a14:m>
                <a:r>
                  <a:rPr lang="en-SG" sz="2000" spc="-30" dirty="0"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 then using the equation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SG" sz="2000" spc="-30" dirty="0"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 must be 11. Hence </a:t>
                </a:r>
                <a14:m>
                  <m:oMath xmlns:m="http://schemas.openxmlformats.org/officeDocument/2006/math">
                    <m:r>
                      <a:rPr lang="en-US" sz="2000" b="1" i="0" spc="-30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𝐯</m:t>
                    </m:r>
                    <m:r>
                      <a:rPr lang="en-US" sz="2000" b="1" i="1" spc="-30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en-US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pc="-3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0" spc="-3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  <m:r>
                                <a:rPr lang="en-US" sz="2000" b="0" i="0" spc="-3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0" spc="-3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sz="2000" spc="-3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sz="2000" b="1" i="1" spc="-30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−</m:t>
                    </m:r>
                    <m:d>
                      <m:dPr>
                        <m:ctrlPr>
                          <a:rPr lang="en-US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pc="-3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2000" spc="-3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SG" sz="2000" spc="-3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SG" sz="2000" spc="-3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sz="2000" b="0" i="1" spc="-30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en-US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pc="-3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0" spc="-3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0" spc="-3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sz="2000" spc="-3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.</a:t>
                </a:r>
              </a:p>
              <a:p>
                <a:r>
                  <a:rPr lang="en-US" sz="2000" spc="-30" dirty="0">
                    <a:solidFill>
                      <a:srgbClr val="FF0000"/>
                    </a:solidFill>
                    <a:effectLst/>
                    <a:highlight>
                      <a:srgbClr val="FFFF00"/>
                    </a:highlight>
                    <a:latin typeface="Arial" panose="020B0604020202020204" pitchFamily="34" charset="0"/>
                    <a:ea typeface="SimSun" panose="0201060003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FD5E6E0-2C16-10EC-E8CE-D161000FA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90" y="1772816"/>
                <a:ext cx="9154064" cy="4685322"/>
              </a:xfrm>
              <a:prstGeom prst="rect">
                <a:avLst/>
              </a:prstGeom>
              <a:blipFill>
                <a:blip r:embed="rId3"/>
                <a:stretch>
                  <a:fillRect l="-666" t="-911" b="-156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84394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7"/>
          <p:cNvSpPr txBox="1">
            <a:spLocks noGrp="1"/>
          </p:cNvSpPr>
          <p:nvPr>
            <p:ph type="title"/>
          </p:nvPr>
        </p:nvSpPr>
        <p:spPr>
          <a:xfrm>
            <a:off x="226208" y="18864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Vector Representation of a Plane in ℝ</a:t>
            </a:r>
            <a:r>
              <a:rPr lang="en" baseline="30000" dirty="0"/>
              <a:t>3</a:t>
            </a:r>
            <a:r>
              <a:rPr lang="en" dirty="0"/>
              <a:t> </a:t>
            </a:r>
            <a:endParaRPr dirty="0"/>
          </a:p>
        </p:txBody>
      </p:sp>
      <p:sp>
        <p:nvSpPr>
          <p:cNvPr id="480" name="Google Shape;480;p47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56</a:t>
            </a:fld>
            <a:endParaRPr/>
          </a:p>
        </p:txBody>
      </p:sp>
      <p:sp>
        <p:nvSpPr>
          <p:cNvPr id="481" name="Google Shape;481;p47"/>
          <p:cNvSpPr txBox="1">
            <a:spLocks noGrp="1"/>
          </p:cNvSpPr>
          <p:nvPr>
            <p:ph type="body" idx="1"/>
          </p:nvPr>
        </p:nvSpPr>
        <p:spPr>
          <a:xfrm>
            <a:off x="170464" y="871847"/>
            <a:ext cx="82881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 sz="2400" dirty="0">
                <a:solidFill>
                  <a:srgbClr val="0B5394"/>
                </a:solidFill>
              </a:rPr>
              <a:t>Exercise: Determine the vector equation of a plane P</a:t>
            </a:r>
            <a:r>
              <a:rPr lang="en" sz="2400" baseline="-25000" dirty="0">
                <a:solidFill>
                  <a:srgbClr val="0B5394"/>
                </a:solidFill>
              </a:rPr>
              <a:t>1</a:t>
            </a:r>
            <a:r>
              <a:rPr lang="en" sz="2400" dirty="0">
                <a:solidFill>
                  <a:srgbClr val="0B5394"/>
                </a:solidFill>
              </a:rPr>
              <a:t> given by </a:t>
            </a:r>
            <a:r>
              <a:rPr lang="en" sz="2400" i="1" dirty="0">
                <a:solidFill>
                  <a:srgbClr val="0B5394"/>
                </a:solidFill>
              </a:rPr>
              <a:t>x - 4y + 2z = 7</a:t>
            </a:r>
            <a:r>
              <a:rPr lang="en" sz="2400" dirty="0">
                <a:solidFill>
                  <a:srgbClr val="0B5394"/>
                </a:solidFill>
              </a:rPr>
              <a:t>. (Hint: Procedure is analogous to that of a line. Sketch a graph.) </a:t>
            </a:r>
            <a:endParaRPr sz="2400" dirty="0">
              <a:solidFill>
                <a:srgbClr val="0B539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FD5E6E0-2C16-10EC-E8CE-D161000FA157}"/>
                  </a:ext>
                </a:extLst>
              </p:cNvPr>
              <p:cNvSpPr txBox="1"/>
              <p:nvPr/>
            </p:nvSpPr>
            <p:spPr>
              <a:xfrm>
                <a:off x="170464" y="2276872"/>
                <a:ext cx="9154064" cy="2646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Find one more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sz="2000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00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b="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SG" sz="2000" i="1" spc="-3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b="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SG" sz="2000" i="1" spc="-3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b="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000" b="0" i="1" spc="-30" smtClean="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SG" sz="2000" spc="-30" dirty="0"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 on the plane, let’s say we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sz="2000" b="0" i="0" spc="-30" smtClean="0">
                        <a:latin typeface="Cambria Math" panose="020405030504060302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rPr>
                      <m:t>=0</m:t>
                    </m:r>
                  </m:oMath>
                </a14:m>
                <a:r>
                  <a:rPr lang="en-SG" sz="2000" spc="-30" dirty="0"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𝑧</m:t>
                        </m:r>
                      </m:e>
                      <m:sub>
                        <m:r>
                          <a:rPr lang="en-US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sz="2000" spc="-30">
                        <a:latin typeface="Cambria Math" panose="020405030504060302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rPr>
                      <m:t>=</m:t>
                    </m:r>
                    <m:r>
                      <a:rPr lang="en-US" sz="2000" b="0" i="0" spc="-30" smtClean="0">
                        <a:latin typeface="Cambria Math" panose="02040503050406030204" pitchFamily="18" charset="0"/>
                        <a:ea typeface="SimSun" panose="02010600030101010101" pitchFamily="2" charset="-122"/>
                        <a:cs typeface="Arial" panose="020B0604020202020204" pitchFamily="34" charset="0"/>
                      </a:rPr>
                      <m:t>1</m:t>
                    </m:r>
                  </m:oMath>
                </a14:m>
                <a:r>
                  <a:rPr lang="en-SG" sz="2000" spc="-30" dirty="0"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 then using the equation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pc="-3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SG" sz="2000" spc="-30" dirty="0"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 must be 5. Hence </a:t>
                </a:r>
                <a14:m>
                  <m:oMath xmlns:m="http://schemas.openxmlformats.org/officeDocument/2006/math">
                    <m:r>
                      <a:rPr lang="en-US" sz="2000" b="1" i="0" spc="-30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𝐮</m:t>
                    </m:r>
                    <m:r>
                      <a:rPr lang="en-US" sz="2000" b="1" i="1" spc="-30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en-US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pc="-3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0" spc="-3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0" spc="-3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0" spc="-3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000" b="1" i="1" spc="-30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−</m:t>
                    </m:r>
                    <m:d>
                      <m:dPr>
                        <m:ctrlPr>
                          <a:rPr lang="en-US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pc="-3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2000" spc="-3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SG" sz="2000" spc="-3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SG" sz="2000" spc="-3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sz="2000" b="0" i="1" spc="-30" smtClean="0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en-US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pc="-3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0" spc="-3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r>
                                <a:rPr lang="en-US" sz="2000" b="0" i="0" spc="-3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0" spc="-3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0" spc="-3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.</a:t>
                </a: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000" spc="-30" dirty="0">
                    <a:latin typeface="Arial" panose="020B0604020202020204" pitchFamily="34" charset="0"/>
                    <a:ea typeface="SimSun" panose="02010600030101010101" pitchFamily="2" charset="-122"/>
                  </a:rPr>
                  <a:t>Therefore, </a:t>
                </a:r>
                <a:r>
                  <a:rPr lang="en-SG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Vector equation of the plane,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𝐫</m:t>
                        </m:r>
                        <m:r>
                          <a:rPr lang="en-SG" sz="2000" b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=</m:t>
                        </m:r>
                        <m:r>
                          <a:rPr lang="en-SG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𝐫</m:t>
                        </m:r>
                      </m:e>
                      <m:sub>
                        <m:r>
                          <a:rPr lang="en-SG" sz="20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𝐨</m:t>
                        </m:r>
                      </m:sub>
                    </m:sSub>
                    <m:r>
                      <a:rPr lang="en-SG" sz="2000" b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r>
                      <m:rPr>
                        <m:sty m:val="p"/>
                      </m:rPr>
                      <a:rPr lang="en-SG" sz="20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t</m:t>
                    </m:r>
                    <m:r>
                      <a:rPr lang="en-SG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𝐯</m:t>
                    </m:r>
                    <m:r>
                      <a:rPr lang="en-SG" sz="2000" b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r>
                      <m:rPr>
                        <m:sty m:val="p"/>
                      </m:rPr>
                      <a:rPr lang="en-SG" sz="20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s</m:t>
                    </m:r>
                    <m:r>
                      <a:rPr lang="en-SG" sz="20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𝐮</m:t>
                    </m:r>
                    <m:r>
                      <a:rPr lang="en-SG" sz="20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20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SG" sz="20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SG" sz="20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SG" sz="20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𝑡</m:t>
                    </m:r>
                    <m:d>
                      <m:dPr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pc="-30" smtClean="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b="0" i="0" spc="-30" smtClean="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0" spc="-30" smtClean="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0" spc="-30" smtClean="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SG" sz="20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𝑠</m:t>
                    </m:r>
                    <m:d>
                      <m:dPr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0" spc="-30" smtClean="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r>
                                <a:rPr lang="en-US" sz="2000" b="0" i="0" spc="-30" smtClean="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0" spc="-30" smtClean="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0" spc="-30" smtClean="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r>
                  <a:rPr lang="en-US" sz="2000" spc="-30" dirty="0">
                    <a:solidFill>
                      <a:srgbClr val="FF0000"/>
                    </a:solidFill>
                    <a:latin typeface="Arial" panose="020B0604020202020204" pitchFamily="34" charset="0"/>
                    <a:ea typeface="SimSun" panose="02010600030101010101" pitchFamily="2" charset="-122"/>
                  </a:rPr>
                  <a:t>Question: What if I choose different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 spc="-3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pc="-3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2000" i="1" spc="-3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spc="-3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 spc="-3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 spc="-3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pc="-3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spc="-3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 spc="-3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 spc="-3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pc="-3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spc="-3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? </a:t>
                </a:r>
                <a:r>
                  <a:rPr lang="en-US" sz="2000" spc="-30" dirty="0">
                    <a:solidFill>
                      <a:srgbClr val="FF0000"/>
                    </a:solidFill>
                    <a:effectLst/>
                    <a:highlight>
                      <a:srgbClr val="FFFF00"/>
                    </a:highlight>
                    <a:latin typeface="Arial" panose="020B0604020202020204" pitchFamily="34" charset="0"/>
                    <a:ea typeface="SimSun" panose="02010600030101010101" pitchFamily="2" charset="-122"/>
                  </a:rPr>
                  <a:t>Please also note typo on second line of the solution</a:t>
                </a:r>
                <a:r>
                  <a:rPr lang="en-US" sz="1600" spc="-30" dirty="0">
                    <a:solidFill>
                      <a:srgbClr val="FF0000"/>
                    </a:solidFill>
                    <a:effectLst/>
                    <a:highlight>
                      <a:srgbClr val="FFFF00"/>
                    </a:highlight>
                    <a:latin typeface="Arial" panose="020B0604020202020204" pitchFamily="34" charset="0"/>
                    <a:ea typeface="SimSun" panose="0201060003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FD5E6E0-2C16-10EC-E8CE-D161000FA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464" y="2276872"/>
                <a:ext cx="9154064" cy="2646558"/>
              </a:xfrm>
              <a:prstGeom prst="rect">
                <a:avLst/>
              </a:prstGeom>
              <a:blipFill>
                <a:blip r:embed="rId3"/>
                <a:stretch>
                  <a:fillRect l="-732" t="-1382" b="-322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78876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24A18-53A4-BC8E-4BB7-DDCA08AF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9EFB6FC-1C01-429C-E12C-3106CFC7BA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1962" y="1138238"/>
            <a:ext cx="8220075" cy="49530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E5DDC-A4BE-157D-83A9-887BF820C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AECB-2000-4191-92DD-345791BD487C}" type="slidenum">
              <a:rPr lang="en-SG" smtClean="0"/>
              <a:t>57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09580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D21C5-0951-E8CF-0400-43EC9F906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FF7C46-22BA-BCA2-A61C-C003096D4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AECB-2000-4191-92DD-345791BD487C}" type="slidenum">
              <a:rPr lang="en-SG" smtClean="0"/>
              <a:t>58</a:t>
            </a:fld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1547E3-ABF6-DC9B-0F8A-62E98AF23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1123950"/>
            <a:ext cx="8029575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8433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ABB9C-B339-C680-3386-7409F522E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Vector Equation of a Plane in </a:t>
            </a:r>
            <a:r>
              <a:rPr lang="en" dirty="0"/>
              <a:t>ℝ</a:t>
            </a:r>
            <a:r>
              <a:rPr lang="en" baseline="30000" dirty="0"/>
              <a:t>3</a:t>
            </a:r>
            <a:endParaRPr lang="en-S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AAE86A-2602-6E53-9942-45D67BE1F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AECB-2000-4191-92DD-345791BD487C}" type="slidenum">
              <a:rPr lang="en-SG" smtClean="0"/>
              <a:t>59</a:t>
            </a:fld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E07B16-9DF1-6A5F-B4DC-AAECEB9BC064}"/>
              </a:ext>
            </a:extLst>
          </p:cNvPr>
          <p:cNvSpPr txBox="1"/>
          <p:nvPr/>
        </p:nvSpPr>
        <p:spPr>
          <a:xfrm>
            <a:off x="611560" y="1340768"/>
            <a:ext cx="7920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Use the idea that a line joining any two points in a plane is perpendicular to the normal of the plane.  </a:t>
            </a:r>
          </a:p>
          <a:p>
            <a:endParaRPr lang="en-SG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963CA3-2E9A-962E-D55C-462C190BA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904" y="2453835"/>
            <a:ext cx="2512896" cy="1981200"/>
          </a:xfrm>
          <a:prstGeom prst="rect">
            <a:avLst/>
          </a:prstGeom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BBEE386-BC93-732B-3714-50F4C1A1CA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3705636"/>
              </p:ext>
            </p:extLst>
          </p:nvPr>
        </p:nvGraphicFramePr>
        <p:xfrm>
          <a:off x="457200" y="2561246"/>
          <a:ext cx="5478416" cy="225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29000" imgH="1409400" progId="Equation.DSMT4">
                  <p:embed/>
                </p:oleObj>
              </mc:Choice>
              <mc:Fallback>
                <p:oleObj name="Equation" r:id="rId3" imgW="3429000" imgH="14094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2BBEE386-BC93-732B-3714-50F4C1A1CA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2561246"/>
                        <a:ext cx="5478416" cy="2252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98236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F9220-065D-093D-5C0F-6CD5AC94C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AECB-2000-4191-92DD-345791BD487C}" type="slidenum">
              <a:rPr lang="en-SG" smtClean="0"/>
              <a:t>60</a:t>
            </a:fld>
            <a:endParaRPr lang="en-SG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CAC8F1B-2BEE-8665-9007-DC52609E2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Vector Representation of a plane in </a:t>
            </a:r>
            <a:r>
              <a:rPr lang="en" dirty="0"/>
              <a:t>ℝ</a:t>
            </a:r>
            <a:r>
              <a:rPr lang="en" baseline="30000" dirty="0"/>
              <a:t>3</a:t>
            </a:r>
            <a:endParaRPr lang="en-SG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2425A65F-9CEA-171E-BC40-819CA914B1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04" y="1124744"/>
            <a:ext cx="8834096" cy="4824536"/>
          </a:xfrm>
        </p:spPr>
      </p:pic>
    </p:spTree>
    <p:extLst>
      <p:ext uri="{BB962C8B-B14F-4D97-AF65-F5344CB8AC3E}">
        <p14:creationId xmlns:p14="http://schemas.microsoft.com/office/powerpoint/2010/main" val="21758160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F2B0A2B-DFE9-4483-0A99-2A7645A760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327384"/>
            <a:ext cx="8444028" cy="490992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DE5AD-6B75-669E-1494-420A59A55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2AECB-2000-4191-92DD-345791BD487C}" type="slidenum">
              <a:rPr lang="en-SG" smtClean="0"/>
              <a:t>61</a:t>
            </a:fld>
            <a:endParaRPr lang="en-SG"/>
          </a:p>
        </p:txBody>
      </p:sp>
      <p:sp>
        <p:nvSpPr>
          <p:cNvPr id="5" name="Title 11">
            <a:extLst>
              <a:ext uri="{FF2B5EF4-FFF2-40B4-BE49-F238E27FC236}">
                <a16:creationId xmlns:a16="http://schemas.microsoft.com/office/drawing/2014/main" id="{B26BD0E6-B825-211A-24D8-81517BDE9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6419056" cy="642937"/>
          </a:xfrm>
        </p:spPr>
        <p:txBody>
          <a:bodyPr>
            <a:normAutofit fontScale="90000"/>
          </a:bodyPr>
          <a:lstStyle/>
          <a:p>
            <a:r>
              <a:rPr lang="en-US" dirty="0"/>
              <a:t>Vector Representation of a plane in </a:t>
            </a:r>
            <a:r>
              <a:rPr lang="en" dirty="0"/>
              <a:t>ℝ</a:t>
            </a:r>
            <a:r>
              <a:rPr lang="en" baseline="30000" dirty="0"/>
              <a:t>3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066160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42FDA2-4C7E-DA5D-BE75-2455F96A4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702" y="3789040"/>
            <a:ext cx="4218432" cy="2592288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8"/>
          <p:cNvSpPr txBox="1">
            <a:spLocks noGrp="1"/>
          </p:cNvSpPr>
          <p:nvPr>
            <p:ph type="title"/>
          </p:nvPr>
        </p:nvSpPr>
        <p:spPr>
          <a:xfrm>
            <a:off x="285002" y="297949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Vector Representation of a Plane in ℝ</a:t>
            </a:r>
            <a:r>
              <a:rPr lang="en" baseline="30000" dirty="0"/>
              <a:t>3</a:t>
            </a:r>
            <a:r>
              <a:rPr lang="en" dirty="0"/>
              <a:t> </a:t>
            </a:r>
            <a:endParaRPr dirty="0"/>
          </a:p>
        </p:txBody>
      </p:sp>
      <p:sp>
        <p:nvSpPr>
          <p:cNvPr id="487" name="Google Shape;487;p48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62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8" name="Google Shape;488;p48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85002" y="897641"/>
                <a:ext cx="8736156" cy="1091199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Autofit/>
              </a:bodyPr>
              <a:lstStyle/>
              <a:p>
                <a:pPr marL="0" indent="0">
                  <a:spcAft>
                    <a:spcPts val="1600"/>
                  </a:spcAft>
                  <a:buNone/>
                </a:pPr>
                <a:r>
                  <a:rPr lang="en" sz="1800" dirty="0">
                    <a:solidFill>
                      <a:srgbClr val="0B5394"/>
                    </a:solidFill>
                  </a:rPr>
                  <a:t>Exercise: Determine the vector &amp; cartesian equation of a plane P</a:t>
                </a:r>
                <a:r>
                  <a:rPr lang="en" sz="1800" baseline="-25000" dirty="0">
                    <a:solidFill>
                      <a:srgbClr val="0B5394"/>
                    </a:solidFill>
                  </a:rPr>
                  <a:t>2</a:t>
                </a:r>
                <a:r>
                  <a:rPr lang="en" sz="1800" dirty="0">
                    <a:solidFill>
                      <a:srgbClr val="0B5394"/>
                    </a:solidFill>
                  </a:rPr>
                  <a:t> that contains the lines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sz="1800" i="1" smtClean="0">
                            <a:solidFill>
                              <a:srgbClr val="0B539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B539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B539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0B5394"/>
                        </a:solidFill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rgbClr val="0B539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b="0" i="1" smtClean="0">
                                <a:solidFill>
                                  <a:srgbClr val="0B539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a:rPr lang="en-US" sz="1800" b="0" i="1" smtClean="0">
                        <a:solidFill>
                          <a:srgbClr val="0B5394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B539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B539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sz="1800" b="0" i="0" smtClean="0">
                        <a:solidFill>
                          <a:srgbClr val="0B539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solidFill>
                          <a:srgbClr val="0B5394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B539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B539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" sz="1800" dirty="0">
                    <a:solidFill>
                      <a:srgbClr val="0B5394"/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sz="1800" i="1">
                            <a:solidFill>
                              <a:srgbClr val="0B539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B539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B539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solidFill>
                          <a:srgbClr val="0B5394"/>
                        </a:solidFill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B539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B539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i="1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a:rPr lang="en-US" sz="1800" i="1">
                        <a:solidFill>
                          <a:srgbClr val="0B5394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B539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B539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1800">
                        <a:solidFill>
                          <a:srgbClr val="0B539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solidFill>
                          <a:srgbClr val="0B5394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B539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B539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" sz="1800" dirty="0">
                    <a:solidFill>
                      <a:srgbClr val="0B5394"/>
                    </a:solidFill>
                  </a:rPr>
                  <a:t> defined below. Sketch a representation.</a:t>
                </a:r>
                <a:endParaRPr sz="1800" dirty="0">
                  <a:solidFill>
                    <a:srgbClr val="0B5394"/>
                  </a:solidFill>
                </a:endParaRPr>
              </a:p>
            </p:txBody>
          </p:sp>
        </mc:Choice>
        <mc:Fallback xmlns="">
          <p:sp>
            <p:nvSpPr>
              <p:cNvPr id="488" name="Google Shape;488;p4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85002" y="897641"/>
                <a:ext cx="8736156" cy="1091199"/>
              </a:xfrm>
              <a:prstGeom prst="rect">
                <a:avLst/>
              </a:prstGeom>
              <a:blipFill>
                <a:blip r:embed="rId4"/>
                <a:stretch>
                  <a:fillRect l="-628" b="-55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7CB195D-35A7-F6D3-0F52-665C2F8E57E4}"/>
                  </a:ext>
                </a:extLst>
              </p:cNvPr>
              <p:cNvSpPr txBox="1"/>
              <p:nvPr/>
            </p:nvSpPr>
            <p:spPr>
              <a:xfrm>
                <a:off x="165776" y="2851347"/>
                <a:ext cx="5846384" cy="3358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SG" sz="2000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r</m:t>
                            </m:r>
                          </m:e>
                          <m:sub>
                            <m:r>
                              <a:rPr lang="en-SG" sz="2000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SG" sz="20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SG" sz="2000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r</m:t>
                            </m:r>
                          </m:e>
                          <m:sub>
                            <m:r>
                              <a:rPr lang="en-SG" sz="2000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SG" sz="20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𝑠</m:t>
                    </m:r>
                    <m:d>
                      <m:dPr>
                        <m:begChr m:val="["/>
                        <m:endChr m:val="]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 </a:t>
                </a:r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Vector equation of the plane:	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accPr>
                      <m:e>
                        <m:r>
                          <a:rPr lang="en-SG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𝑛</m:t>
                        </m:r>
                      </m:e>
                    </m:acc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accPr>
                      <m:e>
                        <m:r>
                          <a:rPr lang="en-SG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𝑟</m:t>
                        </m:r>
                      </m:e>
                    </m:acc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 =</m:t>
                    </m:r>
                    <m:acc>
                      <m:accPr>
                        <m:chr m:val="⃗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accPr>
                      <m:e>
                        <m:r>
                          <a:rPr lang="en-SG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𝑛</m:t>
                        </m:r>
                      </m:e>
                    </m:acc>
                    <m:r>
                      <a:rPr lang="en-SG" sz="2000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𝑟</m:t>
                            </m:r>
                          </m:e>
                          <m:sub>
                            <m:r>
                              <a:rPr lang="en-SG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𝑜</m:t>
                            </m:r>
                          </m:sub>
                        </m:sSub>
                      </m:e>
                    </m:acc>
                  </m:oMath>
                </a14:m>
                <a:endParaRPr lang="en-US" sz="20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accPr>
                      <m:e>
                        <m:r>
                          <a:rPr lang="en-SG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SG" sz="2000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 = </a:t>
                </a:r>
                <a:r>
                  <a:rPr lang="en-SG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Vector that is perpendicular to both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SG" sz="2000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SG" sz="20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SG" sz="2000" spc="-3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Arial" panose="020B0604020202020204" pitchFamily="34" charset="0"/>
                  </a:rPr>
                  <a:t>.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pc="-3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2000" i="1" spc="-3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sz="2000" i="1" spc="-3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SG" sz="2000" i="1" spc="-3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pc="-30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pc="-30"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2000" i="1" spc="-3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a:rPr lang="en-SG" sz="2000" i="1" spc="-3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SG" sz="2000" i="1" spc="-3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 are position vectors.</a:t>
                </a: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400" spc="-30" dirty="0">
                    <a:effectLst/>
                    <a:ea typeface="SimSun" panose="02010600030101010101" pitchFamily="2" charset="-122"/>
                  </a:rPr>
                  <a:t> </a:t>
                </a:r>
                <a:endParaRPr lang="en-US" sz="14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7CB195D-35A7-F6D3-0F52-665C2F8E5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76" y="2851347"/>
                <a:ext cx="5846384" cy="3358805"/>
              </a:xfrm>
              <a:prstGeom prst="rect">
                <a:avLst/>
              </a:prstGeom>
              <a:blipFill>
                <a:blip r:embed="rId5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F2034D-C088-1EAA-ABCA-6132F2D6BF70}"/>
                  </a:ext>
                </a:extLst>
              </p:cNvPr>
              <p:cNvSpPr txBox="1"/>
              <p:nvPr/>
            </p:nvSpPr>
            <p:spPr>
              <a:xfrm>
                <a:off x="4746538" y="2032637"/>
                <a:ext cx="4612820" cy="12318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14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B</m:t>
                    </m:r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B</m:t>
                        </m:r>
                      </m:e>
                      <m:sub>
                        <m: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B</m:t>
                        </m:r>
                      </m:e>
                      <m:sub>
                        <m: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B</m:t>
                        </m:r>
                      </m:e>
                      <m:sub>
                        <m: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3</m:t>
                        </m:r>
                      </m:sub>
                    </m:sSub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)=</m:t>
                    </m:r>
                    <m:r>
                      <a:rPr lang="en-SG" sz="1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𝐯</m:t>
                    </m:r>
                    <m:r>
                      <a:rPr lang="en-SG" sz="1400" b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sSub>
                      <m:sSubPr>
                        <m:ctrlPr>
                          <a:rPr lang="en-US" sz="1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1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𝐫</m:t>
                        </m:r>
                      </m:e>
                      <m:sub>
                        <m:r>
                          <a:rPr lang="en-SG" sz="1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𝐨</m:t>
                        </m:r>
                      </m:sub>
                    </m:sSub>
                    <m:r>
                      <a:rPr lang="en-SG" sz="1400" b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1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4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14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C</m:t>
                    </m:r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C</m:t>
                        </m:r>
                      </m:e>
                      <m:sub>
                        <m: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C</m:t>
                        </m:r>
                      </m:e>
                      <m:sub>
                        <m: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C</m:t>
                        </m:r>
                      </m:e>
                      <m:sub>
                        <m: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3</m:t>
                        </m:r>
                      </m:sub>
                    </m:sSub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)=</m:t>
                    </m:r>
                    <m:r>
                      <a:rPr lang="en-SG" sz="1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𝐮</m:t>
                    </m:r>
                    <m:r>
                      <a:rPr lang="en-SG" sz="1400" b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r>
                      <m:rPr>
                        <m:sty m:val="p"/>
                      </m:rP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B</m:t>
                    </m:r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B</m:t>
                        </m:r>
                      </m:e>
                      <m:sub>
                        <m: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B</m:t>
                        </m:r>
                      </m:e>
                      <m:sub>
                        <m: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B</m:t>
                        </m:r>
                      </m:e>
                      <m:sub>
                        <m: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3</m:t>
                        </m:r>
                      </m:sub>
                    </m:sSub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)</m:t>
                    </m:r>
                    <m:r>
                      <a:rPr lang="en-SG" sz="1400" b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SG" sz="1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4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F2034D-C088-1EAA-ABCA-6132F2D6B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538" y="2032637"/>
                <a:ext cx="4612820" cy="1231876"/>
              </a:xfrm>
              <a:prstGeom prst="rect">
                <a:avLst/>
              </a:prstGeom>
              <a:blipFill>
                <a:blip r:embed="rId6"/>
                <a:stretch>
                  <a:fillRect l="-39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5196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42FDA2-4C7E-DA5D-BE75-2455F96A4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724" y="3789040"/>
            <a:ext cx="4042410" cy="248412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8"/>
          <p:cNvSpPr txBox="1">
            <a:spLocks noGrp="1"/>
          </p:cNvSpPr>
          <p:nvPr>
            <p:ph type="title"/>
          </p:nvPr>
        </p:nvSpPr>
        <p:spPr>
          <a:xfrm>
            <a:off x="285002" y="297949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/>
              <a:t>Vector Representation of a Plane in ℝ</a:t>
            </a:r>
            <a:r>
              <a:rPr lang="en" baseline="30000" dirty="0"/>
              <a:t>3</a:t>
            </a:r>
            <a:r>
              <a:rPr lang="en" dirty="0"/>
              <a:t> </a:t>
            </a:r>
            <a:endParaRPr dirty="0"/>
          </a:p>
        </p:txBody>
      </p:sp>
      <p:sp>
        <p:nvSpPr>
          <p:cNvPr id="487" name="Google Shape;487;p48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63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8" name="Google Shape;488;p48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85002" y="897641"/>
                <a:ext cx="8736156" cy="1091199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Autofit/>
              </a:bodyPr>
              <a:lstStyle/>
              <a:p>
                <a:pPr marL="0" indent="0">
                  <a:spcAft>
                    <a:spcPts val="1600"/>
                  </a:spcAft>
                  <a:buNone/>
                </a:pPr>
                <a:r>
                  <a:rPr lang="en" sz="1800" dirty="0">
                    <a:solidFill>
                      <a:srgbClr val="0B5394"/>
                    </a:solidFill>
                  </a:rPr>
                  <a:t>Exercise: Determine the vector &amp; cartesian equation of a plane P</a:t>
                </a:r>
                <a:r>
                  <a:rPr lang="en" sz="1800" baseline="-25000" dirty="0">
                    <a:solidFill>
                      <a:srgbClr val="0B5394"/>
                    </a:solidFill>
                  </a:rPr>
                  <a:t>2</a:t>
                </a:r>
                <a:r>
                  <a:rPr lang="en" sz="1800" dirty="0">
                    <a:solidFill>
                      <a:srgbClr val="0B5394"/>
                    </a:solidFill>
                  </a:rPr>
                  <a:t> that contains the lines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sz="1800" i="1" smtClean="0">
                            <a:solidFill>
                              <a:srgbClr val="0B539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B539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B539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0B5394"/>
                        </a:solidFill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rgbClr val="0B539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b="0" i="1" smtClean="0">
                                <a:solidFill>
                                  <a:srgbClr val="0B539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a:rPr lang="en-US" sz="1800" b="0" i="1" smtClean="0">
                        <a:solidFill>
                          <a:srgbClr val="0B5394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B539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B539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sz="1800" b="0" i="0" smtClean="0">
                        <a:solidFill>
                          <a:srgbClr val="0B539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solidFill>
                          <a:srgbClr val="0B5394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B539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B539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" sz="1800" dirty="0">
                    <a:solidFill>
                      <a:srgbClr val="0B5394"/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sz="1800" i="1">
                            <a:solidFill>
                              <a:srgbClr val="0B539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B539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B539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solidFill>
                          <a:srgbClr val="0B5394"/>
                        </a:solidFill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B539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B539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i="1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a:rPr lang="en-US" sz="1800" i="1">
                        <a:solidFill>
                          <a:srgbClr val="0B5394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B539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B539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1800">
                        <a:solidFill>
                          <a:srgbClr val="0B5394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solidFill>
                          <a:srgbClr val="0B5394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0B539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rgbClr val="0B539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rgbClr val="0B5394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" sz="1800" dirty="0">
                    <a:solidFill>
                      <a:srgbClr val="0B5394"/>
                    </a:solidFill>
                  </a:rPr>
                  <a:t> defined below. Sketch a representation.</a:t>
                </a:r>
                <a:endParaRPr sz="1800" dirty="0">
                  <a:solidFill>
                    <a:srgbClr val="0B5394"/>
                  </a:solidFill>
                </a:endParaRPr>
              </a:p>
            </p:txBody>
          </p:sp>
        </mc:Choice>
        <mc:Fallback xmlns="">
          <p:sp>
            <p:nvSpPr>
              <p:cNvPr id="488" name="Google Shape;488;p4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85002" y="897641"/>
                <a:ext cx="8736156" cy="1091199"/>
              </a:xfrm>
              <a:prstGeom prst="rect">
                <a:avLst/>
              </a:prstGeom>
              <a:blipFill>
                <a:blip r:embed="rId4"/>
                <a:stretch>
                  <a:fillRect l="-628" b="-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7CB195D-35A7-F6D3-0F52-665C2F8E57E4}"/>
                  </a:ext>
                </a:extLst>
              </p:cNvPr>
              <p:cNvSpPr txBox="1"/>
              <p:nvPr/>
            </p:nvSpPr>
            <p:spPr>
              <a:xfrm>
                <a:off x="-36512" y="2138904"/>
                <a:ext cx="5601793" cy="45736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pc="-30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accPr>
                        <m:e>
                          <m:r>
                            <a:rPr lang="en-SG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e>
                      </m:acc>
                      <m:r>
                        <a:rPr lang="en-SG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SG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SG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SG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SG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SG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0(4)−(−1)(5)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SG" i="1" spc="-30">
                                        <a:effectLst/>
                                        <a:latin typeface="Cambria Math" panose="02040503050406030204" pitchFamily="18" charset="0"/>
                                        <a:ea typeface="SimSun" panose="02010600030101010101" pitchFamily="2" charset="-122"/>
                                      </a:rPr>
                                      <m:t>(8)(4)−(−1)(−1)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SG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8(5)−0(−1)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SG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pc="-3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SG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−31</m:t>
                                </m:r>
                              </m:e>
                            </m:mr>
                            <m:mr>
                              <m:e>
                                <m:r>
                                  <a:rPr lang="en-SG" i="1" spc="-3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40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 </a:t>
                </a:r>
                <a:endParaRPr lang="en-US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endParaRPr lang="en-US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Cartesian equation of the plane: </a:t>
                </a:r>
                <a:r>
                  <a:rPr lang="en-SG" i="1" spc="-30" dirty="0" err="1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ax</a:t>
                </a:r>
                <a:r>
                  <a:rPr lang="en-SG" i="1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+ by + </a:t>
                </a:r>
                <a:r>
                  <a:rPr lang="en-SG" i="1" spc="-30" dirty="0" err="1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cz</a:t>
                </a:r>
                <a:r>
                  <a:rPr lang="en-SG" i="1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 + k = 0.</a:t>
                </a: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endParaRPr lang="en-SG" i="1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pc="-30" dirty="0">
                    <a:latin typeface="Arial" panose="020B0604020202020204" pitchFamily="34" charset="0"/>
                    <a:ea typeface="SimSun" panose="02010600030101010101" pitchFamily="2" charset="-122"/>
                  </a:rPr>
                  <a:t>The coefficients </a:t>
                </a:r>
                <a:r>
                  <a:rPr lang="en-SG" i="1" spc="-30" dirty="0">
                    <a:latin typeface="Arial" panose="020B0604020202020204" pitchFamily="34" charset="0"/>
                    <a:ea typeface="SimSun" panose="02010600030101010101" pitchFamily="2" charset="-122"/>
                  </a:rPr>
                  <a:t>a, b </a:t>
                </a:r>
                <a:r>
                  <a:rPr lang="en-SG" spc="-30" dirty="0">
                    <a:latin typeface="Arial" panose="020B0604020202020204" pitchFamily="34" charset="0"/>
                    <a:ea typeface="SimSun" panose="02010600030101010101" pitchFamily="2" charset="-122"/>
                  </a:rPr>
                  <a:t>and </a:t>
                </a:r>
                <a:r>
                  <a:rPr lang="en-SG" i="1" spc="-30" dirty="0">
                    <a:latin typeface="Arial" panose="020B0604020202020204" pitchFamily="34" charset="0"/>
                    <a:ea typeface="SimSun" panose="02010600030101010101" pitchFamily="2" charset="-122"/>
                  </a:rPr>
                  <a:t>c</a:t>
                </a:r>
                <a:r>
                  <a:rPr lang="en-SG" spc="-30" dirty="0">
                    <a:latin typeface="Arial" panose="020B0604020202020204" pitchFamily="34" charset="0"/>
                    <a:ea typeface="SimSun" panose="02010600030101010101" pitchFamily="2" charset="-122"/>
                  </a:rPr>
                  <a:t> are the coordinates of </a:t>
                </a:r>
                <a:endParaRPr lang="en-SG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	</a:t>
                </a:r>
                <a14:m>
                  <m:oMath xmlns:m="http://schemas.openxmlformats.org/officeDocument/2006/math">
                    <m:r>
                      <a:rPr lang="en-SG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5</m:t>
                    </m:r>
                    <m:r>
                      <m:rPr>
                        <m:sty m:val="p"/>
                      </m:rPr>
                      <a:rPr lang="en-SG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x</m:t>
                    </m:r>
                    <m:r>
                      <a:rPr lang="en-SG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−</m:t>
                    </m:r>
                    <m:r>
                      <a:rPr lang="en-SG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31</m:t>
                    </m:r>
                    <m:r>
                      <m:rPr>
                        <m:sty m:val="p"/>
                      </m:rPr>
                      <a:rPr lang="en-SG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y</m:t>
                    </m:r>
                    <m:r>
                      <a:rPr lang="en-SG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+40</m:t>
                    </m:r>
                    <m:r>
                      <m:rPr>
                        <m:sty m:val="p"/>
                      </m:rPr>
                      <a:rPr lang="en-SG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z</m:t>
                    </m:r>
                    <m:r>
                      <a:rPr lang="en-SG" b="0" i="0" spc="-3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r>
                      <m:rPr>
                        <m:sty m:val="p"/>
                      </m:rPr>
                      <a:rPr lang="en-SG" b="0" i="0" spc="-3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k</m:t>
                    </m:r>
                    <m:r>
                      <a:rPr lang="en-SG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r>
                      <a:rPr lang="en-SG" b="0" i="1" spc="-30" smtClean="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0</m:t>
                    </m:r>
                  </m:oMath>
                </a14:m>
                <a:r>
                  <a:rPr lang="en-SG" b="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.</a:t>
                </a: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endParaRPr lang="en-SG" b="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To find substitute (1, 3, 2) or (9,3,1).</a:t>
                </a: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endParaRPr lang="en-US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pc="-30" dirty="0">
                    <a:latin typeface="Arial" panose="020B0604020202020204" pitchFamily="34" charset="0"/>
                    <a:ea typeface="SimSun" panose="02010600030101010101" pitchFamily="2" charset="-122"/>
                  </a:rPr>
                  <a:t>Therefore, </a:t>
                </a:r>
                <a:r>
                  <a:rPr lang="en-SG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Cartesian equation of the plane is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pc="-3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5</m:t>
                      </m:r>
                      <m:r>
                        <m:rPr>
                          <m:sty m:val="p"/>
                        </m:rPr>
                        <a:rPr lang="en-SG" spc="-3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x</m:t>
                      </m:r>
                      <m:r>
                        <a:rPr lang="en-SG" i="1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−</m:t>
                      </m:r>
                      <m:r>
                        <a:rPr lang="en-SG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31</m:t>
                      </m:r>
                      <m:r>
                        <m:rPr>
                          <m:sty m:val="p"/>
                        </m:rPr>
                        <a:rPr lang="en-SG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y</m:t>
                      </m:r>
                      <m:r>
                        <a:rPr lang="en-SG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+40</m:t>
                      </m:r>
                      <m:r>
                        <m:rPr>
                          <m:sty m:val="p"/>
                        </m:rPr>
                        <a:rPr lang="en-SG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z</m:t>
                      </m:r>
                      <m:r>
                        <a:rPr lang="en-SG" b="0" i="0" spc="-3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−8</m:t>
                      </m:r>
                      <m:r>
                        <a:rPr lang="en-SG" spc="-3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>
                        <a:rPr lang="en-SG" b="0" i="1" spc="-3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0</m:t>
                      </m:r>
                    </m:oMath>
                  </m:oMathPara>
                </a14:m>
                <a:endParaRPr lang="en-SG" b="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endParaRPr lang="en-SG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endParaRPr lang="en-US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7CB195D-35A7-F6D3-0F52-665C2F8E5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512" y="2138904"/>
                <a:ext cx="5601793" cy="4573688"/>
              </a:xfrm>
              <a:prstGeom prst="rect">
                <a:avLst/>
              </a:prstGeom>
              <a:blipFill>
                <a:blip r:embed="rId5"/>
                <a:stretch>
                  <a:fillRect l="-87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F2034D-C088-1EAA-ABCA-6132F2D6BF70}"/>
                  </a:ext>
                </a:extLst>
              </p:cNvPr>
              <p:cNvSpPr txBox="1"/>
              <p:nvPr/>
            </p:nvSpPr>
            <p:spPr>
              <a:xfrm>
                <a:off x="5679910" y="1912946"/>
                <a:ext cx="3341248" cy="2231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14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B</m:t>
                    </m:r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B</m:t>
                        </m:r>
                      </m:e>
                      <m:sub>
                        <m: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B</m:t>
                        </m:r>
                      </m:e>
                      <m:sub>
                        <m: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B</m:t>
                        </m:r>
                      </m:e>
                      <m:sub>
                        <m: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3</m:t>
                        </m:r>
                      </m:sub>
                    </m:sSub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)=</m:t>
                    </m:r>
                    <m:r>
                      <a:rPr lang="en-SG" sz="1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𝐯</m:t>
                    </m:r>
                    <m:r>
                      <a:rPr lang="en-SG" sz="1400" b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sSub>
                      <m:sSubPr>
                        <m:ctrlPr>
                          <a:rPr lang="en-US" sz="1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SG" sz="1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𝐫</m:t>
                        </m:r>
                      </m:e>
                      <m:sub>
                        <m:r>
                          <a:rPr lang="en-SG" sz="1400" b="1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𝐨</m:t>
                        </m:r>
                      </m:sub>
                    </m:sSub>
                    <m:r>
                      <a:rPr lang="en-SG" sz="1400" b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1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4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endParaRPr lang="en-US" sz="14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  <a:p>
                <a:pPr marL="0" marR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1400" spc="-3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</a:rPr>
                  <a:t>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C</m:t>
                    </m:r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C</m:t>
                        </m:r>
                      </m:e>
                      <m:sub>
                        <m: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C</m:t>
                        </m:r>
                      </m:e>
                      <m:sub>
                        <m: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C</m:t>
                        </m:r>
                      </m:e>
                      <m:sub>
                        <m: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3</m:t>
                        </m:r>
                      </m:sub>
                    </m:sSub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)=</m:t>
                    </m:r>
                    <m:r>
                      <a:rPr lang="en-SG" sz="1400" b="1" i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𝐮</m:t>
                    </m:r>
                    <m:r>
                      <a:rPr lang="en-SG" sz="1400" b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r>
                      <m:rPr>
                        <m:sty m:val="p"/>
                      </m:rP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B</m:t>
                    </m:r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B</m:t>
                        </m:r>
                      </m:e>
                      <m:sub>
                        <m: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B</m:t>
                        </m:r>
                      </m:e>
                      <m:sub>
                        <m: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B</m:t>
                        </m:r>
                      </m:e>
                      <m:sub>
                        <m:r>
                          <a:rPr lang="en-SG" sz="1400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3</m:t>
                        </m:r>
                      </m:sub>
                    </m:sSub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)</m:t>
                    </m:r>
                    <m:r>
                      <a:rPr lang="en-SG" sz="1400" b="1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SG" sz="1400" i="1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−</m:t>
                              </m:r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r>
                      <a:rPr lang="en-SG" sz="1400" spc="-3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i="1" spc="-3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spc="-3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mP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SG" sz="1400" spc="-3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400" spc="-30" dirty="0"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F2034D-C088-1EAA-ABCA-6132F2D6B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910" y="1912946"/>
                <a:ext cx="3341248" cy="2231124"/>
              </a:xfrm>
              <a:prstGeom prst="rect">
                <a:avLst/>
              </a:prstGeom>
              <a:blipFill>
                <a:blip r:embed="rId6"/>
                <a:stretch>
                  <a:fillRect l="-54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4CEF5F9-F36F-AA73-4DB9-D85D17BF1B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3139035"/>
              </p:ext>
            </p:extLst>
          </p:nvPr>
        </p:nvGraphicFramePr>
        <p:xfrm>
          <a:off x="4962724" y="4282989"/>
          <a:ext cx="279524" cy="503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6720" imgH="228600" progId="Equation.DSMT4">
                  <p:embed/>
                </p:oleObj>
              </mc:Choice>
              <mc:Fallback>
                <p:oleObj name="Equation" r:id="rId7" imgW="126720" imgH="2286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14CEF5F9-F36F-AA73-4DB9-D85D17BF1B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62724" y="4282989"/>
                        <a:ext cx="279524" cy="5031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05133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9"/>
          <p:cNvSpPr txBox="1">
            <a:spLocks noGrp="1"/>
          </p:cNvSpPr>
          <p:nvPr>
            <p:ph type="title"/>
          </p:nvPr>
        </p:nvSpPr>
        <p:spPr>
          <a:xfrm>
            <a:off x="265500" y="1325775"/>
            <a:ext cx="4045200" cy="747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r>
              <a:rPr lang="en"/>
              <a:t>End of Lecture 2</a:t>
            </a:r>
            <a:endParaRPr/>
          </a:p>
        </p:txBody>
      </p:sp>
      <p:sp>
        <p:nvSpPr>
          <p:cNvPr id="497" name="Google Shape;497;p49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64</a:t>
            </a:fld>
            <a:endParaRPr/>
          </a:p>
        </p:txBody>
      </p:sp>
      <p:sp>
        <p:nvSpPr>
          <p:cNvPr id="498" name="Google Shape;498;p49"/>
          <p:cNvSpPr txBox="1">
            <a:spLocks noGrp="1"/>
          </p:cNvSpPr>
          <p:nvPr>
            <p:ph type="body" idx="2"/>
          </p:nvPr>
        </p:nvSpPr>
        <p:spPr>
          <a:xfrm>
            <a:off x="4939500" y="1581450"/>
            <a:ext cx="3837000" cy="36951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 marL="0" indent="0">
              <a:buNone/>
            </a:pPr>
            <a:r>
              <a:rPr lang="en" sz="1400"/>
              <a:t>Watch the videos below for a clearer visual representation of vectors and vector geometry.</a:t>
            </a:r>
            <a:endParaRPr sz="1400"/>
          </a:p>
          <a:p>
            <a:pPr indent="-317500">
              <a:spcBef>
                <a:spcPts val="1600"/>
              </a:spcBef>
              <a:buSzPts val="1400"/>
              <a:buAutoNum type="arabicPeriod"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https://youtu.be/fNk_zzaMoSs</a:t>
            </a:r>
            <a:endParaRPr sz="1400"/>
          </a:p>
          <a:p>
            <a:pPr indent="-317500">
              <a:buSzPts val="1400"/>
              <a:buAutoNum type="arabicPeriod"/>
            </a:pPr>
            <a:r>
              <a:rPr lang="en" sz="1400" u="sng">
                <a:solidFill>
                  <a:schemeClr val="hlink"/>
                </a:solidFill>
                <a:hlinkClick r:id="rId4"/>
              </a:rPr>
              <a:t>https://youtu.be/k7RM-ot2NWY</a:t>
            </a:r>
            <a:endParaRPr sz="1400"/>
          </a:p>
        </p:txBody>
      </p:sp>
      <p:pic>
        <p:nvPicPr>
          <p:cNvPr id="499" name="Google Shape;499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2898" y="2162501"/>
            <a:ext cx="2570400" cy="34957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-1256775328"/>
</p:tagLst>
</file>

<file path=ppt/theme/theme1.xml><?xml version="1.0" encoding="utf-8"?>
<a:theme xmlns:a="http://schemas.openxmlformats.org/drawingml/2006/main" name="SIT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3A85156F3FEF43BCA4F0054F9D13B6" ma:contentTypeVersion="13" ma:contentTypeDescription="Create a new document." ma:contentTypeScope="" ma:versionID="4af59a52bc8a786f943b0400ffd903e4">
  <xsd:schema xmlns:xsd="http://www.w3.org/2001/XMLSchema" xmlns:xs="http://www.w3.org/2001/XMLSchema" xmlns:p="http://schemas.microsoft.com/office/2006/metadata/properties" xmlns:ns3="95c3c5df-e717-4ee2-98bc-4107d25bc39f" xmlns:ns4="ca61238d-8c52-4775-b463-47868107c093" targetNamespace="http://schemas.microsoft.com/office/2006/metadata/properties" ma:root="true" ma:fieldsID="62efbc6d413ad00642726ad38e05b8a5" ns3:_="" ns4:_="">
    <xsd:import namespace="95c3c5df-e717-4ee2-98bc-4107d25bc39f"/>
    <xsd:import namespace="ca61238d-8c52-4775-b463-47868107c09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c3c5df-e717-4ee2-98bc-4107d25bc3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61238d-8c52-4775-b463-47868107c093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FF84FE-0BFC-48E5-86BA-4C1FACD581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5c3c5df-e717-4ee2-98bc-4107d25bc39f"/>
    <ds:schemaRef ds:uri="ca61238d-8c52-4775-b463-47868107c0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384BD29-71A3-4A92-B725-8FF842098B0D}">
  <ds:schemaRefs>
    <ds:schemaRef ds:uri="http://www.w3.org/XML/1998/namespace"/>
    <ds:schemaRef ds:uri="ca61238d-8c52-4775-b463-47868107c093"/>
    <ds:schemaRef ds:uri="http://purl.org/dc/dcmitype/"/>
    <ds:schemaRef ds:uri="http://schemas.microsoft.com/office/2006/metadata/properties"/>
    <ds:schemaRef ds:uri="http://schemas.microsoft.com/office/2006/documentManagement/types"/>
    <ds:schemaRef ds:uri="95c3c5df-e717-4ee2-98bc-4107d25bc39f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DFBA853-5A72-4FD0-A3D7-9681426E886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SIT Template</Template>
  <TotalTime>28896</TotalTime>
  <Words>4057</Words>
  <Application>Microsoft Macintosh PowerPoint</Application>
  <PresentationFormat>On-screen Show (4:3)</PresentationFormat>
  <Paragraphs>502</Paragraphs>
  <Slides>64</Slides>
  <Notes>55</Notes>
  <HiddenSlides>4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4" baseType="lpstr">
      <vt:lpstr>SimSun</vt:lpstr>
      <vt:lpstr>Arial</vt:lpstr>
      <vt:lpstr>Avenir LT Std 55 Roman</vt:lpstr>
      <vt:lpstr>Calibri</vt:lpstr>
      <vt:lpstr>Cambria Math</vt:lpstr>
      <vt:lpstr>Google Sans</vt:lpstr>
      <vt:lpstr>Proxima Nova</vt:lpstr>
      <vt:lpstr>Times New Roman</vt:lpstr>
      <vt:lpstr>SIT Template</vt:lpstr>
      <vt:lpstr>Equation</vt:lpstr>
      <vt:lpstr>INF1004 Linear Algebra (Part II) Lecture 8 : Vectors &amp; Geometry</vt:lpstr>
      <vt:lpstr>Outline</vt:lpstr>
      <vt:lpstr>A Vector</vt:lpstr>
      <vt:lpstr>Vector Notation</vt:lpstr>
      <vt:lpstr>Representations of a Vector</vt:lpstr>
      <vt:lpstr>Vector Addition/Subtraction</vt:lpstr>
      <vt:lpstr>Magnitude &amp; Direction</vt:lpstr>
      <vt:lpstr>Exercise</vt:lpstr>
      <vt:lpstr>Exercise</vt:lpstr>
      <vt:lpstr>Vectors in Higher Dimensions</vt:lpstr>
      <vt:lpstr>Vectors in Higher Dimensions</vt:lpstr>
      <vt:lpstr>Scaling a Vector</vt:lpstr>
      <vt:lpstr>Unit Vectors</vt:lpstr>
      <vt:lpstr>Unit Vectors</vt:lpstr>
      <vt:lpstr>Exercise</vt:lpstr>
      <vt:lpstr>Exercise</vt:lpstr>
      <vt:lpstr>Unit Vector Along a Vector’s Direction</vt:lpstr>
      <vt:lpstr>Basis Vectors</vt:lpstr>
      <vt:lpstr>Basis Vectors</vt:lpstr>
      <vt:lpstr>Basis Vectors</vt:lpstr>
      <vt:lpstr>Linear dependency and independency</vt:lpstr>
      <vt:lpstr>Basis Vectors</vt:lpstr>
      <vt:lpstr>Basis Vectors</vt:lpstr>
      <vt:lpstr>Dot Product</vt:lpstr>
      <vt:lpstr>Exercise</vt:lpstr>
      <vt:lpstr>Exercise</vt:lpstr>
      <vt:lpstr>Dot Product</vt:lpstr>
      <vt:lpstr>Properties of the Dot Product</vt:lpstr>
      <vt:lpstr>Properties of the Dot Product</vt:lpstr>
      <vt:lpstr>Properties of the Dot Product</vt:lpstr>
      <vt:lpstr>Exercise</vt:lpstr>
      <vt:lpstr>Exercise</vt:lpstr>
      <vt:lpstr>Cross Product</vt:lpstr>
      <vt:lpstr>Exercise</vt:lpstr>
      <vt:lpstr>Exercise</vt:lpstr>
      <vt:lpstr>Cross Product </vt:lpstr>
      <vt:lpstr>Properties of the Cross Product</vt:lpstr>
      <vt:lpstr>Properties of the Cross Product</vt:lpstr>
      <vt:lpstr>Properties of the Cross Product</vt:lpstr>
      <vt:lpstr>Properties of the Cross Product (cont’d)</vt:lpstr>
      <vt:lpstr>Exercise</vt:lpstr>
      <vt:lpstr>Exercise</vt:lpstr>
      <vt:lpstr>Vector Representation of a Line in ℝ2</vt:lpstr>
      <vt:lpstr>Vector Representation of a Line in ℝ2</vt:lpstr>
      <vt:lpstr>Vector Representation of a Line in ℝ2</vt:lpstr>
      <vt:lpstr>Vector Representation of a Line in ℝ2 </vt:lpstr>
      <vt:lpstr>Vector Representation of a Line in ℝ2 </vt:lpstr>
      <vt:lpstr>Vector Representation of a Line in ℝ3</vt:lpstr>
      <vt:lpstr>Vector Representation of a Line in ℝ3</vt:lpstr>
      <vt:lpstr>Vector Representation of a Line in ℝ3</vt:lpstr>
      <vt:lpstr>Vector Representation of a Line in ℝ3</vt:lpstr>
      <vt:lpstr>Vector Representation of a Plane in ℝ3 </vt:lpstr>
      <vt:lpstr>Vector Representation of a Plane in ℝ3 </vt:lpstr>
      <vt:lpstr>Vector Representation of a Plane in ℝ3 </vt:lpstr>
      <vt:lpstr>Vector Representation of a Plane in ℝ3 </vt:lpstr>
      <vt:lpstr>Vector Representation of a Plane in ℝ3 </vt:lpstr>
      <vt:lpstr>PowerPoint Presentation</vt:lpstr>
      <vt:lpstr>PowerPoint Presentation</vt:lpstr>
      <vt:lpstr>Vector Equation of a Plane in ℝ3</vt:lpstr>
      <vt:lpstr>Vector Representation of a plane in ℝ3</vt:lpstr>
      <vt:lpstr>Vector Representation of a plane in ℝ3</vt:lpstr>
      <vt:lpstr>Vector Representation of a Plane in ℝ3 </vt:lpstr>
      <vt:lpstr>Vector Representation of a Plane in ℝ3 </vt:lpstr>
      <vt:lpstr>End of Lecture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Royson Poh Kok Siong</dc:creator>
  <cp:lastModifiedBy>Pulakesh Upadhyaya</cp:lastModifiedBy>
  <cp:revision>788</cp:revision>
  <cp:lastPrinted>2023-07-19T02:21:02Z</cp:lastPrinted>
  <dcterms:created xsi:type="dcterms:W3CDTF">2014-10-16T05:40:43Z</dcterms:created>
  <dcterms:modified xsi:type="dcterms:W3CDTF">2026-02-11T03:03:38Z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0x0101000A3A85156F3FEF43BCA4F0054F9D13B6</vt:lpwstr>
  </property>
  <property fmtid="{D5CDD505-2E9C-101B-9397-08002B2CF9AE}" pid="3" name="MSIP_Label_7766c061-8e16-473d-8aec-8fc5553e8a9b_Enabled">
    <vt:lpwstr>true</vt:lpwstr>
  </property>
  <property fmtid="{D5CDD505-2E9C-101B-9397-08002B2CF9AE}" pid="4" name="MSIP_Label_7766c061-8e16-473d-8aec-8fc5553e8a9b_SetDate">
    <vt:lpwstr>2024-06-10T04:32:17Z</vt:lpwstr>
  </property>
  <property fmtid="{D5CDD505-2E9C-101B-9397-08002B2CF9AE}" pid="5" name="MSIP_Label_7766c061-8e16-473d-8aec-8fc5553e8a9b_Method">
    <vt:lpwstr>Privileged</vt:lpwstr>
  </property>
  <property fmtid="{D5CDD505-2E9C-101B-9397-08002B2CF9AE}" pid="6" name="MSIP_Label_7766c061-8e16-473d-8aec-8fc5553e8a9b_Name">
    <vt:lpwstr>SIT Internal</vt:lpwstr>
  </property>
  <property fmtid="{D5CDD505-2E9C-101B-9397-08002B2CF9AE}" pid="7" name="MSIP_Label_7766c061-8e16-473d-8aec-8fc5553e8a9b_SiteId">
    <vt:lpwstr>64991f7f-44d6-4d8c-9cd4-7862e8cb94c6</vt:lpwstr>
  </property>
  <property fmtid="{D5CDD505-2E9C-101B-9397-08002B2CF9AE}" pid="8" name="MSIP_Label_7766c061-8e16-473d-8aec-8fc5553e8a9b_ActionId">
    <vt:lpwstr>88010aec-4441-4359-b5d2-1df50d0e873d</vt:lpwstr>
  </property>
  <property fmtid="{D5CDD505-2E9C-101B-9397-08002B2CF9AE}" pid="9" name="MSIP_Label_7766c061-8e16-473d-8aec-8fc5553e8a9b_ContentBits">
    <vt:lpwstr>1</vt:lpwstr>
  </property>
</Properties>
</file>