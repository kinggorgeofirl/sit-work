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6150" r:id="rId2"/>
    <p:sldMasterId id="2147486161" r:id="rId3"/>
  </p:sldMasterIdLst>
  <p:notesMasterIdLst>
    <p:notesMasterId r:id="rId61"/>
  </p:notesMasterIdLst>
  <p:handoutMasterIdLst>
    <p:handoutMasterId r:id="rId62"/>
  </p:handoutMasterIdLst>
  <p:sldIdLst>
    <p:sldId id="266" r:id="rId4"/>
    <p:sldId id="582" r:id="rId5"/>
    <p:sldId id="258" r:id="rId6"/>
    <p:sldId id="573" r:id="rId7"/>
    <p:sldId id="574" r:id="rId8"/>
    <p:sldId id="263" r:id="rId9"/>
    <p:sldId id="425" r:id="rId10"/>
    <p:sldId id="575" r:id="rId11"/>
    <p:sldId id="576" r:id="rId12"/>
    <p:sldId id="577" r:id="rId13"/>
    <p:sldId id="578" r:id="rId14"/>
    <p:sldId id="269" r:id="rId15"/>
    <p:sldId id="271" r:id="rId16"/>
    <p:sldId id="272" r:id="rId17"/>
    <p:sldId id="428" r:id="rId18"/>
    <p:sldId id="273" r:id="rId19"/>
    <p:sldId id="429" r:id="rId20"/>
    <p:sldId id="581" r:id="rId21"/>
    <p:sldId id="479" r:id="rId22"/>
    <p:sldId id="516" r:id="rId23"/>
    <p:sldId id="480" r:id="rId24"/>
    <p:sldId id="481" r:id="rId25"/>
    <p:sldId id="482" r:id="rId26"/>
    <p:sldId id="483" r:id="rId27"/>
    <p:sldId id="518" r:id="rId28"/>
    <p:sldId id="484" r:id="rId29"/>
    <p:sldId id="485" r:id="rId30"/>
    <p:sldId id="520" r:id="rId31"/>
    <p:sldId id="522" r:id="rId32"/>
    <p:sldId id="523" r:id="rId33"/>
    <p:sldId id="580" r:id="rId34"/>
    <p:sldId id="583" r:id="rId35"/>
    <p:sldId id="486" r:id="rId36"/>
    <p:sldId id="525" r:id="rId37"/>
    <p:sldId id="487" r:id="rId38"/>
    <p:sldId id="489" r:id="rId39"/>
    <p:sldId id="526" r:id="rId40"/>
    <p:sldId id="491" r:id="rId41"/>
    <p:sldId id="492" r:id="rId42"/>
    <p:sldId id="495" r:id="rId43"/>
    <p:sldId id="584" r:id="rId44"/>
    <p:sldId id="567" r:id="rId45"/>
    <p:sldId id="568" r:id="rId46"/>
    <p:sldId id="569" r:id="rId47"/>
    <p:sldId id="570" r:id="rId48"/>
    <p:sldId id="571" r:id="rId49"/>
    <p:sldId id="572" r:id="rId50"/>
    <p:sldId id="381" r:id="rId51"/>
    <p:sldId id="585" r:id="rId52"/>
    <p:sldId id="558" r:id="rId53"/>
    <p:sldId id="559" r:id="rId54"/>
    <p:sldId id="562" r:id="rId55"/>
    <p:sldId id="563" r:id="rId56"/>
    <p:sldId id="560" r:id="rId57"/>
    <p:sldId id="564" r:id="rId58"/>
    <p:sldId id="565" r:id="rId59"/>
    <p:sldId id="566" r:id="rId60"/>
  </p:sldIdLst>
  <p:sldSz cx="9144000" cy="6858000" type="screen4x3"/>
  <p:notesSz cx="6797675" cy="9926638"/>
  <p:custDataLst>
    <p:tags r:id="rId6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66FF"/>
    <a:srgbClr val="0033CC"/>
    <a:srgbClr val="0066FF"/>
    <a:srgbClr val="0066CC"/>
    <a:srgbClr val="CC99FF"/>
    <a:srgbClr val="FFCC99"/>
    <a:srgbClr val="FF99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469" autoAdjust="0"/>
  </p:normalViewPr>
  <p:slideViewPr>
    <p:cSldViewPr snapToGrid="0">
      <p:cViewPr varScale="1">
        <p:scale>
          <a:sx n="52" d="100"/>
          <a:sy n="52" d="100"/>
        </p:scale>
        <p:origin x="1354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6" d="100"/>
          <a:sy n="46" d="100"/>
        </p:scale>
        <p:origin x="-2880" y="-114"/>
      </p:cViewPr>
      <p:guideLst>
        <p:guide orient="horz" pos="3127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ags" Target="tags/tag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SG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0D40438-DCE8-43D5-A161-344CBEE13975}" type="datetimeFigureOut">
              <a:rPr lang="en-SG" altLang="en-US"/>
              <a:pPr/>
              <a:t>20/9/2025</a:t>
            </a:fld>
            <a:endParaRPr lang="en-SG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SG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577AED9-C2D5-4DA5-93BC-3FD07F73839B}" type="slidenum">
              <a:rPr lang="en-SG" altLang="en-US"/>
              <a:pPr/>
              <a:t>‹#›</a:t>
            </a:fld>
            <a:endParaRPr lang="en-SG" altLang="en-US" dirty="0"/>
          </a:p>
        </p:txBody>
      </p:sp>
    </p:spTree>
    <p:extLst>
      <p:ext uri="{BB962C8B-B14F-4D97-AF65-F5344CB8AC3E}">
        <p14:creationId xmlns:p14="http://schemas.microsoft.com/office/powerpoint/2010/main" val="37151035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SG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1A5B13D3-8E00-4DFF-9EFF-5E865F0C1E35}" type="datetimeFigureOut">
              <a:rPr lang="en-US" altLang="en-US"/>
              <a:pPr/>
              <a:t>9/20/2025</a:t>
            </a:fld>
            <a:endParaRPr lang="en-SG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60937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SG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14875"/>
            <a:ext cx="5435600" cy="44672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SG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SG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D7938CB-4859-44FE-97CA-5EEAE0C569BA}" type="slidenum">
              <a:rPr lang="en-SG" altLang="en-US"/>
              <a:pPr/>
              <a:t>‹#›</a:t>
            </a:fld>
            <a:endParaRPr lang="en-SG" altLang="en-US" dirty="0"/>
          </a:p>
        </p:txBody>
      </p:sp>
    </p:spTree>
    <p:extLst>
      <p:ext uri="{BB962C8B-B14F-4D97-AF65-F5344CB8AC3E}">
        <p14:creationId xmlns:p14="http://schemas.microsoft.com/office/powerpoint/2010/main" val="42797610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c9c9bc6c2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01975" y="493713"/>
            <a:ext cx="3295650" cy="247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7c9c9bc6c2_0_50:notes"/>
          <p:cNvSpPr txBox="1">
            <a:spLocks noGrp="1"/>
          </p:cNvSpPr>
          <p:nvPr>
            <p:ph type="body" idx="1"/>
          </p:nvPr>
        </p:nvSpPr>
        <p:spPr>
          <a:xfrm>
            <a:off x="950004" y="3131734"/>
            <a:ext cx="7600028" cy="2966905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7cdceaad0a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01975" y="493713"/>
            <a:ext cx="3295650" cy="247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7cdceaad0a_0_172:notes"/>
          <p:cNvSpPr txBox="1">
            <a:spLocks noGrp="1"/>
          </p:cNvSpPr>
          <p:nvPr>
            <p:ph type="body" idx="1"/>
          </p:nvPr>
        </p:nvSpPr>
        <p:spPr>
          <a:xfrm>
            <a:off x="950004" y="3131734"/>
            <a:ext cx="7600028" cy="2966905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7cdceaad0a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7cdceaad0a_0_180:notes"/>
          <p:cNvSpPr txBox="1">
            <a:spLocks noGrp="1"/>
          </p:cNvSpPr>
          <p:nvPr>
            <p:ph type="body" idx="1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4837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cdceaad0a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cdceaad0a_0_240:notes"/>
          <p:cNvSpPr txBox="1">
            <a:spLocks noGrp="1"/>
          </p:cNvSpPr>
          <p:nvPr>
            <p:ph type="body" idx="1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7cdceaad0a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01975" y="493713"/>
            <a:ext cx="3295650" cy="247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7cdceaad0a_0_204:notes"/>
          <p:cNvSpPr txBox="1">
            <a:spLocks noGrp="1"/>
          </p:cNvSpPr>
          <p:nvPr>
            <p:ph type="body" idx="1"/>
          </p:nvPr>
        </p:nvSpPr>
        <p:spPr>
          <a:xfrm>
            <a:off x="950004" y="3131734"/>
            <a:ext cx="7600028" cy="2966905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7cdceaad0a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7cdceaad0a_0_318:notes"/>
          <p:cNvSpPr txBox="1">
            <a:spLocks noGrp="1"/>
          </p:cNvSpPr>
          <p:nvPr>
            <p:ph type="body" idx="1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7cdceaad0a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7cdceaad0a_0_318:notes"/>
          <p:cNvSpPr txBox="1">
            <a:spLocks noGrp="1"/>
          </p:cNvSpPr>
          <p:nvPr>
            <p:ph type="body" idx="1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7876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7cdceaad0a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01975" y="493713"/>
            <a:ext cx="3295650" cy="247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7cdceaad0a_0_328:notes"/>
          <p:cNvSpPr txBox="1">
            <a:spLocks noGrp="1"/>
          </p:cNvSpPr>
          <p:nvPr>
            <p:ph type="body" idx="1"/>
          </p:nvPr>
        </p:nvSpPr>
        <p:spPr>
          <a:xfrm>
            <a:off x="950004" y="3131734"/>
            <a:ext cx="7600028" cy="2966905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cdceaad0a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cdceaad0a_0_337:notes"/>
          <p:cNvSpPr txBox="1">
            <a:spLocks noGrp="1"/>
          </p:cNvSpPr>
          <p:nvPr>
            <p:ph type="body" idx="1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4770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37931725" indent="-37474525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E260936-1FB4-4913-8A1D-16A8ACBED2CA}" type="slidenum">
              <a:rPr lang="en-US" altLang="en-US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64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37931725" indent="-37474525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746BB89-D734-4C93-9801-0D9E7C75932A}" type="slidenum">
              <a:rPr lang="en-US" altLang="en-US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5381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37931725" indent="-37474525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320F60D-83C3-4287-A4E5-B1E38936C6C6}" type="slidenum">
              <a:rPr lang="en-US" altLang="en-US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573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37931725" indent="-37474525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57FEEBD-D106-45ED-A3D1-F31B67CEB5A1}" type="slidenum">
              <a:rPr lang="en-US" altLang="en-US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0141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37931725" indent="-37474525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57FEEBD-D106-45ED-A3D1-F31B67CEB5A1}" type="slidenum">
              <a:rPr lang="en-US" altLang="en-US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175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37931725" indent="-37474525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B98CB6-ECE8-46BA-84E4-17F8C8ED908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072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37931725" indent="-37474525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746BB89-D734-4C93-9801-0D9E7C75932A}" type="slidenum">
              <a:rPr lang="en-US" altLang="en-US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559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37931725" indent="-37474525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746BB89-D734-4C93-9801-0D9E7C75932A}" type="slidenum">
              <a:rPr lang="en-US" altLang="en-US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8889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37931725" indent="-37474525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63920E-4763-4769-8063-AE46D2032283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7146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37931725" indent="-37474525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746BB89-D734-4C93-9801-0D9E7C75932A}" type="slidenum">
              <a:rPr lang="en-US" altLang="en-US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8019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37931725" indent="-37474525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746BB89-D734-4C93-9801-0D9E7C75932A}" type="slidenum">
              <a:rPr lang="en-US" altLang="en-US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47</a:t>
            </a:fld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07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735D7B-62A5-468E-8693-D3180916D74A}" type="datetimeFigureOut">
              <a:rPr lang="en-US" altLang="en-US"/>
              <a:pPr/>
              <a:t>9/20/2025</a:t>
            </a:fld>
            <a:endParaRPr lang="en-SG" alt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 alt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64" charset="0"/>
                <a:cs typeface="Arial" charset="0"/>
              </a:defRPr>
            </a:lvl1pPr>
          </a:lstStyle>
          <a:p>
            <a:pPr>
              <a:defRPr/>
            </a:pPr>
            <a:r>
              <a:rPr lang="en-SG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746011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C8ED85-7BC5-4C53-BC1E-C71F945C0626}" type="datetimeFigureOut">
              <a:rPr lang="en-US" altLang="en-US"/>
              <a:pPr/>
              <a:t>9/20/2025</a:t>
            </a:fld>
            <a:endParaRPr lang="en-SG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1DD2FC-C4B6-4C72-B74F-74A62290C66D}" type="slidenum">
              <a:rPr lang="en-SG" altLang="en-US"/>
              <a:pPr/>
              <a:t>‹#›</a:t>
            </a:fld>
            <a:endParaRPr lang="en-SG" altLang="en-US" dirty="0"/>
          </a:p>
        </p:txBody>
      </p:sp>
    </p:spTree>
    <p:extLst>
      <p:ext uri="{BB962C8B-B14F-4D97-AF65-F5344CB8AC3E}">
        <p14:creationId xmlns:p14="http://schemas.microsoft.com/office/powerpoint/2010/main" val="1048583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B08780-9537-429D-9676-21F82C02FD57}" type="datetimeFigureOut">
              <a:rPr lang="en-US" altLang="en-US"/>
              <a:pPr/>
              <a:t>9/20/2025</a:t>
            </a:fld>
            <a:endParaRPr lang="en-SG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1B1B11-5F67-48DA-BB31-EB32B2C64091}" type="slidenum">
              <a:rPr lang="en-SG" altLang="en-US"/>
              <a:pPr/>
              <a:t>‹#›</a:t>
            </a:fld>
            <a:endParaRPr lang="en-SG" altLang="en-US" dirty="0"/>
          </a:p>
        </p:txBody>
      </p:sp>
    </p:spTree>
    <p:extLst>
      <p:ext uri="{BB962C8B-B14F-4D97-AF65-F5344CB8AC3E}">
        <p14:creationId xmlns:p14="http://schemas.microsoft.com/office/powerpoint/2010/main" val="1599993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580996" y="2867020"/>
            <a:ext cx="8229600" cy="542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3200"/>
            </a:lvl1pPr>
          </a:lstStyle>
          <a:p>
            <a:pPr lvl="0"/>
            <a:r>
              <a:rPr lang="en-US" noProof="0" dirty="0"/>
              <a:t>MARCOM STRUCTURE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F4E82CFD-E3C8-40DA-ADAA-2404F717B9CF}" type="datetimeFigureOut">
              <a:rPr lang="en-US" altLang="en-US"/>
              <a:pPr/>
              <a:t>9/20/2025</a:t>
            </a:fld>
            <a:endParaRPr lang="en-SG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endParaRPr lang="en-SG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A1F28568-4171-4329-B20C-7BDB4D1AAE83}" type="slidenum">
              <a:rPr lang="en-SG" altLang="en-US"/>
              <a:pPr/>
              <a:t>‹#›</a:t>
            </a:fld>
            <a:endParaRPr lang="en-SG" altLang="en-US" dirty="0"/>
          </a:p>
        </p:txBody>
      </p:sp>
    </p:spTree>
    <p:extLst>
      <p:ext uri="{BB962C8B-B14F-4D97-AF65-F5344CB8AC3E}">
        <p14:creationId xmlns:p14="http://schemas.microsoft.com/office/powerpoint/2010/main" val="3761950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E98F0EF-3CAC-45EF-9F30-CA317F04A4EE}" type="datetimeFigureOut">
              <a:rPr lang="en-US" altLang="en-US"/>
              <a:pPr/>
              <a:t>9/20/2025</a:t>
            </a:fld>
            <a:endParaRPr lang="en-SG" alt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 alt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315389-8AC2-4C1B-ABD2-54A821B7C8F8}" type="slidenum">
              <a:rPr lang="en-SG" altLang="en-US"/>
              <a:pPr/>
              <a:t>‹#›</a:t>
            </a:fld>
            <a:endParaRPr lang="en-SG" altLang="en-US" dirty="0"/>
          </a:p>
        </p:txBody>
      </p:sp>
    </p:spTree>
    <p:extLst>
      <p:ext uri="{BB962C8B-B14F-4D97-AF65-F5344CB8AC3E}">
        <p14:creationId xmlns:p14="http://schemas.microsoft.com/office/powerpoint/2010/main" val="3524091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830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/>
            </a:lvl1pPr>
            <a:lvl2pPr>
              <a:buClr>
                <a:srgbClr val="007FA3"/>
              </a:buClr>
              <a:defRPr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9/20/2025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283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6727600"/>
            <a:ext cx="9144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39308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9555B-D411-4CB8-9A3A-D15510229A47}" type="datetime1">
              <a:rPr lang="en-SG" smtClean="0"/>
              <a:t>20/9/2025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1787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A9ED37-49AF-432B-9380-296D693DD4C3}" type="datetime1">
              <a:rPr lang="en-US" altLang="en-US" smtClean="0"/>
              <a:t>9/20/2025</a:t>
            </a:fld>
            <a:endParaRPr lang="en-SG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itchFamily="64" charset="0"/>
                <a:cs typeface="Arial" charset="0"/>
              </a:defRPr>
            </a:lvl1pPr>
          </a:lstStyle>
          <a:p>
            <a:pPr>
              <a:defRPr/>
            </a:pPr>
            <a:fld id="{7B2D1BB0-1F49-4621-BBE5-4087BD554113}" type="slidenum">
              <a:rPr lang="en-SG" smtClean="0"/>
              <a:pPr>
                <a:defRPr/>
              </a:pPr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50054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876169-2FBA-4C6A-B045-9E548F95FCEC}" type="datetime1">
              <a:rPr lang="en-US" altLang="en-US" smtClean="0"/>
              <a:t>9/20/2025</a:t>
            </a:fld>
            <a:endParaRPr lang="en-SG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364572-1815-4F87-AC72-B05098A0BD84}" type="slidenum">
              <a:rPr lang="en-SG" altLang="en-US" smtClean="0"/>
              <a:pPr/>
              <a:t>‹#›</a:t>
            </a:fld>
            <a:endParaRPr lang="en-SG" altLang="en-US" dirty="0"/>
          </a:p>
        </p:txBody>
      </p:sp>
    </p:spTree>
    <p:extLst>
      <p:ext uri="{BB962C8B-B14F-4D97-AF65-F5344CB8AC3E}">
        <p14:creationId xmlns:p14="http://schemas.microsoft.com/office/powerpoint/2010/main" val="890167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3F8CA18-2559-40B8-BD25-B3A427064A85}" type="datetime1">
              <a:rPr lang="en-US" altLang="en-US" smtClean="0"/>
              <a:t>9/20/2025</a:t>
            </a:fld>
            <a:endParaRPr lang="en-SG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F18CE4-51AA-4494-9F94-CB34654748E0}" type="slidenum">
              <a:rPr lang="en-SG" altLang="en-US" smtClean="0"/>
              <a:pPr/>
              <a:t>‹#›</a:t>
            </a:fld>
            <a:endParaRPr lang="en-SG" altLang="en-US" dirty="0"/>
          </a:p>
        </p:txBody>
      </p:sp>
    </p:spTree>
    <p:extLst>
      <p:ext uri="{BB962C8B-B14F-4D97-AF65-F5344CB8AC3E}">
        <p14:creationId xmlns:p14="http://schemas.microsoft.com/office/powerpoint/2010/main" val="448660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580996" y="2867020"/>
            <a:ext cx="8229600" cy="542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3200"/>
            </a:lvl1pPr>
          </a:lstStyle>
          <a:p>
            <a:pPr lvl="0"/>
            <a:r>
              <a:rPr lang="en-US" noProof="0" dirty="0"/>
              <a:t>MARCOM STRUCTURE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BF3F1ADC-9F6A-40B5-9C10-1396B3AD4BE6}" type="datetime1">
              <a:rPr lang="en-US" altLang="en-US" smtClean="0"/>
              <a:t>9/20/2025</a:t>
            </a:fld>
            <a:endParaRPr lang="en-SG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endParaRPr lang="en-SG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05A7B4-B418-4401-A84F-3CA2CB1F0D08}" type="slidenum">
              <a:rPr lang="en-SG" altLang="en-US" smtClean="0"/>
              <a:pPr/>
              <a:t>‹#›</a:t>
            </a:fld>
            <a:endParaRPr lang="en-SG" altLang="en-US" dirty="0"/>
          </a:p>
        </p:txBody>
      </p:sp>
    </p:spTree>
    <p:extLst>
      <p:ext uri="{BB962C8B-B14F-4D97-AF65-F5344CB8AC3E}">
        <p14:creationId xmlns:p14="http://schemas.microsoft.com/office/powerpoint/2010/main" val="616247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D8C1F4-457E-46A1-9504-E0A3774F5FB1}" type="datetime1">
              <a:rPr lang="en-US" altLang="en-US" smtClean="0"/>
              <a:t>9/20/2025</a:t>
            </a:fld>
            <a:endParaRPr lang="en-SG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BE4874-9201-425C-A569-A8F0C969B2FB}" type="slidenum">
              <a:rPr lang="en-SG" altLang="en-US" smtClean="0"/>
              <a:pPr/>
              <a:t>‹#›</a:t>
            </a:fld>
            <a:endParaRPr lang="en-SG" altLang="en-US" dirty="0"/>
          </a:p>
        </p:txBody>
      </p:sp>
    </p:spTree>
    <p:extLst>
      <p:ext uri="{BB962C8B-B14F-4D97-AF65-F5344CB8AC3E}">
        <p14:creationId xmlns:p14="http://schemas.microsoft.com/office/powerpoint/2010/main" val="35861326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9555B-D411-4CB8-9A3A-D15510229A47}" type="datetime1">
              <a:rPr lang="en-SG" smtClean="0"/>
              <a:t>20/9/2025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6252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94FA-B545-4561-8171-1927DC376A1A}" type="datetime1">
              <a:rPr lang="en-SG" smtClean="0"/>
              <a:t>20/9/2025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785643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9210-5203-4E74-B462-5C681D732495}" type="datetime1">
              <a:rPr lang="en-SG" smtClean="0"/>
              <a:t>20/9/2025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398477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D401-BEFD-45B1-A912-DD210179BF0A}" type="datetime1">
              <a:rPr lang="en-SG" smtClean="0"/>
              <a:t>20/9/2025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86918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0852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6876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0852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8CA7-0D88-4DD1-9F40-9EE991ED6786}" type="datetime1">
              <a:rPr lang="en-SG" smtClean="0"/>
              <a:t>20/9/2025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230225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4C8A5-6DBD-4159-BBFC-9AD64056A27B}" type="datetime1">
              <a:rPr lang="en-SG" smtClean="0"/>
              <a:t>20/9/2025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522874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78407A-5E78-473F-B9ED-8B59CE9A84EE}" type="datetime1">
              <a:rPr lang="en-SG" smtClean="0"/>
              <a:t>20/9/2025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6189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F67F2F6-1AF1-4676-A25D-AE34B4C40A68}" type="datetime1">
              <a:rPr lang="en-SG" smtClean="0"/>
              <a:t>20/9/2025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1183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E5862B0-B255-48B9-A49E-AADCA820C3DA}" type="datetime1">
              <a:rPr lang="en-SG" smtClean="0"/>
              <a:t>20/9/2025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4658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74EE07-24A3-4C25-9839-280C816FF962}" type="datetime1">
              <a:rPr lang="en-SG" smtClean="0"/>
              <a:t>20/9/2025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1560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9420A3-232A-41CC-BFF0-6400B32D9D19}" type="datetime1">
              <a:rPr lang="en-SG" smtClean="0"/>
              <a:t>20/9/2025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393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201D7AB-E116-4544-AD33-BE572DD6E1AF}" type="datetime1">
              <a:rPr lang="en-SG" smtClean="0"/>
              <a:t>20/9/2025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2541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80A0BF-DD80-4D41-9B4A-0109D9636638}" type="datetime1">
              <a:rPr lang="en-SG" smtClean="0"/>
              <a:t>20/9/2025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9717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DFDD63-E233-4C13-A22C-29D1E426B954}" type="datetime1">
              <a:rPr lang="en-SG" smtClean="0"/>
              <a:t>20/9/2025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73932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A59644-A1DC-47DC-9CCB-6C0B6DE5E03A}" type="datetime1">
              <a:rPr lang="en-SG" smtClean="0"/>
              <a:t>20/9/2025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101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54A557-EB90-4E16-A010-D4D0FFA86466}" type="datetime1">
              <a:rPr lang="en-SG" smtClean="0"/>
              <a:t>20/9/2025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663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87D9E9-6288-498B-8F5C-A6A65C26EB02}" type="datetime1">
              <a:rPr lang="en-SG" smtClean="0"/>
              <a:t>20/9/2025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7084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E46864-7E5B-435D-915D-7071ACB48B79}" type="datetime1">
              <a:rPr lang="en-SG" smtClean="0"/>
              <a:t>20/9/2025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2007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14D187-C6C5-4552-AF1B-B8A32C86F476}" type="datetime1">
              <a:rPr lang="en-SG" smtClean="0"/>
              <a:t>20/9/2025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1015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6727600"/>
            <a:ext cx="9144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080385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10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607767"/>
            <a:ext cx="4045200" cy="20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95849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59C533C8-17CD-4633-93F6-8C974A0E076A}" type="datetimeFigureOut">
              <a:rPr lang="en-US" altLang="en-US"/>
              <a:pPr/>
              <a:t>9/20/2025</a:t>
            </a:fld>
            <a:endParaRPr lang="en-SG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endParaRPr lang="en-SG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C9678715-BAE1-4E40-A239-019CE4A3A9A1}" type="slidenum">
              <a:rPr lang="en-SG" altLang="en-US"/>
              <a:pPr/>
              <a:t>‹#›</a:t>
            </a:fld>
            <a:endParaRPr lang="en-SG" alt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004888"/>
            <a:ext cx="9144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917575"/>
            <a:ext cx="9144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0" y="957263"/>
            <a:ext cx="9144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9" descr="P:\Common\Marcom\Corporate Templates\SIT logo (full colour)\SIT Logo Full Color Primary.pn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75" y="115888"/>
            <a:ext cx="15906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SIPCMContentMarking" descr="{&quot;HashCode&quot;:25343853,&quot;Placement&quot;:&quot;Header&quot;,&quot;Top&quot;:0.0,&quot;Left&quot;:319.8707,&quot;SlideWidth&quot;:720,&quot;SlideHeight&quot;:540}">
            <a:extLst>
              <a:ext uri="{FF2B5EF4-FFF2-40B4-BE49-F238E27FC236}">
                <a16:creationId xmlns:a16="http://schemas.microsoft.com/office/drawing/2014/main" id="{727B7D9F-EF1E-986D-C34A-A84BADA74249}"/>
              </a:ext>
            </a:extLst>
          </p:cNvPr>
          <p:cNvSpPr txBox="1"/>
          <p:nvPr userDrawn="1"/>
        </p:nvSpPr>
        <p:spPr>
          <a:xfrm>
            <a:off x="4062358" y="0"/>
            <a:ext cx="101928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SG" sz="1200">
                <a:solidFill>
                  <a:srgbClr val="000000"/>
                </a:solidFill>
                <a:latin typeface="Calibri" panose="020F0502020204030204" pitchFamily="34" charset="0"/>
              </a:rPr>
              <a:t>SIT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49" r:id="rId1"/>
    <p:sldLayoutId id="2147486145" r:id="rId2"/>
    <p:sldLayoutId id="2147486146" r:id="rId3"/>
    <p:sldLayoutId id="2147486147" r:id="rId4"/>
    <p:sldLayoutId id="2147486148" r:id="rId5"/>
    <p:sldLayoutId id="2147486156" r:id="rId6"/>
    <p:sldLayoutId id="2147486157" r:id="rId7"/>
    <p:sldLayoutId id="2147486159" r:id="rId8"/>
    <p:sldLayoutId id="2147486160" r:id="rId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E7549D24-CA82-4BC1-B5B4-4E3541B0E6CF}" type="datetime1">
              <a:rPr lang="en-US" altLang="en-US" smtClean="0"/>
              <a:t>9/20/2025</a:t>
            </a:fld>
            <a:endParaRPr lang="en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endParaRPr lang="en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7FBB9280-3C9D-4BF1-8090-30172E6B0C45}" type="slidenum">
              <a:rPr lang="en-SG" altLang="en-US" smtClean="0"/>
              <a:pPr/>
              <a:t>‹#›</a:t>
            </a:fld>
            <a:endParaRPr lang="en-SG" alt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004888"/>
            <a:ext cx="9144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917575"/>
            <a:ext cx="9144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0" y="957263"/>
            <a:ext cx="9144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9" descr="P:\Common\Marcom\Corporate Templates\SIT logo (full colour)\SIT Logo Full Color Primary.png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75" y="115888"/>
            <a:ext cx="15906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SIPCMContentMarking" descr="{&quot;HashCode&quot;:25343853,&quot;Placement&quot;:&quot;Header&quot;,&quot;Top&quot;:0.0,&quot;Left&quot;:319.8707,&quot;SlideWidth&quot;:720,&quot;SlideHeight&quot;:540}">
            <a:extLst>
              <a:ext uri="{FF2B5EF4-FFF2-40B4-BE49-F238E27FC236}">
                <a16:creationId xmlns:a16="http://schemas.microsoft.com/office/drawing/2014/main" id="{79700878-9997-9A03-A417-2FFDDDF14979}"/>
              </a:ext>
            </a:extLst>
          </p:cNvPr>
          <p:cNvSpPr txBox="1"/>
          <p:nvPr userDrawn="1"/>
        </p:nvSpPr>
        <p:spPr>
          <a:xfrm>
            <a:off x="4062358" y="0"/>
            <a:ext cx="101928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SG" sz="1200">
                <a:solidFill>
                  <a:srgbClr val="000000"/>
                </a:solidFill>
                <a:latin typeface="Calibri" panose="020F0502020204030204" pitchFamily="34" charset="0"/>
              </a:rPr>
              <a:t>SIT Internal</a:t>
            </a:r>
          </a:p>
        </p:txBody>
      </p:sp>
    </p:spTree>
    <p:extLst>
      <p:ext uri="{BB962C8B-B14F-4D97-AF65-F5344CB8AC3E}">
        <p14:creationId xmlns:p14="http://schemas.microsoft.com/office/powerpoint/2010/main" val="2843230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151" r:id="rId1"/>
    <p:sldLayoutId id="2147486152" r:id="rId2"/>
    <p:sldLayoutId id="2147486153" r:id="rId3"/>
    <p:sldLayoutId id="2147486154" r:id="rId4"/>
    <p:sldLayoutId id="2147486155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19056" cy="6429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03118"/>
            <a:ext cx="8229600" cy="5023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6ED33-3D6D-40A9-B605-6F5CEA759C1F}" type="datetime1">
              <a:rPr lang="en-SG" smtClean="0"/>
              <a:t>20/9/2025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04888"/>
            <a:ext cx="9144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917575"/>
            <a:ext cx="9144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957263"/>
            <a:ext cx="9144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3" descr="P:\Common\Marcom\Corporate Templates\SIT logos\Primary logo.png"/>
          <p:cNvPicPr>
            <a:picLocks noChangeAspect="1" noChangeArrowheads="1"/>
          </p:cNvPicPr>
          <p:nvPr/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6876256" y="-171400"/>
            <a:ext cx="2262326" cy="1274517"/>
          </a:xfrm>
          <a:prstGeom prst="rect">
            <a:avLst/>
          </a:prstGeom>
          <a:noFill/>
        </p:spPr>
      </p:pic>
      <p:sp>
        <p:nvSpPr>
          <p:cNvPr id="11" name="MSIPCMContentMarking" descr="{&quot;HashCode&quot;:25343853,&quot;Placement&quot;:&quot;Header&quot;,&quot;Top&quot;:0.0,&quot;Left&quot;:319.8707,&quot;SlideWidth&quot;:720,&quot;SlideHeight&quot;:540}">
            <a:extLst>
              <a:ext uri="{FF2B5EF4-FFF2-40B4-BE49-F238E27FC236}">
                <a16:creationId xmlns:a16="http://schemas.microsoft.com/office/drawing/2014/main" id="{D6CABDA6-2766-2326-EBFB-82538C212E5B}"/>
              </a:ext>
            </a:extLst>
          </p:cNvPr>
          <p:cNvSpPr txBox="1"/>
          <p:nvPr userDrawn="1"/>
        </p:nvSpPr>
        <p:spPr>
          <a:xfrm>
            <a:off x="4062358" y="0"/>
            <a:ext cx="101928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SG" sz="1200">
                <a:solidFill>
                  <a:srgbClr val="000000"/>
                </a:solidFill>
                <a:latin typeface="Calibri" panose="020F0502020204030204" pitchFamily="34" charset="0"/>
              </a:rPr>
              <a:t>SIT Internal</a:t>
            </a:r>
          </a:p>
        </p:txBody>
      </p:sp>
    </p:spTree>
    <p:extLst>
      <p:ext uri="{BB962C8B-B14F-4D97-AF65-F5344CB8AC3E}">
        <p14:creationId xmlns:p14="http://schemas.microsoft.com/office/powerpoint/2010/main" val="406094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162" r:id="rId1"/>
    <p:sldLayoutId id="2147486163" r:id="rId2"/>
    <p:sldLayoutId id="2147486164" r:id="rId3"/>
    <p:sldLayoutId id="2147486165" r:id="rId4"/>
    <p:sldLayoutId id="2147486166" r:id="rId5"/>
    <p:sldLayoutId id="2147486167" r:id="rId6"/>
    <p:sldLayoutId id="2147486168" r:id="rId7"/>
    <p:sldLayoutId id="2147486169" r:id="rId8"/>
    <p:sldLayoutId id="2147486170" r:id="rId9"/>
    <p:sldLayoutId id="2147486171" r:id="rId10"/>
    <p:sldLayoutId id="2147486172" r:id="rId11"/>
    <p:sldLayoutId id="2147486173" r:id="rId12"/>
    <p:sldLayoutId id="2147486174" r:id="rId13"/>
    <p:sldLayoutId id="2147486175" r:id="rId14"/>
    <p:sldLayoutId id="2147486176" r:id="rId15"/>
    <p:sldLayoutId id="2147486177" r:id="rId16"/>
    <p:sldLayoutId id="2147486178" r:id="rId17"/>
    <p:sldLayoutId id="2147486179" r:id="rId18"/>
    <p:sldLayoutId id="2147486180" r:id="rId19"/>
    <p:sldLayoutId id="2147486181" r:id="rId20"/>
    <p:sldLayoutId id="2147486182" r:id="rId2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29.wmf"/><Relationship Id="rId18" Type="http://schemas.openxmlformats.org/officeDocument/2006/relationships/hyperlink" Target="https://www.mathworks.com/help/matlab/ref/inv.html" TargetMode="External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31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5" Type="http://schemas.openxmlformats.org/officeDocument/2006/relationships/image" Target="../media/image30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27.wmf"/><Relationship Id="rId14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37.wmf"/><Relationship Id="rId18" Type="http://schemas.openxmlformats.org/officeDocument/2006/relationships/oleObject" Target="../embeddings/oleObject17.bin"/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39.wmf"/><Relationship Id="rId2" Type="http://schemas.openxmlformats.org/officeDocument/2006/relationships/oleObject" Target="../embeddings/oleObject9.bin"/><Relationship Id="rId16" Type="http://schemas.openxmlformats.org/officeDocument/2006/relationships/oleObject" Target="../embeddings/oleObject16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5" Type="http://schemas.openxmlformats.org/officeDocument/2006/relationships/image" Target="../media/image38.wmf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28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15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1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30.wmf"/><Relationship Id="rId7" Type="http://schemas.openxmlformats.org/officeDocument/2006/relationships/image" Target="../media/image44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45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48.w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53.wmf"/><Relationship Id="rId2" Type="http://schemas.openxmlformats.org/officeDocument/2006/relationships/oleObject" Target="../embeddings/oleObject24.bin"/><Relationship Id="rId16" Type="http://schemas.openxmlformats.org/officeDocument/2006/relationships/oleObject" Target="../embeddings/oleObject31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50.wmf"/><Relationship Id="rId5" Type="http://schemas.openxmlformats.org/officeDocument/2006/relationships/image" Target="../media/image47.wmf"/><Relationship Id="rId15" Type="http://schemas.openxmlformats.org/officeDocument/2006/relationships/image" Target="../media/image52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49.wmf"/><Relationship Id="rId14" Type="http://schemas.openxmlformats.org/officeDocument/2006/relationships/oleObject" Target="../embeddings/oleObject30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0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55.wmf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5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34.wmf"/><Relationship Id="rId3" Type="http://schemas.openxmlformats.org/officeDocument/2006/relationships/image" Target="../media/image56.wmf"/><Relationship Id="rId7" Type="http://schemas.openxmlformats.org/officeDocument/2006/relationships/image" Target="../media/image58.wmf"/><Relationship Id="rId12" Type="http://schemas.openxmlformats.org/officeDocument/2006/relationships/oleObject" Target="../embeddings/oleObject11.bin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33.wmf"/><Relationship Id="rId5" Type="http://schemas.openxmlformats.org/officeDocument/2006/relationships/image" Target="../media/image57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2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59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62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3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11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3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matlab/ref/mldivide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www.mathworks.com/help/matlab/ref/mldivide.html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7" Type="http://schemas.openxmlformats.org/officeDocument/2006/relationships/image" Target="../media/image67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66.wmf"/><Relationship Id="rId4" Type="http://schemas.openxmlformats.org/officeDocument/2006/relationships/oleObject" Target="../embeddings/oleObject4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image" Target="../media/image65.wmf"/><Relationship Id="rId7" Type="http://schemas.openxmlformats.org/officeDocument/2006/relationships/image" Target="../media/image67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69.wmf"/><Relationship Id="rId5" Type="http://schemas.openxmlformats.org/officeDocument/2006/relationships/image" Target="../media/image66.wmf"/><Relationship Id="rId10" Type="http://schemas.openxmlformats.org/officeDocument/2006/relationships/oleObject" Target="../embeddings/oleObject46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68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image" Target="../media/image69.wmf"/><Relationship Id="rId7" Type="http://schemas.openxmlformats.org/officeDocument/2006/relationships/image" Target="../media/image71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47.bin"/><Relationship Id="rId9" Type="http://schemas.openxmlformats.org/officeDocument/2006/relationships/image" Target="../media/image72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78.wmf"/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12" Type="http://schemas.openxmlformats.org/officeDocument/2006/relationships/oleObject" Target="../embeddings/oleObject55.bin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77.wmf"/><Relationship Id="rId5" Type="http://schemas.openxmlformats.org/officeDocument/2006/relationships/image" Target="../media/image74.wmf"/><Relationship Id="rId15" Type="http://schemas.openxmlformats.org/officeDocument/2006/relationships/image" Target="../media/image79.w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76.wmf"/><Relationship Id="rId14" Type="http://schemas.openxmlformats.org/officeDocument/2006/relationships/oleObject" Target="../embeddings/oleObject56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7" Type="http://schemas.openxmlformats.org/officeDocument/2006/relationships/image" Target="../media/image82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59.bin"/><Relationship Id="rId5" Type="http://schemas.openxmlformats.org/officeDocument/2006/relationships/image" Target="../media/image81.wmf"/><Relationship Id="rId4" Type="http://schemas.openxmlformats.org/officeDocument/2006/relationships/oleObject" Target="../embeddings/oleObject58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image" Target="../media/image80.wmf"/><Relationship Id="rId7" Type="http://schemas.openxmlformats.org/officeDocument/2006/relationships/image" Target="../media/image82.w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84.wmf"/><Relationship Id="rId5" Type="http://schemas.openxmlformats.org/officeDocument/2006/relationships/image" Target="../media/image81.wmf"/><Relationship Id="rId10" Type="http://schemas.openxmlformats.org/officeDocument/2006/relationships/oleObject" Target="../embeddings/oleObject62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83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64.bin"/><Relationship Id="rId5" Type="http://schemas.openxmlformats.org/officeDocument/2006/relationships/image" Target="../media/image85.w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87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93.wmf"/><Relationship Id="rId3" Type="http://schemas.openxmlformats.org/officeDocument/2006/relationships/image" Target="../media/image88.wmf"/><Relationship Id="rId7" Type="http://schemas.openxmlformats.org/officeDocument/2006/relationships/image" Target="../media/image90.wmf"/><Relationship Id="rId12" Type="http://schemas.openxmlformats.org/officeDocument/2006/relationships/oleObject" Target="../embeddings/oleObject71.bin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92.wmf"/><Relationship Id="rId5" Type="http://schemas.openxmlformats.org/officeDocument/2006/relationships/image" Target="../media/image89.wmf"/><Relationship Id="rId15" Type="http://schemas.openxmlformats.org/officeDocument/2006/relationships/image" Target="../media/image94.wmf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91.wmf"/><Relationship Id="rId14" Type="http://schemas.openxmlformats.org/officeDocument/2006/relationships/oleObject" Target="../embeddings/oleObject72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6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8.wmf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100.wmf"/><Relationship Id="rId4" Type="http://schemas.openxmlformats.org/officeDocument/2006/relationships/image" Target="../media/image97.wmf"/><Relationship Id="rId9" Type="http://schemas.openxmlformats.org/officeDocument/2006/relationships/oleObject" Target="../embeddings/oleObject77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101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100.wmf"/><Relationship Id="rId4" Type="http://schemas.openxmlformats.org/officeDocument/2006/relationships/image" Target="../media/image97.wmf"/><Relationship Id="rId9" Type="http://schemas.openxmlformats.org/officeDocument/2006/relationships/oleObject" Target="../embeddings/oleObject77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2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81.bin"/><Relationship Id="rId10" Type="http://schemas.openxmlformats.org/officeDocument/2006/relationships/image" Target="../media/image10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83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8" Type="http://schemas.openxmlformats.org/officeDocument/2006/relationships/image" Target="../media/image109.wmf"/><Relationship Id="rId3" Type="http://schemas.openxmlformats.org/officeDocument/2006/relationships/oleObject" Target="../embeddings/oleObject80.bin"/><Relationship Id="rId21" Type="http://schemas.openxmlformats.org/officeDocument/2006/relationships/oleObject" Target="../embeddings/oleObject88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86.bin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08.wmf"/><Relationship Id="rId20" Type="http://schemas.openxmlformats.org/officeDocument/2006/relationships/image" Target="../media/image110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5.bin"/><Relationship Id="rId23" Type="http://schemas.openxmlformats.org/officeDocument/2006/relationships/image" Target="../media/image112.png"/><Relationship Id="rId10" Type="http://schemas.openxmlformats.org/officeDocument/2006/relationships/image" Target="../media/image106.wmf"/><Relationship Id="rId19" Type="http://schemas.openxmlformats.org/officeDocument/2006/relationships/oleObject" Target="../embeddings/oleObject87.bin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139.png"/><Relationship Id="rId22" Type="http://schemas.openxmlformats.org/officeDocument/2006/relationships/image" Target="../media/image111.w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sciencecentral.com/" TargetMode="External"/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deeplearning4j.org/" TargetMode="External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16833"/>
            <a:ext cx="7772400" cy="1683618"/>
          </a:xfrm>
        </p:spPr>
        <p:txBody>
          <a:bodyPr>
            <a:normAutofit/>
          </a:bodyPr>
          <a:lstStyle/>
          <a:p>
            <a:r>
              <a:rPr lang="en-US" dirty="0"/>
              <a:t>INF1004 Linear Algebra</a:t>
            </a:r>
            <a:br>
              <a:rPr lang="en-US" dirty="0"/>
            </a:br>
            <a:r>
              <a:rPr lang="en-US" dirty="0"/>
              <a:t>(Part II)</a:t>
            </a:r>
            <a:br>
              <a:rPr lang="en-US" dirty="0"/>
            </a:br>
            <a:r>
              <a:rPr lang="en-US" dirty="0"/>
              <a:t>Lecture 3: Linear Transformation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1</a:t>
            </a:fld>
            <a:endParaRPr lang="en-SG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B3B2C74-31C5-700A-355D-17A90F021A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06388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LEADING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2655" y="1450109"/>
            <a:ext cx="7777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can we apply Matrix Algebra into Engineering Applications and Solutions?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Heat Transfer?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Kinematics?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Robotics?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Image processing?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Machine learning and neural networks?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43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203806" y="254354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sz="2400" dirty="0"/>
              <a:t>Recap: Matrix Notation of a System of Linear Eqns</a:t>
            </a:r>
            <a:endParaRPr sz="2400" dirty="0"/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232208" y="143590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 system of 2 linear equations can be written using matrices in the form:</a:t>
            </a:r>
            <a:endParaRPr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>
              <a:lnSpc>
                <a:spcPct val="115000"/>
              </a:lnSpc>
              <a:spcBef>
                <a:spcPts val="1600"/>
              </a:spcBef>
            </a:pPr>
            <a:endParaRPr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endParaRPr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8472458" y="55204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fld id="{00000000-1234-1234-1234-123412341234}" type="slidenum">
              <a:rPr lang="en" sz="10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pPr algn="r"/>
              <a:t>3</a:t>
            </a:fld>
            <a:endParaRPr sz="10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403140" y="4268612"/>
            <a:ext cx="8520600" cy="141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where </a:t>
            </a:r>
            <a:r>
              <a:rPr lang="en" b="1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 is a matrix of coefficients, </a:t>
            </a:r>
            <a:r>
              <a:rPr lang="en" b="1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 is a vector of variables and </a:t>
            </a:r>
            <a:r>
              <a:rPr lang="en" b="1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r>
              <a:rPr lang="en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 is a vector of constants.</a:t>
            </a:r>
          </a:p>
          <a:p>
            <a:pPr>
              <a:lnSpc>
                <a:spcPct val="115000"/>
              </a:lnSpc>
            </a:pPr>
            <a:r>
              <a:rPr lang="en-US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One can say</a:t>
            </a:r>
            <a:r>
              <a:rPr lang="en-US" dirty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matrix A ‘transforms</a:t>
            </a:r>
            <a:r>
              <a:rPr lang="en-US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’</a:t>
            </a:r>
            <a:r>
              <a:rPr lang="en-US" dirty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-US" dirty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vector </a:t>
            </a:r>
            <a:r>
              <a:rPr lang="en-US" b="1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-US" dirty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into another</a:t>
            </a:r>
            <a:r>
              <a:rPr lang="en-US" dirty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vector </a:t>
            </a:r>
            <a:r>
              <a:rPr lang="en-US" b="1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r>
              <a:rPr lang="en-US" dirty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. </a:t>
            </a:r>
            <a:r>
              <a:rPr lang="en-US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This is an example of a</a:t>
            </a:r>
            <a:r>
              <a:rPr lang="en-US" dirty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b="1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linear transformation</a:t>
            </a:r>
            <a:r>
              <a:rPr lang="en-US" dirty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in linear algebra.</a:t>
            </a:r>
          </a:p>
          <a:p>
            <a:pPr>
              <a:lnSpc>
                <a:spcPct val="115000"/>
              </a:lnSpc>
            </a:pPr>
            <a:endParaRPr lang="en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>
              <a:lnSpc>
                <a:spcPct val="115000"/>
              </a:lnSpc>
            </a:pPr>
            <a:endParaRPr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>
              <a:lnSpc>
                <a:spcPct val="115000"/>
              </a:lnSpc>
              <a:spcBef>
                <a:spcPts val="1600"/>
              </a:spcBef>
            </a:pPr>
            <a:endParaRPr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endParaRPr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A0AC91-4B01-DEBF-374C-67A1D2C31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091" y="2437785"/>
            <a:ext cx="6725589" cy="16956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5372"/>
            <a:ext cx="8001000" cy="1097280"/>
          </a:xfrm>
        </p:spPr>
        <p:txBody>
          <a:bodyPr/>
          <a:lstStyle/>
          <a:p>
            <a:r>
              <a:rPr lang="en-US" altLang="en-US" dirty="0">
                <a:latin typeface="+mj-lt"/>
              </a:rPr>
              <a:t>Applications: Transformation of an Image </a:t>
            </a:r>
            <a:r>
              <a:rPr lang="en-US" altLang="en-US" sz="1800" b="0" dirty="0">
                <a:latin typeface="+mj-lt"/>
              </a:rPr>
              <a:t>(1 of 6)</a:t>
            </a:r>
            <a:endParaRPr lang="en-IN" sz="1800" b="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10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/>
              <a:t>Consider the triangle represented by the matrix</a:t>
            </a:r>
          </a:p>
        </p:txBody>
      </p:sp>
      <p:pic>
        <p:nvPicPr>
          <p:cNvPr id="5" name="Picture 4" descr="A = a 2-by-3 matrix: R sub 1: 0, 3, 4, which are x-coordinates. R sub 2: 0, 5, 2, which are y-coordinates. The coordinate pairs are the vertices of a triangle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268750"/>
            <a:ext cx="4163650" cy="1750625"/>
          </a:xfrm>
          <a:prstGeom prst="rect">
            <a:avLst/>
          </a:prstGeom>
        </p:spPr>
      </p:pic>
      <p:pic>
        <p:nvPicPr>
          <p:cNvPr id="6" name="Picture 5" descr="A graph of a triangle with the following vertices: (0, 0), (3, 5), and (4, 2). All values estimate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4775" y="2098963"/>
            <a:ext cx="3112025" cy="3117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idx="13"/>
          </p:nvPr>
        </p:nvSpPr>
        <p:spPr>
          <a:xfrm>
            <a:off x="457200" y="5334000"/>
            <a:ext cx="8229600" cy="792163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/>
              <a:t>Use matrix operations to move the triangle 3 units to the left and 1 unit down.</a:t>
            </a:r>
          </a:p>
        </p:txBody>
      </p:sp>
    </p:spTree>
    <p:extLst>
      <p:ext uri="{BB962C8B-B14F-4D97-AF65-F5344CB8AC3E}">
        <p14:creationId xmlns:p14="http://schemas.microsoft.com/office/powerpoint/2010/main" val="69562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778" y="187663"/>
            <a:ext cx="8001000" cy="1097280"/>
          </a:xfrm>
        </p:spPr>
        <p:txBody>
          <a:bodyPr/>
          <a:lstStyle/>
          <a:p>
            <a:r>
              <a:rPr lang="en-US" altLang="en-US" dirty="0">
                <a:latin typeface="+mj-lt"/>
              </a:rPr>
              <a:t>Transformation of an Image </a:t>
            </a:r>
            <a:r>
              <a:rPr lang="en-US" altLang="en-US" sz="1800" b="0" dirty="0">
                <a:latin typeface="+mj-lt"/>
              </a:rPr>
              <a:t>(2 of 6)</a:t>
            </a:r>
            <a:endParaRPr lang="en-IN" sz="1800" b="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478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600" dirty="0"/>
              <a:t>Solution: </a:t>
            </a:r>
          </a:p>
          <a:p>
            <a:pPr marL="0" indent="0">
              <a:buNone/>
            </a:pPr>
            <a:r>
              <a:rPr lang="en-US" altLang="en-US" sz="2600" dirty="0"/>
              <a:t>We will subtract 3 from the </a:t>
            </a:r>
            <a:r>
              <a:rPr lang="en-US" altLang="en-US" sz="2600" i="1" dirty="0"/>
              <a:t>x</a:t>
            </a:r>
            <a:r>
              <a:rPr lang="en-US" altLang="en-US" sz="2600" dirty="0"/>
              <a:t>-coordinates (row 1) and subtract 1 from the </a:t>
            </a:r>
            <a:r>
              <a:rPr lang="en-US" altLang="en-US" sz="2600" i="1" dirty="0"/>
              <a:t>y</a:t>
            </a:r>
            <a:r>
              <a:rPr lang="en-US" altLang="en-US" sz="2600" dirty="0"/>
              <a:t>-coordinates (row 2).</a:t>
            </a:r>
          </a:p>
        </p:txBody>
      </p:sp>
      <p:pic>
        <p:nvPicPr>
          <p:cNvPr id="7" name="Picture 6" descr="Two 2-by-3 matrices are added together = another 2-by-2 matrix. Matrix 1: R sub 1: 0, 3, 4. R sub 2: 0, 5, 2. + Matrix 2: R sub 1: negative 3, negative 3, negative 3. R sub 2: negative 1, negative 1, negative 1. = R sub 1: negative 3, 0, 1. R sub 2: negative 1, 4, 1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200400"/>
            <a:ext cx="3651078" cy="1971425"/>
          </a:xfrm>
          <a:prstGeom prst="rect">
            <a:avLst/>
          </a:prstGeom>
        </p:spPr>
      </p:pic>
      <p:pic>
        <p:nvPicPr>
          <p:cNvPr id="8" name="Picture 8" descr="A graph of two triangles. Triangle 1 has the following vertices: (0, 0), (3, 5), and (4, 2).  Triangle 2 has the following vertices: (negative 3, negative 1), (0, 4), and (1, 1).  All values estimate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225114"/>
            <a:ext cx="3188120" cy="3193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2878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>
            <a:off x="229936" y="1426822"/>
            <a:ext cx="8686200" cy="22140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65" name="Google Shape;165;p20"/>
          <p:cNvSpPr txBox="1">
            <a:spLocks noGrp="1"/>
          </p:cNvSpPr>
          <p:nvPr>
            <p:ph type="title"/>
          </p:nvPr>
        </p:nvSpPr>
        <p:spPr>
          <a:xfrm>
            <a:off x="179512" y="18864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sz="3000" dirty="0"/>
              <a:t>Formal Definition of a Linear Transformation</a:t>
            </a:r>
            <a:endParaRPr sz="3000" dirty="0"/>
          </a:p>
        </p:txBody>
      </p:sp>
      <p:sp>
        <p:nvSpPr>
          <p:cNvPr id="166" name="Google Shape;166;p20"/>
          <p:cNvSpPr txBox="1">
            <a:spLocks noGrp="1"/>
          </p:cNvSpPr>
          <p:nvPr>
            <p:ph type="body" idx="1"/>
          </p:nvPr>
        </p:nvSpPr>
        <p:spPr>
          <a:xfrm>
            <a:off x="591749" y="1416636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434343"/>
                </a:solidFill>
              </a:rPr>
              <a:t>A linear transformation, </a:t>
            </a:r>
            <a:r>
              <a:rPr lang="en" i="1" dirty="0">
                <a:solidFill>
                  <a:srgbClr val="434343"/>
                </a:solidFill>
              </a:rPr>
              <a:t>T</a:t>
            </a:r>
            <a:r>
              <a:rPr lang="en" dirty="0">
                <a:solidFill>
                  <a:srgbClr val="434343"/>
                </a:solidFill>
              </a:rPr>
              <a:t>: </a:t>
            </a:r>
            <a:r>
              <a:rPr lang="en" b="1" i="1" dirty="0">
                <a:solidFill>
                  <a:srgbClr val="434343"/>
                </a:solidFill>
              </a:rPr>
              <a:t>V</a:t>
            </a:r>
            <a:r>
              <a:rPr lang="en" i="1" dirty="0">
                <a:solidFill>
                  <a:srgbClr val="434343"/>
                </a:solidFill>
              </a:rPr>
              <a:t> </a:t>
            </a:r>
            <a:r>
              <a:rPr lang="en" dirty="0">
                <a:solidFill>
                  <a:srgbClr val="434343"/>
                </a:solidFill>
              </a:rPr>
              <a:t>↦ </a:t>
            </a:r>
            <a:r>
              <a:rPr lang="en" b="1" i="1" dirty="0">
                <a:solidFill>
                  <a:srgbClr val="434343"/>
                </a:solidFill>
              </a:rPr>
              <a:t>U</a:t>
            </a:r>
            <a:r>
              <a:rPr lang="en" dirty="0">
                <a:solidFill>
                  <a:srgbClr val="434343"/>
                </a:solidFill>
              </a:rPr>
              <a:t> is one that takes an input vector space </a:t>
            </a:r>
            <a:r>
              <a:rPr lang="en" b="1" i="1" dirty="0">
                <a:solidFill>
                  <a:srgbClr val="434343"/>
                </a:solidFill>
              </a:rPr>
              <a:t>V</a:t>
            </a:r>
            <a:r>
              <a:rPr lang="en" dirty="0">
                <a:solidFill>
                  <a:srgbClr val="434343"/>
                </a:solidFill>
              </a:rPr>
              <a:t> and produces an output vector space </a:t>
            </a:r>
            <a:r>
              <a:rPr lang="en" b="1" i="1" dirty="0">
                <a:solidFill>
                  <a:srgbClr val="434343"/>
                </a:solidFill>
              </a:rPr>
              <a:t>U</a:t>
            </a:r>
            <a:r>
              <a:rPr lang="en" dirty="0">
                <a:solidFill>
                  <a:srgbClr val="434343"/>
                </a:solidFill>
              </a:rPr>
              <a:t>, such that it satisfies:</a:t>
            </a:r>
            <a:endParaRPr dirty="0">
              <a:solidFill>
                <a:srgbClr val="434343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" dirty="0">
                <a:solidFill>
                  <a:srgbClr val="434343"/>
                </a:solidFill>
              </a:rPr>
              <a:t>For any </a:t>
            </a:r>
            <a:r>
              <a:rPr lang="en" b="1" dirty="0">
                <a:solidFill>
                  <a:srgbClr val="434343"/>
                </a:solidFill>
              </a:rPr>
              <a:t>v</a:t>
            </a:r>
            <a:r>
              <a:rPr lang="en" b="1" baseline="-25000" dirty="0">
                <a:solidFill>
                  <a:srgbClr val="434343"/>
                </a:solidFill>
              </a:rPr>
              <a:t>1</a:t>
            </a:r>
            <a:r>
              <a:rPr lang="en" dirty="0">
                <a:solidFill>
                  <a:srgbClr val="434343"/>
                </a:solidFill>
              </a:rPr>
              <a:t>, </a:t>
            </a:r>
            <a:r>
              <a:rPr lang="en" b="1" dirty="0">
                <a:solidFill>
                  <a:srgbClr val="434343"/>
                </a:solidFill>
              </a:rPr>
              <a:t>v</a:t>
            </a:r>
            <a:r>
              <a:rPr lang="en" b="1" baseline="-25000" dirty="0">
                <a:solidFill>
                  <a:srgbClr val="434343"/>
                </a:solidFill>
              </a:rPr>
              <a:t>2</a:t>
            </a:r>
            <a:r>
              <a:rPr lang="en" dirty="0">
                <a:solidFill>
                  <a:srgbClr val="434343"/>
                </a:solidFill>
              </a:rPr>
              <a:t> ∊ </a:t>
            </a:r>
            <a:r>
              <a:rPr lang="en" b="1" i="1" dirty="0">
                <a:solidFill>
                  <a:srgbClr val="434343"/>
                </a:solidFill>
              </a:rPr>
              <a:t>V</a:t>
            </a:r>
            <a:r>
              <a:rPr lang="en" dirty="0">
                <a:solidFill>
                  <a:srgbClr val="434343"/>
                </a:solidFill>
              </a:rPr>
              <a:t> and any scalar k ∊ ℝ,</a:t>
            </a:r>
            <a:endParaRPr dirty="0">
              <a:solidFill>
                <a:srgbClr val="434343"/>
              </a:solidFill>
            </a:endParaRPr>
          </a:p>
          <a:p>
            <a:pPr>
              <a:spcBef>
                <a:spcPts val="1600"/>
              </a:spcBef>
              <a:buAutoNum type="arabicPeriod"/>
            </a:pPr>
            <a:r>
              <a:rPr lang="en" i="1" dirty="0">
                <a:solidFill>
                  <a:srgbClr val="434343"/>
                </a:solidFill>
              </a:rPr>
              <a:t>T</a:t>
            </a:r>
            <a:r>
              <a:rPr lang="en" dirty="0">
                <a:solidFill>
                  <a:srgbClr val="434343"/>
                </a:solidFill>
              </a:rPr>
              <a:t>(</a:t>
            </a:r>
            <a:r>
              <a:rPr lang="en" b="1" dirty="0">
                <a:solidFill>
                  <a:srgbClr val="434343"/>
                </a:solidFill>
              </a:rPr>
              <a:t>v</a:t>
            </a:r>
            <a:r>
              <a:rPr lang="en" b="1" baseline="-25000" dirty="0">
                <a:solidFill>
                  <a:srgbClr val="434343"/>
                </a:solidFill>
              </a:rPr>
              <a:t>1</a:t>
            </a:r>
            <a:r>
              <a:rPr lang="en" dirty="0">
                <a:solidFill>
                  <a:srgbClr val="434343"/>
                </a:solidFill>
              </a:rPr>
              <a:t>+</a:t>
            </a:r>
            <a:r>
              <a:rPr lang="en" b="1" dirty="0">
                <a:solidFill>
                  <a:srgbClr val="434343"/>
                </a:solidFill>
              </a:rPr>
              <a:t>v</a:t>
            </a:r>
            <a:r>
              <a:rPr lang="en" b="1" baseline="-25000" dirty="0">
                <a:solidFill>
                  <a:srgbClr val="434343"/>
                </a:solidFill>
              </a:rPr>
              <a:t>2</a:t>
            </a:r>
            <a:r>
              <a:rPr lang="en" dirty="0">
                <a:solidFill>
                  <a:srgbClr val="434343"/>
                </a:solidFill>
              </a:rPr>
              <a:t>) = </a:t>
            </a:r>
            <a:r>
              <a:rPr lang="en" i="1" dirty="0">
                <a:solidFill>
                  <a:srgbClr val="434343"/>
                </a:solidFill>
              </a:rPr>
              <a:t>T</a:t>
            </a:r>
            <a:r>
              <a:rPr lang="en" dirty="0">
                <a:solidFill>
                  <a:srgbClr val="434343"/>
                </a:solidFill>
              </a:rPr>
              <a:t>(</a:t>
            </a:r>
            <a:r>
              <a:rPr lang="en" b="1" dirty="0">
                <a:solidFill>
                  <a:srgbClr val="434343"/>
                </a:solidFill>
              </a:rPr>
              <a:t>v</a:t>
            </a:r>
            <a:r>
              <a:rPr lang="en" b="1" baseline="-25000" dirty="0">
                <a:solidFill>
                  <a:srgbClr val="434343"/>
                </a:solidFill>
              </a:rPr>
              <a:t>1</a:t>
            </a:r>
            <a:r>
              <a:rPr lang="en" dirty="0">
                <a:solidFill>
                  <a:srgbClr val="434343"/>
                </a:solidFill>
              </a:rPr>
              <a:t>)+T(</a:t>
            </a:r>
            <a:r>
              <a:rPr lang="en" b="1" dirty="0">
                <a:solidFill>
                  <a:srgbClr val="434343"/>
                </a:solidFill>
              </a:rPr>
              <a:t>v</a:t>
            </a:r>
            <a:r>
              <a:rPr lang="en" b="1" baseline="-25000" dirty="0">
                <a:solidFill>
                  <a:srgbClr val="434343"/>
                </a:solidFill>
              </a:rPr>
              <a:t>2</a:t>
            </a:r>
            <a:r>
              <a:rPr lang="en" dirty="0">
                <a:solidFill>
                  <a:srgbClr val="434343"/>
                </a:solidFill>
              </a:rPr>
              <a:t>)		</a:t>
            </a:r>
            <a:endParaRPr dirty="0">
              <a:solidFill>
                <a:srgbClr val="434343"/>
              </a:solidFill>
            </a:endParaRPr>
          </a:p>
          <a:p>
            <a:pPr>
              <a:buAutoNum type="arabicPeriod"/>
            </a:pPr>
            <a:r>
              <a:rPr lang="en" i="1" dirty="0">
                <a:solidFill>
                  <a:srgbClr val="434343"/>
                </a:solidFill>
              </a:rPr>
              <a:t>T</a:t>
            </a:r>
            <a:r>
              <a:rPr lang="en" dirty="0">
                <a:solidFill>
                  <a:srgbClr val="434343"/>
                </a:solidFill>
              </a:rPr>
              <a:t>(k</a:t>
            </a:r>
            <a:r>
              <a:rPr lang="en" b="1" dirty="0">
                <a:solidFill>
                  <a:srgbClr val="434343"/>
                </a:solidFill>
              </a:rPr>
              <a:t>v</a:t>
            </a:r>
            <a:r>
              <a:rPr lang="en" dirty="0">
                <a:solidFill>
                  <a:srgbClr val="434343"/>
                </a:solidFill>
              </a:rPr>
              <a:t>) = k</a:t>
            </a:r>
            <a:r>
              <a:rPr lang="en" i="1" dirty="0">
                <a:solidFill>
                  <a:srgbClr val="434343"/>
                </a:solidFill>
              </a:rPr>
              <a:t>T</a:t>
            </a:r>
            <a:r>
              <a:rPr lang="en" dirty="0">
                <a:solidFill>
                  <a:srgbClr val="434343"/>
                </a:solidFill>
              </a:rPr>
              <a:t>(</a:t>
            </a:r>
            <a:r>
              <a:rPr lang="en" b="1" dirty="0">
                <a:solidFill>
                  <a:srgbClr val="434343"/>
                </a:solidFill>
              </a:rPr>
              <a:t>v</a:t>
            </a:r>
            <a:r>
              <a:rPr lang="en" dirty="0">
                <a:solidFill>
                  <a:srgbClr val="434343"/>
                </a:solidFill>
              </a:rPr>
              <a:t>)</a:t>
            </a:r>
            <a:endParaRPr dirty="0">
              <a:solidFill>
                <a:srgbClr val="434343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" dirty="0">
                <a:solidFill>
                  <a:srgbClr val="0000FF"/>
                </a:solidFill>
              </a:rPr>
              <a:t>A linear transformation is also known as a linear mapping or linear function.</a:t>
            </a:r>
            <a:endParaRPr dirty="0">
              <a:solidFill>
                <a:srgbClr val="0000FF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rgbClr val="434343"/>
              </a:solidFill>
            </a:endParaRPr>
          </a:p>
        </p:txBody>
      </p:sp>
      <p:sp>
        <p:nvSpPr>
          <p:cNvPr id="167" name="Google Shape;167;p20"/>
          <p:cNvSpPr txBox="1">
            <a:spLocks noGrp="1"/>
          </p:cNvSpPr>
          <p:nvPr>
            <p:ph type="sldNum" idx="12"/>
          </p:nvPr>
        </p:nvSpPr>
        <p:spPr>
          <a:xfrm>
            <a:off x="8531065" y="6165304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>
            <a:spLocks noGrp="1"/>
          </p:cNvSpPr>
          <p:nvPr>
            <p:ph type="title"/>
          </p:nvPr>
        </p:nvSpPr>
        <p:spPr>
          <a:xfrm>
            <a:off x="311700" y="35020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Exercise</a:t>
            </a:r>
            <a:endParaRPr dirty="0"/>
          </a:p>
          <a:p>
            <a:endParaRPr sz="1800" dirty="0">
              <a:solidFill>
                <a:srgbClr val="0B5394"/>
              </a:solidFill>
            </a:endParaRPr>
          </a:p>
        </p:txBody>
      </p:sp>
      <p:sp>
        <p:nvSpPr>
          <p:cNvPr id="173" name="Google Shape;173;p21"/>
          <p:cNvSpPr txBox="1">
            <a:spLocks noGrp="1"/>
          </p:cNvSpPr>
          <p:nvPr>
            <p:ph type="body" idx="1"/>
          </p:nvPr>
        </p:nvSpPr>
        <p:spPr>
          <a:xfrm>
            <a:off x="205143" y="1412775"/>
            <a:ext cx="8520600" cy="450129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0B5394"/>
                </a:solidFill>
              </a:rPr>
              <a:t>Show that the function defined by </a:t>
            </a:r>
            <a:r>
              <a:rPr lang="en" i="1" dirty="0">
                <a:solidFill>
                  <a:srgbClr val="0B5394"/>
                </a:solidFill>
              </a:rPr>
              <a:t>T</a:t>
            </a:r>
            <a:r>
              <a:rPr lang="en" dirty="0">
                <a:solidFill>
                  <a:srgbClr val="0B5394"/>
                </a:solidFill>
              </a:rPr>
              <a:t>(</a:t>
            </a:r>
            <a:r>
              <a:rPr lang="en" b="1" dirty="0">
                <a:solidFill>
                  <a:srgbClr val="0B5394"/>
                </a:solidFill>
              </a:rPr>
              <a:t>v</a:t>
            </a:r>
            <a:r>
              <a:rPr lang="en" dirty="0">
                <a:solidFill>
                  <a:srgbClr val="0B5394"/>
                </a:solidFill>
              </a:rPr>
              <a:t>) = A</a:t>
            </a:r>
            <a:r>
              <a:rPr lang="en" b="1" dirty="0">
                <a:solidFill>
                  <a:srgbClr val="0B5394"/>
                </a:solidFill>
              </a:rPr>
              <a:t>v</a:t>
            </a:r>
            <a:r>
              <a:rPr lang="en" dirty="0">
                <a:solidFill>
                  <a:srgbClr val="0B5394"/>
                </a:solidFill>
              </a:rPr>
              <a:t>, where A is a 2 x 2 matrix, is a linear transformation.</a:t>
            </a:r>
            <a:endParaRPr dirty="0">
              <a:solidFill>
                <a:srgbClr val="0B5394"/>
              </a:solidFill>
            </a:endParaRPr>
          </a:p>
          <a:p>
            <a:pPr marL="0" indent="0"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74" name="Google Shape;174;p21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04463B-6779-CBA4-A199-D05CD23E29CB}"/>
                  </a:ext>
                </a:extLst>
              </p:cNvPr>
              <p:cNvSpPr txBox="1"/>
              <p:nvPr/>
            </p:nvSpPr>
            <p:spPr>
              <a:xfrm>
                <a:off x="539552" y="2970719"/>
                <a:ext cx="4581624" cy="27402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18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sz="18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A</m:t>
                    </m:r>
                    <m:r>
                      <a:rPr lang="en-SG" sz="18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SG" sz="18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a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SG" sz="18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b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SG" sz="18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c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SG" sz="18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d</m:t>
                              </m:r>
                            </m:e>
                          </m:mr>
                        </m:m>
                      </m:e>
                    </m:d>
                    <m:r>
                      <a:rPr lang="en-SG" sz="18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r>
                      <a:rPr lang="en-SG" sz="18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𝐯</m:t>
                    </m:r>
                    <m:r>
                      <a:rPr lang="en-SG" sz="18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SG" sz="18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x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SG" sz="18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y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SG" sz="18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, </a:t>
                </a: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endParaRPr lang="en-US" sz="18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SG" sz="1800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A</m:t>
                      </m:r>
                      <m:r>
                        <a:rPr lang="en-SG" sz="18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𝐯</m:t>
                      </m:r>
                      <m:r>
                        <a:rPr lang="en-SG" sz="1800" b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b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c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d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x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y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SG" sz="1800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SG" sz="1800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x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a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c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SG" sz="1800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SG" sz="1800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y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b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d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sz="1800" spc="-3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Arial" panose="020B0604020202020204" pitchFamily="34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18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	</a:t>
                </a:r>
                <a:endParaRPr lang="en-US" sz="18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18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A</a:t>
                </a:r>
                <a:r>
                  <a:rPr lang="en-SG" sz="1800" b="1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v</a:t>
                </a:r>
                <a:r>
                  <a:rPr lang="en-SG" sz="18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lang="en-SG" sz="18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is a linear combination of the columns of matrix A.</a:t>
                </a: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endParaRPr lang="en-US" sz="18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18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sz="18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T</m:t>
                    </m:r>
                    <m:r>
                      <a:rPr lang="en-SG" sz="18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(</m:t>
                    </m:r>
                    <m:r>
                      <a:rPr lang="en-SG" sz="18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𝐯</m:t>
                    </m:r>
                    <m:r>
                      <a:rPr lang="en-SG" sz="18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)=</m:t>
                    </m:r>
                    <m:r>
                      <m:rPr>
                        <m:sty m:val="p"/>
                      </m:rPr>
                      <a:rPr lang="en-SG" sz="18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A</m:t>
                    </m:r>
                    <m:r>
                      <a:rPr lang="en-SG" sz="18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𝐯</m:t>
                    </m:r>
                  </m:oMath>
                </a14:m>
                <a:r>
                  <a:rPr lang="en-SG" sz="1800" b="1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lang="en-SG" sz="18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is a linear transformation.</a:t>
                </a:r>
                <a:endParaRPr lang="en-US" sz="18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04463B-6779-CBA4-A199-D05CD23E2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970719"/>
                <a:ext cx="4581624" cy="2740237"/>
              </a:xfrm>
              <a:prstGeom prst="rect">
                <a:avLst/>
              </a:prstGeom>
              <a:blipFill>
                <a:blip r:embed="rId3"/>
                <a:stretch>
                  <a:fillRect l="-1198" r="-1065" b="-244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2384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001000" cy="1097280"/>
          </a:xfrm>
        </p:spPr>
        <p:txBody>
          <a:bodyPr/>
          <a:lstStyle/>
          <a:p>
            <a:r>
              <a:rPr lang="en-US" altLang="en-US" dirty="0">
                <a:latin typeface="+mj-lt"/>
              </a:rPr>
              <a:t>Transformation of an Image </a:t>
            </a:r>
            <a:r>
              <a:rPr lang="en-US" altLang="en-US" sz="1800" b="0" dirty="0">
                <a:latin typeface="+mj-lt"/>
              </a:rPr>
              <a:t>(3 of 6)</a:t>
            </a:r>
            <a:endParaRPr lang="en-IN" sz="1800" b="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10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/>
              <a:t>Consider the triangle represented by the matrix</a:t>
            </a:r>
          </a:p>
        </p:txBody>
      </p:sp>
      <p:pic>
        <p:nvPicPr>
          <p:cNvPr id="5" name="Picture 4" descr="A = a 2-by-3 matrix: R sub 1: 0, 3, 4, which are x-coordinates. R sub 2: 0, 5, 2, which are y-coordinates. The coordinate pairs are the vertices of a triangle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268750"/>
            <a:ext cx="4163650" cy="1750625"/>
          </a:xfrm>
          <a:prstGeom prst="rect">
            <a:avLst/>
          </a:prstGeom>
        </p:spPr>
      </p:pic>
      <p:pic>
        <p:nvPicPr>
          <p:cNvPr id="7" name="Picture 6" descr="A graph of a triangle with the following vertices: (0, 0), (3, 5), and (4, 2). All values estimate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280" y="1981201"/>
            <a:ext cx="3188120" cy="3193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idx="13"/>
          </p:nvPr>
        </p:nvSpPr>
        <p:spPr>
          <a:xfrm>
            <a:off x="457200" y="5334000"/>
            <a:ext cx="8229600" cy="792163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/>
              <a:t>Use matrix operations to enlarge the triangle to twice its original perimeter.</a:t>
            </a:r>
          </a:p>
        </p:txBody>
      </p:sp>
    </p:spTree>
    <p:extLst>
      <p:ext uri="{BB962C8B-B14F-4D97-AF65-F5344CB8AC3E}">
        <p14:creationId xmlns:p14="http://schemas.microsoft.com/office/powerpoint/2010/main" val="3974446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001000" cy="1097280"/>
          </a:xfrm>
        </p:spPr>
        <p:txBody>
          <a:bodyPr/>
          <a:lstStyle/>
          <a:p>
            <a:r>
              <a:rPr lang="en-US" altLang="en-US" dirty="0">
                <a:latin typeface="+mj-lt"/>
              </a:rPr>
              <a:t>Transformation of an Image </a:t>
            </a:r>
            <a:r>
              <a:rPr lang="en-US" altLang="en-US" sz="1800" b="0" dirty="0">
                <a:latin typeface="+mj-lt"/>
              </a:rPr>
              <a:t>(4 of 6)</a:t>
            </a:r>
            <a:endParaRPr lang="en-IN" sz="1800" b="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990599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/>
              <a:t>Solution: </a:t>
            </a:r>
          </a:p>
          <a:p>
            <a:pPr marL="0" indent="0">
              <a:buNone/>
            </a:pPr>
            <a:r>
              <a:rPr lang="en-US" altLang="en-US" sz="2400" dirty="0"/>
              <a:t>We will multiply the original matrix by 2.</a:t>
            </a:r>
          </a:p>
        </p:txBody>
      </p:sp>
      <p:pic>
        <p:nvPicPr>
          <p:cNvPr id="6" name="Picture 4" descr="Multiply a 2-by-3 matrix by 2. 2 times matrix: R sub 1: 0, 3, 4. R sub 2: 0, 5, 2. = another 2-by-3 matrix: R sub 1: 0, 6, 8. R sub 2: 0, 10, 4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126514"/>
            <a:ext cx="3493365" cy="835885"/>
          </a:xfrm>
          <a:prstGeom prst="rect">
            <a:avLst/>
          </a:prstGeom>
        </p:spPr>
      </p:pic>
      <p:pic>
        <p:nvPicPr>
          <p:cNvPr id="8" name="Picture 5" descr="A graph of a triangle inset another where both have the origin as a vertex. The coordinates of the smaller triangle: (0, 0), (3, 5), and (4, 2). Larger triangle: (0, 0), (6, 10), and (8, 4). All values estimate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280" y="1988232"/>
            <a:ext cx="3188120" cy="3193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idx="13"/>
          </p:nvPr>
        </p:nvSpPr>
        <p:spPr>
          <a:xfrm>
            <a:off x="457200" y="5334001"/>
            <a:ext cx="8229600" cy="3810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/>
              <a:t>This will enlarge the triangle to twice its original perimeter.</a:t>
            </a:r>
          </a:p>
        </p:txBody>
      </p:sp>
    </p:spTree>
    <p:extLst>
      <p:ext uri="{BB962C8B-B14F-4D97-AF65-F5344CB8AC3E}">
        <p14:creationId xmlns:p14="http://schemas.microsoft.com/office/powerpoint/2010/main" val="2840079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055" y="212606"/>
            <a:ext cx="8001000" cy="1097280"/>
          </a:xfrm>
        </p:spPr>
        <p:txBody>
          <a:bodyPr/>
          <a:lstStyle/>
          <a:p>
            <a:r>
              <a:rPr lang="en-US" altLang="en-US" dirty="0">
                <a:latin typeface="+mj-lt"/>
              </a:rPr>
              <a:t>Transformation of an Image </a:t>
            </a:r>
            <a:r>
              <a:rPr lang="en-US" altLang="en-US" sz="1800" b="0" dirty="0">
                <a:latin typeface="+mj-lt"/>
              </a:rPr>
              <a:t>(5 of 6)</a:t>
            </a:r>
            <a:endParaRPr lang="en-IN" sz="1800" b="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10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/>
              <a:t>Consider the triangle represented by the matrix</a:t>
            </a:r>
          </a:p>
        </p:txBody>
      </p:sp>
      <p:pic>
        <p:nvPicPr>
          <p:cNvPr id="5" name="Picture 4" descr="A = a 2-by-3 matrix: R sub 1: 0, 3, 4, which are x-coordinates. R sub 2: 0, 5, 2, which are y-coordinates. The coordinate pairs are the vertices of a triangle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268750"/>
            <a:ext cx="4163650" cy="1750625"/>
          </a:xfrm>
          <a:prstGeom prst="rect">
            <a:avLst/>
          </a:prstGeom>
        </p:spPr>
      </p:pic>
      <p:pic>
        <p:nvPicPr>
          <p:cNvPr id="6" name="Picture 5" descr="Let B = a 2-by-2 matrix: R sub 1: 1, 0. R sub 2: 0, negative 1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78" y="4306924"/>
            <a:ext cx="2192225" cy="827998"/>
          </a:xfrm>
          <a:prstGeom prst="rect">
            <a:avLst/>
          </a:prstGeom>
        </p:spPr>
      </p:pic>
      <p:pic>
        <p:nvPicPr>
          <p:cNvPr id="8" name="Picture 6" descr="A graph of a triangle with the following vertices: (0, 0), (3, 5), and (4, 2). All values estimated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486" y="2514600"/>
            <a:ext cx="2829114" cy="2833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idx="13"/>
          </p:nvPr>
        </p:nvSpPr>
        <p:spPr>
          <a:xfrm>
            <a:off x="457200" y="5638800"/>
            <a:ext cx="8229600" cy="487363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/>
              <a:t>Find </a:t>
            </a:r>
            <a:r>
              <a:rPr lang="en-US" altLang="en-US" sz="2400" i="1" dirty="0"/>
              <a:t>BA</a:t>
            </a:r>
            <a:r>
              <a:rPr lang="en-US" altLang="en-US" sz="2400" dirty="0"/>
              <a:t>. What effect does this have on the original triangle?</a:t>
            </a:r>
          </a:p>
        </p:txBody>
      </p:sp>
    </p:spTree>
    <p:extLst>
      <p:ext uri="{BB962C8B-B14F-4D97-AF65-F5344CB8AC3E}">
        <p14:creationId xmlns:p14="http://schemas.microsoft.com/office/powerpoint/2010/main" val="2625100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82" y="120399"/>
            <a:ext cx="8001000" cy="1097280"/>
          </a:xfrm>
        </p:spPr>
        <p:txBody>
          <a:bodyPr/>
          <a:lstStyle/>
          <a:p>
            <a:r>
              <a:rPr lang="en-US" altLang="en-US" dirty="0">
                <a:latin typeface="+mj-lt"/>
              </a:rPr>
              <a:t>Transformation of an Image </a:t>
            </a:r>
            <a:r>
              <a:rPr lang="en-US" altLang="en-US" sz="1800" b="0" dirty="0">
                <a:latin typeface="+mj-lt"/>
              </a:rPr>
              <a:t>(6 of 6)</a:t>
            </a:r>
            <a:endParaRPr lang="en-IN" sz="1800" b="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10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Solution:</a:t>
            </a:r>
          </a:p>
        </p:txBody>
      </p:sp>
      <p:pic>
        <p:nvPicPr>
          <p:cNvPr id="7" name="Picture 6" descr="A 2-by-2 matrix, B is multiplied by a 2-by-3 matrix, Ay. B times Ay = R sub 1: 1, 0. R sub 2: 0, negative 1. Times R sub 1: 0, 3, 4. R sub 2: 0, 5, 2. = a 2-by-3 matrix: R sub 1: 1 times 0 + 0 times 0, 1 times 3 + 0 times 5, 1 times 4 + 0 times 2. R sub 2: 0 times 0 + negative 1 times 0, 0 times 3 + negative 1 times 5, 0 times 4 + negative 1 times 2. = a 2-by-3 matrix: R sub 1: 0, 3, 4. R sub 2: 0, negative 5, negative 2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68750"/>
            <a:ext cx="5677705" cy="2365187"/>
          </a:xfrm>
          <a:prstGeom prst="rect">
            <a:avLst/>
          </a:prstGeom>
        </p:spPr>
      </p:pic>
      <p:pic>
        <p:nvPicPr>
          <p:cNvPr id="9" name="Picture 8" descr="A graph of 2 triangles. Triangle 1 has the following vertices: (0, 0), (3, 5), and (4, 2). Triangle 2 has the following vertices: (0, 0), (3, negative 5), and (4, negative 2)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743200"/>
            <a:ext cx="2836506" cy="2841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idx="13"/>
          </p:nvPr>
        </p:nvSpPr>
        <p:spPr>
          <a:xfrm>
            <a:off x="457200" y="5638800"/>
            <a:ext cx="8382000" cy="487363"/>
          </a:xfrm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en-US" altLang="en-US" sz="2400" dirty="0"/>
              <a:t>Multiplication by </a:t>
            </a:r>
            <a:r>
              <a:rPr lang="en-US" altLang="en-US" sz="2400" i="1" dirty="0"/>
              <a:t>B</a:t>
            </a:r>
            <a:r>
              <a:rPr lang="en-US" altLang="en-US" sz="2400" dirty="0"/>
              <a:t> reflects the original triangle over the </a:t>
            </a:r>
            <a:r>
              <a:rPr lang="en-US" altLang="en-US" sz="2400" i="1" dirty="0"/>
              <a:t>x</a:t>
            </a:r>
            <a:r>
              <a:rPr lang="en-US" altLang="en-US" sz="2400" dirty="0"/>
              <a:t>-axis.</a:t>
            </a:r>
          </a:p>
        </p:txBody>
      </p:sp>
    </p:spTree>
    <p:extLst>
      <p:ext uri="{BB962C8B-B14F-4D97-AF65-F5344CB8AC3E}">
        <p14:creationId xmlns:p14="http://schemas.microsoft.com/office/powerpoint/2010/main" val="2357838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>
            <a:spLocks noGrp="1"/>
          </p:cNvSpPr>
          <p:nvPr>
            <p:ph type="body" idx="1"/>
          </p:nvPr>
        </p:nvSpPr>
        <p:spPr>
          <a:xfrm>
            <a:off x="311700" y="1028901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/>
              <a:t>Similar to the inverse of a function, the </a:t>
            </a:r>
            <a:r>
              <a:rPr lang="en" dirty="0">
                <a:solidFill>
                  <a:srgbClr val="FF0000"/>
                </a:solidFill>
              </a:rPr>
              <a:t>inverse of a linear transformation</a:t>
            </a:r>
            <a:r>
              <a:rPr lang="en" dirty="0"/>
              <a:t> might exist such that: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r>
              <a:rPr lang="en" dirty="0"/>
              <a:t>											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r>
              <a:rPr lang="en" dirty="0"/>
              <a:t>which follows the definition of an inverse given by:</a:t>
            </a: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15" name="Google Shape;215;p26"/>
          <p:cNvSpPr txBox="1">
            <a:spLocks noGrp="1"/>
          </p:cNvSpPr>
          <p:nvPr>
            <p:ph type="title"/>
          </p:nvPr>
        </p:nvSpPr>
        <p:spPr>
          <a:xfrm>
            <a:off x="226208" y="243152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Inverse of a Linear Transformation</a:t>
            </a:r>
            <a:endParaRPr dirty="0"/>
          </a:p>
          <a:p>
            <a:endParaRPr dirty="0"/>
          </a:p>
        </p:txBody>
      </p:sp>
      <p:sp>
        <p:nvSpPr>
          <p:cNvPr id="216" name="Google Shape;216;p26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17" name="Google Shape;217;p26"/>
          <p:cNvGrpSpPr/>
          <p:nvPr/>
        </p:nvGrpSpPr>
        <p:grpSpPr>
          <a:xfrm>
            <a:off x="1922426" y="2664751"/>
            <a:ext cx="5299175" cy="1499875"/>
            <a:chOff x="1922425" y="1959900"/>
            <a:chExt cx="5299175" cy="1499875"/>
          </a:xfrm>
        </p:grpSpPr>
        <p:sp>
          <p:nvSpPr>
            <p:cNvPr id="218" name="Google Shape;218;p26"/>
            <p:cNvSpPr/>
            <p:nvPr/>
          </p:nvSpPr>
          <p:spPr>
            <a:xfrm>
              <a:off x="3768600" y="1959900"/>
              <a:ext cx="1606800" cy="511200"/>
            </a:xfrm>
            <a:prstGeom prst="roundRect">
              <a:avLst>
                <a:gd name="adj" fmla="val 16667"/>
              </a:avLst>
            </a:prstGeom>
            <a:solidFill>
              <a:srgbClr val="CFE2F3"/>
            </a:solidFill>
            <a:ln w="19050" cap="flat" cmpd="sng">
              <a:solidFill>
                <a:srgbClr val="1155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T(</a:t>
              </a:r>
              <a:r>
                <a:rPr kumimoji="0" lang="e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</a:t>
              </a:r>
              <a:r>
                <a:rPr kumimoji="0" lang="en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) = A</a:t>
              </a:r>
              <a:r>
                <a:rPr kumimoji="0" lang="e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</a:t>
              </a:r>
              <a:endParaRPr kumimoji="0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9" name="Google Shape;219;p26"/>
            <p:cNvSpPr txBox="1"/>
            <p:nvPr/>
          </p:nvSpPr>
          <p:spPr>
            <a:xfrm>
              <a:off x="1922425" y="2478775"/>
              <a:ext cx="13014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>
                  <a:ln>
                    <a:noFill/>
                  </a:ln>
                  <a:solidFill>
                    <a:srgbClr val="1155CC"/>
                  </a:solidFill>
                  <a:effectLst/>
                  <a:uLnTx/>
                  <a:uFillTx/>
                  <a:latin typeface="Proxima Nova"/>
                  <a:ea typeface="Proxima Nova"/>
                  <a:cs typeface="Proxima Nova"/>
                  <a:sym typeface="Proxima Nova"/>
                </a:rPr>
                <a:t>vector</a:t>
              </a:r>
              <a:r>
                <a:rPr kumimoji="0" lang="en" sz="1800" b="1" i="0" u="none" strike="noStrike" kern="1200" cap="none" spc="0" normalizeH="0" baseline="0" noProof="0">
                  <a:ln>
                    <a:noFill/>
                  </a:ln>
                  <a:solidFill>
                    <a:srgbClr val="1155CC"/>
                  </a:solidFill>
                  <a:effectLst/>
                  <a:uLnTx/>
                  <a:uFillTx/>
                  <a:latin typeface="Proxima Nova"/>
                  <a:ea typeface="Proxima Nova"/>
                  <a:cs typeface="Proxima Nova"/>
                  <a:sym typeface="Proxima Nova"/>
                </a:rPr>
                <a:t> v</a:t>
              </a:r>
              <a:endPara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3768600" y="2948575"/>
              <a:ext cx="1606800" cy="511200"/>
            </a:xfrm>
            <a:prstGeom prst="roundRect">
              <a:avLst>
                <a:gd name="adj" fmla="val 16667"/>
              </a:avLst>
            </a:prstGeom>
            <a:solidFill>
              <a:srgbClr val="F4CCCC"/>
            </a:solidFill>
            <a:ln w="19050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</a:t>
              </a:r>
              <a:r>
                <a:rPr kumimoji="0" lang="en" sz="1800" b="0" i="1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-1</a:t>
              </a:r>
              <a:r>
                <a:rPr kumimoji="0" lang="en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</a:t>
              </a:r>
              <a:r>
                <a:rPr kumimoji="0" lang="e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</a:t>
              </a:r>
              <a:r>
                <a:rPr kumimoji="0" lang="en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) = A</a:t>
              </a:r>
              <a:r>
                <a:rPr kumimoji="0" lang="en" sz="1800" b="0" i="1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-1</a:t>
              </a:r>
              <a:r>
                <a:rPr kumimoji="0" lang="e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</a:t>
              </a:r>
              <a:endParaRPr kumimoji="0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1" name="Google Shape;221;p26"/>
            <p:cNvSpPr txBox="1"/>
            <p:nvPr/>
          </p:nvSpPr>
          <p:spPr>
            <a:xfrm>
              <a:off x="5920200" y="2478775"/>
              <a:ext cx="13014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>
                  <a:ln>
                    <a:noFill/>
                  </a:ln>
                  <a:solidFill>
                    <a:srgbClr val="4BACC6"/>
                  </a:solidFill>
                  <a:effectLst/>
                  <a:uLnTx/>
                  <a:uFillTx/>
                  <a:latin typeface="Proxima Nova"/>
                  <a:ea typeface="Proxima Nova"/>
                  <a:cs typeface="Proxima Nova"/>
                  <a:sym typeface="Proxima Nova"/>
                </a:rPr>
                <a:t>vector</a:t>
              </a:r>
              <a:r>
                <a:rPr kumimoji="0" lang="en" sz="1800" b="1" i="0" u="none" strike="noStrike" kern="1200" cap="none" spc="0" normalizeH="0" baseline="0" noProof="0">
                  <a:ln>
                    <a:noFill/>
                  </a:ln>
                  <a:solidFill>
                    <a:srgbClr val="4BACC6"/>
                  </a:solidFill>
                  <a:effectLst/>
                  <a:uLnTx/>
                  <a:uFillTx/>
                  <a:latin typeface="Proxima Nova"/>
                  <a:ea typeface="Proxima Nova"/>
                  <a:cs typeface="Proxima Nova"/>
                  <a:sym typeface="Proxima Nova"/>
                </a:rPr>
                <a:t> u</a:t>
              </a:r>
              <a:endParaRPr kumimoji="0" sz="1800" b="1" i="0" u="none" strike="noStrike" kern="1200" cap="none" spc="0" normalizeH="0" baseline="0" noProof="0">
                <a:ln>
                  <a:noFill/>
                </a:ln>
                <a:solidFill>
                  <a:srgbClr val="4BACC6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cxnSp>
          <p:nvCxnSpPr>
            <p:cNvPr id="222" name="Google Shape;222;p26"/>
            <p:cNvCxnSpPr>
              <a:stCxn id="218" idx="3"/>
              <a:endCxn id="221" idx="0"/>
            </p:cNvCxnSpPr>
            <p:nvPr/>
          </p:nvCxnSpPr>
          <p:spPr>
            <a:xfrm>
              <a:off x="5375400" y="2215500"/>
              <a:ext cx="1195500" cy="263400"/>
            </a:xfrm>
            <a:prstGeom prst="bentConnector2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3" name="Google Shape;223;p26"/>
            <p:cNvCxnSpPr>
              <a:stCxn id="221" idx="2"/>
              <a:endCxn id="220" idx="3"/>
            </p:cNvCxnSpPr>
            <p:nvPr/>
          </p:nvCxnSpPr>
          <p:spPr>
            <a:xfrm rot="5400000">
              <a:off x="5807250" y="2440525"/>
              <a:ext cx="331800" cy="1195500"/>
            </a:xfrm>
            <a:prstGeom prst="bentConnector2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4" name="Google Shape;224;p26"/>
            <p:cNvCxnSpPr>
              <a:stCxn id="219" idx="0"/>
              <a:endCxn id="218" idx="1"/>
            </p:cNvCxnSpPr>
            <p:nvPr/>
          </p:nvCxnSpPr>
          <p:spPr>
            <a:xfrm rot="-5400000">
              <a:off x="3039175" y="1749325"/>
              <a:ext cx="263400" cy="1195500"/>
            </a:xfrm>
            <a:prstGeom prst="bentConnector2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5" name="Google Shape;225;p26"/>
            <p:cNvCxnSpPr>
              <a:stCxn id="220" idx="1"/>
              <a:endCxn id="219" idx="2"/>
            </p:cNvCxnSpPr>
            <p:nvPr/>
          </p:nvCxnSpPr>
          <p:spPr>
            <a:xfrm rot="10800000">
              <a:off x="2573100" y="2872375"/>
              <a:ext cx="1195500" cy="331800"/>
            </a:xfrm>
            <a:prstGeom prst="bentConnector2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226" name="Google Shape;226;p26" descr="2 lines Line 1: T of T inverse of bold v equals T inverse of T of bold v equals bold v Line 2: A A to the negative 1 power bold v equals A to the negative 1 power A bold v equals bold v⁣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7816" y="4981575"/>
            <a:ext cx="3008375" cy="6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 txBox="1">
            <a:spLocks noGrp="1"/>
          </p:cNvSpPr>
          <p:nvPr>
            <p:ph type="title"/>
          </p:nvPr>
        </p:nvSpPr>
        <p:spPr>
          <a:xfrm>
            <a:off x="226208" y="26064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Inverse of a Matrix (recap)</a:t>
            </a:r>
            <a:endParaRPr dirty="0"/>
          </a:p>
        </p:txBody>
      </p:sp>
      <p:sp>
        <p:nvSpPr>
          <p:cNvPr id="256" name="Google Shape;256;p28"/>
          <p:cNvSpPr txBox="1">
            <a:spLocks noGrp="1"/>
          </p:cNvSpPr>
          <p:nvPr>
            <p:ph type="body" idx="1"/>
          </p:nvPr>
        </p:nvSpPr>
        <p:spPr>
          <a:xfrm>
            <a:off x="253200" y="1191000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/>
              <a:t>A square n x n matrix A is called </a:t>
            </a:r>
            <a:r>
              <a:rPr lang="en" dirty="0">
                <a:solidFill>
                  <a:srgbClr val="FF0000"/>
                </a:solidFill>
              </a:rPr>
              <a:t>invertible</a:t>
            </a:r>
            <a:r>
              <a:rPr lang="en" dirty="0"/>
              <a:t> if there exist a square n x n matrix </a:t>
            </a:r>
            <a:r>
              <a:rPr lang="en" dirty="0">
                <a:solidFill>
                  <a:srgbClr val="FF0000"/>
                </a:solidFill>
              </a:rPr>
              <a:t>A</a:t>
            </a:r>
            <a:r>
              <a:rPr lang="en" baseline="30000" dirty="0">
                <a:solidFill>
                  <a:srgbClr val="FF0000"/>
                </a:solidFill>
              </a:rPr>
              <a:t>-1</a:t>
            </a:r>
            <a:r>
              <a:rPr lang="en" dirty="0"/>
              <a:t> such that: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r>
              <a:rPr lang="en" dirty="0"/>
              <a:t>where I is the identity matrix and </a:t>
            </a:r>
            <a:r>
              <a:rPr lang="en" dirty="0">
                <a:solidFill>
                  <a:srgbClr val="FF0000"/>
                </a:solidFill>
              </a:rPr>
              <a:t>A</a:t>
            </a:r>
            <a:r>
              <a:rPr lang="en" baseline="30000" dirty="0">
                <a:solidFill>
                  <a:srgbClr val="FF0000"/>
                </a:solidFill>
              </a:rPr>
              <a:t>-1</a:t>
            </a:r>
            <a:r>
              <a:rPr lang="en" dirty="0">
                <a:solidFill>
                  <a:srgbClr val="FF0000"/>
                </a:solidFill>
              </a:rPr>
              <a:t> is known as the inverse of matrix A</a:t>
            </a:r>
            <a:r>
              <a:rPr lang="en" dirty="0"/>
              <a:t> given by: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A</a:t>
            </a:r>
            <a:r>
              <a:rPr lang="en" baseline="-25000" dirty="0"/>
              <a:t>adj</a:t>
            </a:r>
            <a:r>
              <a:rPr lang="en" dirty="0"/>
              <a:t> is known as the adjugate (or adjoint) of matrix A given by the transpose of its cofactor matrix.</a:t>
            </a:r>
            <a:endParaRPr dirty="0"/>
          </a:p>
        </p:txBody>
      </p:sp>
      <p:sp>
        <p:nvSpPr>
          <p:cNvPr id="257" name="Google Shape;257;p28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13</a:t>
            </a:fld>
            <a:endParaRPr dirty="0"/>
          </a:p>
        </p:txBody>
      </p:sp>
      <p:pic>
        <p:nvPicPr>
          <p:cNvPr id="258" name="Google Shape;258;p28" descr="A A to the negative 1 power equals A to the negative 1 power A equals I⁣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2637" y="2443398"/>
            <a:ext cx="2201725" cy="26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8" descr="A to the negative 1 power equals 1 over determinant A A sub a. d j⁣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2637" y="4148878"/>
            <a:ext cx="19314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 txBox="1">
            <a:spLocks noGrp="1"/>
          </p:cNvSpPr>
          <p:nvPr>
            <p:ph type="title"/>
          </p:nvPr>
        </p:nvSpPr>
        <p:spPr>
          <a:xfrm>
            <a:off x="243090" y="28887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Inverse of a Matrix</a:t>
            </a:r>
            <a:endParaRPr dirty="0"/>
          </a:p>
        </p:txBody>
      </p:sp>
      <p:sp>
        <p:nvSpPr>
          <p:cNvPr id="265" name="Google Shape;265;p29"/>
          <p:cNvSpPr txBox="1">
            <a:spLocks noGrp="1"/>
          </p:cNvSpPr>
          <p:nvPr>
            <p:ph type="body" idx="1"/>
          </p:nvPr>
        </p:nvSpPr>
        <p:spPr>
          <a:xfrm>
            <a:off x="311695" y="2103333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/>
              <a:t>For a </a:t>
            </a:r>
            <a:r>
              <a:rPr lang="en" dirty="0">
                <a:solidFill>
                  <a:srgbClr val="FF0000"/>
                </a:solidFill>
              </a:rPr>
              <a:t>2 x 2 matrix A, its inverse</a:t>
            </a:r>
            <a:r>
              <a:rPr lang="en" dirty="0"/>
              <a:t> is given by: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r>
              <a:rPr lang="en" dirty="0">
                <a:solidFill>
                  <a:srgbClr val="0B5394"/>
                </a:solidFill>
              </a:rPr>
              <a:t>Example: Determine the inverse of                      and check using the definition of the inverse. In layman, what does the inverse of A do?</a:t>
            </a:r>
            <a:endParaRPr dirty="0">
              <a:solidFill>
                <a:srgbClr val="0B5394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66" name="Google Shape;266;p29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67" name="Google Shape;26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3288" y="2708175"/>
            <a:ext cx="5737414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2120" y="3949215"/>
            <a:ext cx="107632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 txBox="1">
            <a:spLocks noGrp="1"/>
          </p:cNvSpPr>
          <p:nvPr>
            <p:ph type="title"/>
          </p:nvPr>
        </p:nvSpPr>
        <p:spPr>
          <a:xfrm>
            <a:off x="243090" y="28887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Inverse of a Matrix</a:t>
            </a:r>
            <a:endParaRPr dirty="0"/>
          </a:p>
        </p:txBody>
      </p:sp>
      <p:sp>
        <p:nvSpPr>
          <p:cNvPr id="265" name="Google Shape;265;p29"/>
          <p:cNvSpPr txBox="1">
            <a:spLocks noGrp="1"/>
          </p:cNvSpPr>
          <p:nvPr>
            <p:ph type="body" idx="1"/>
          </p:nvPr>
        </p:nvSpPr>
        <p:spPr>
          <a:xfrm>
            <a:off x="311700" y="886501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Bef>
                <a:spcPts val="1600"/>
              </a:spcBef>
              <a:buNone/>
            </a:pPr>
            <a:r>
              <a:rPr lang="en" dirty="0">
                <a:solidFill>
                  <a:srgbClr val="0B5394"/>
                </a:solidFill>
              </a:rPr>
              <a:t>Example: Determine the inverse of                      and check using the definition of the inverse. In layman, what does the inverse of A do?</a:t>
            </a:r>
            <a:endParaRPr dirty="0">
              <a:solidFill>
                <a:srgbClr val="0B5394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66" name="Google Shape;266;p29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68" name="Google Shape;2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4128" y="1185133"/>
            <a:ext cx="1076325" cy="5238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B0CA55-6C90-31BF-1C22-1665A90DA6D6}"/>
                  </a:ext>
                </a:extLst>
              </p:cNvPr>
              <p:cNvSpPr txBox="1"/>
              <p:nvPr/>
            </p:nvSpPr>
            <p:spPr>
              <a:xfrm>
                <a:off x="539552" y="2852936"/>
                <a:ext cx="6541487" cy="2296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SG" sz="1800" b="0" i="0" u="none" strike="noStrike" kern="1200" cap="none" spc="-3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SimSun" panose="02010600030101010101" pitchFamily="2" charset="-122"/>
                        <a:cs typeface="+mn-cs"/>
                      </a:rPr>
                      <m:t>A</m:t>
                    </m:r>
                    <m:r>
                      <a:rPr kumimoji="0" lang="en-SG" sz="1800" b="0" i="0" u="none" strike="noStrike" kern="1200" cap="none" spc="-3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SimSun" panose="02010600030101010101" pitchFamily="2" charset="-122"/>
                        <a:cs typeface="+mn-cs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1800" b="0" i="1" u="none" strike="noStrike" kern="1200" cap="none" spc="-3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SG" sz="1800" b="0" i="0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0" lang="en-SG" sz="1800" b="0" i="0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0" lang="en-SG" sz="1800" b="0" i="0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SG" sz="1800" b="0" i="0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en-SG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	</a:t>
                </a:r>
                <a:endParaRPr kumimoji="0" lang="en-US" sz="1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SimSun" panose="02010600030101010101" pitchFamily="2" charset="-122"/>
                  <a:cs typeface="+mn-cs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SG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  <m:t>𝐴</m:t>
                        </m:r>
                      </m:e>
                      <m:sup>
                        <m:r>
                          <a:rPr kumimoji="0" lang="en-SG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  <m:t>−1</m:t>
                        </m:r>
                      </m:sup>
                    </m:sSup>
                    <m:r>
                      <a:rPr kumimoji="0" lang="en-SG" sz="1800" b="0" i="1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SimSun" panose="02010600030101010101" pitchFamily="2" charset="-122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</m:ctrlPr>
                      </m:fPr>
                      <m:num>
                        <m:r>
                          <a:rPr kumimoji="0" lang="en-SG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SG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  <m:t>𝑑𝑒𝑡</m:t>
                        </m:r>
                        <m:r>
                          <a:rPr kumimoji="0" lang="en-SG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  <m:t>(</m:t>
                        </m:r>
                        <m:r>
                          <a:rPr kumimoji="0" lang="en-SG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  <m:t>𝐴</m:t>
                        </m:r>
                        <m:r>
                          <a:rPr kumimoji="0" lang="en-SG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  <m:t>)</m:t>
                        </m:r>
                      </m:den>
                    </m:f>
                    <m:sSub>
                      <m:sSubPr>
                        <m:ctrlPr>
                          <a:rPr kumimoji="0" lang="en-US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SG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  <m:t>𝐴</m:t>
                        </m:r>
                      </m:e>
                      <m:sub>
                        <m:r>
                          <a:rPr kumimoji="0" lang="en-SG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  <m:t>𝑎𝑑𝑗</m:t>
                        </m:r>
                      </m:sub>
                    </m:sSub>
                    <m:r>
                      <a:rPr kumimoji="0" lang="en-SG" sz="1800" b="0" i="1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SimSun" panose="02010600030101010101" pitchFamily="2" charset="-122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</m:ctrlPr>
                      </m:fPr>
                      <m:num>
                        <m:r>
                          <a:rPr kumimoji="0" lang="en-SG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SG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  <m:t>3(3)−1(0)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kumimoji="0" lang="en-US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1800" b="0" i="1" u="none" strike="noStrike" kern="1200" cap="none" spc="-3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SG" sz="1800" b="0" i="1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0" lang="en-SG" sz="1800" b="0" i="1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kumimoji="0" lang="en-SG" sz="1800" b="0" i="1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SG" sz="1800" b="0" i="1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kumimoji="0" lang="en-SG" sz="1800" b="0" i="1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SimSun" panose="02010600030101010101" pitchFamily="2" charset="-122"/>
                        <a:cs typeface="+mn-cs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1800" b="0" i="1" u="none" strike="noStrike" kern="1200" cap="none" spc="-3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+mn-cs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kumimoji="0" lang="en-US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SG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SG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  <m:t>9</m:t>
                                  </m:r>
                                </m:den>
                              </m:f>
                            </m:e>
                            <m:e>
                              <m:r>
                                <a:rPr kumimoji="0" lang="en-SG" sz="1800" b="0" i="1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0" lang="en-US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SG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SG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kumimoji="0" lang="en-SG" sz="1800" b="0" i="1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kumimoji="0" lang="en-US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SG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SG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kumimoji="0" lang="en-SG" sz="1800" b="0" i="1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SimSun" panose="02010600030101010101" pitchFamily="2" charset="-122"/>
                        <a:cs typeface="+mn-cs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1800" b="0" i="1" u="none" strike="noStrike" kern="1200" cap="none" spc="-3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sz="1800" b="0" i="1" u="none" strike="noStrike" kern="1200" cap="none" spc="-3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+mn-cs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kumimoji="0" lang="en-US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SG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SG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kumimoji="0" lang="en-SG" sz="1800" b="0" i="1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0" lang="en-US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SG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SG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kumimoji="0" lang="en-SG" sz="1800" b="0" i="1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kumimoji="0" lang="en-US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SG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SG" sz="18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kumimoji="0" lang="en-SG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	</a:t>
                </a:r>
                <a:endParaRPr kumimoji="0" lang="en-US" sz="1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SimSun" panose="02010600030101010101" pitchFamily="2" charset="-122"/>
                  <a:cs typeface="+mn-cs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Sun" panose="02010600030101010101" pitchFamily="2" charset="-122"/>
                    <a:cs typeface="+mn-cs"/>
                  </a:rPr>
                  <a:t>I</a:t>
                </a:r>
                <a:r>
                  <a:rPr kumimoji="0" lang="en-US" sz="18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Sun" panose="02010600030101010101" pitchFamily="2" charset="-122"/>
                    <a:cs typeface="+mn-cs"/>
                  </a:rPr>
                  <a:t>nverse</a:t>
                </a:r>
                <a:r>
                  <a:rPr kumimoji="0" 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Sun" panose="02010600030101010101" pitchFamily="2" charset="-122"/>
                    <a:cs typeface="+mn-cs"/>
                  </a:rPr>
                  <a:t> of</a:t>
                </a:r>
                <a:r>
                  <a:rPr kumimoji="0" lang="en-SG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Sun" panose="02010600030101010101" pitchFamily="2" charset="-122"/>
                    <a:cs typeface="+mn-cs"/>
                  </a:rPr>
                  <a:t> a matrix is like a reciprocal for numbers. The product of a matrix and its inverse matrix is equal to the unit matrix.</a:t>
                </a:r>
                <a:endParaRPr kumimoji="0" lang="en-US" sz="1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SimSun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B0CA55-6C90-31BF-1C22-1665A90DA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852936"/>
                <a:ext cx="6541487" cy="2296654"/>
              </a:xfrm>
              <a:prstGeom prst="rect">
                <a:avLst/>
              </a:prstGeom>
              <a:blipFill>
                <a:blip r:embed="rId4"/>
                <a:stretch>
                  <a:fillRect l="-839" r="-746" b="-344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37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"/>
          <p:cNvSpPr txBox="1">
            <a:spLocks noGrp="1"/>
          </p:cNvSpPr>
          <p:nvPr>
            <p:ph type="title"/>
          </p:nvPr>
        </p:nvSpPr>
        <p:spPr>
          <a:xfrm>
            <a:off x="311700" y="81763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Inverse of a Matrix</a:t>
            </a:r>
            <a:endParaRPr dirty="0"/>
          </a:p>
          <a:p>
            <a:endParaRPr dirty="0"/>
          </a:p>
        </p:txBody>
      </p:sp>
      <p:sp>
        <p:nvSpPr>
          <p:cNvPr id="274" name="Google Shape;274;p30"/>
          <p:cNvSpPr txBox="1">
            <a:spLocks noGrp="1"/>
          </p:cNvSpPr>
          <p:nvPr>
            <p:ph type="body" idx="1"/>
          </p:nvPr>
        </p:nvSpPr>
        <p:spPr>
          <a:xfrm>
            <a:off x="311700" y="1083850"/>
            <a:ext cx="8520600" cy="418660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/>
              <a:t>For a </a:t>
            </a:r>
            <a:r>
              <a:rPr lang="en" dirty="0">
                <a:solidFill>
                  <a:srgbClr val="FF0000"/>
                </a:solidFill>
              </a:rPr>
              <a:t>3 x 3 matrix A</a:t>
            </a:r>
            <a:r>
              <a:rPr lang="en" dirty="0"/>
              <a:t>, obtaining </a:t>
            </a:r>
            <a:r>
              <a:rPr lang="en" dirty="0">
                <a:solidFill>
                  <a:srgbClr val="FF0000"/>
                </a:solidFill>
              </a:rPr>
              <a:t>its inverse</a:t>
            </a:r>
            <a:r>
              <a:rPr lang="en" dirty="0"/>
              <a:t> is much more tedious, from: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75" name="Google Shape;275;p30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16</a:t>
            </a:fld>
            <a:endParaRPr/>
          </a:p>
        </p:txBody>
      </p:sp>
      <p:pic>
        <p:nvPicPr>
          <p:cNvPr id="276" name="Google Shape;27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0" y="3400433"/>
            <a:ext cx="4314825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0" y="2358002"/>
            <a:ext cx="365760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0"/>
          <p:cNvSpPr txBox="1">
            <a:spLocks noGrp="1"/>
          </p:cNvSpPr>
          <p:nvPr>
            <p:ph type="body" idx="1"/>
          </p:nvPr>
        </p:nvSpPr>
        <p:spPr>
          <a:xfrm>
            <a:off x="311700" y="5223322"/>
            <a:ext cx="8520600" cy="121811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sz="2800" dirty="0">
                <a:solidFill>
                  <a:srgbClr val="9900FF"/>
                </a:solidFill>
              </a:rPr>
              <a:t>where </a:t>
            </a:r>
            <a:r>
              <a:rPr lang="en" sz="2800" i="1" dirty="0">
                <a:solidFill>
                  <a:srgbClr val="9900FF"/>
                </a:solidFill>
              </a:rPr>
              <a:t>C</a:t>
            </a:r>
            <a:r>
              <a:rPr lang="en" sz="2800" dirty="0">
                <a:solidFill>
                  <a:srgbClr val="9900FF"/>
                </a:solidFill>
              </a:rPr>
              <a:t> is known as the cofactor matrix.</a:t>
            </a:r>
          </a:p>
          <a:p>
            <a:pPr marL="0" indent="0">
              <a:buNone/>
            </a:pPr>
            <a:r>
              <a:rPr lang="en" sz="2800" dirty="0">
                <a:solidFill>
                  <a:srgbClr val="9900FF"/>
                </a:solidFill>
              </a:rPr>
              <a:t>A square matrix is singular or not invertible if its determinant is 0</a:t>
            </a:r>
            <a:endParaRPr sz="2800" dirty="0">
              <a:solidFill>
                <a:srgbClr val="9900FF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 txBox="1">
            <a:spLocks noGrp="1"/>
          </p:cNvSpPr>
          <p:nvPr>
            <p:ph type="title"/>
          </p:nvPr>
        </p:nvSpPr>
        <p:spPr>
          <a:xfrm>
            <a:off x="311700" y="16796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Inverse of a Matrix</a:t>
            </a:r>
            <a:endParaRPr dirty="0"/>
          </a:p>
        </p:txBody>
      </p:sp>
      <p:sp>
        <p:nvSpPr>
          <p:cNvPr id="284" name="Google Shape;284;p31"/>
          <p:cNvSpPr txBox="1">
            <a:spLocks noGrp="1"/>
          </p:cNvSpPr>
          <p:nvPr>
            <p:ph type="body" idx="1"/>
          </p:nvPr>
        </p:nvSpPr>
        <p:spPr>
          <a:xfrm>
            <a:off x="229112" y="996428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0B5394"/>
                </a:solidFill>
              </a:rPr>
              <a:t>Example: Determine the inverse of the matrix below and check using the definition of the inverse.</a:t>
            </a:r>
            <a:endParaRPr dirty="0">
              <a:solidFill>
                <a:srgbClr val="0B5394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85" name="Google Shape;285;p31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7" name="Google Shape;287;p31"/>
          <p:cNvSpPr txBox="1"/>
          <p:nvPr/>
        </p:nvSpPr>
        <p:spPr>
          <a:xfrm>
            <a:off x="6843753" y="5549272"/>
            <a:ext cx="691800" cy="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ANS: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88" name="Google Shape;288;p31" descr="&lt;math xmlns=&quot;http://www.w3.org/1998/Math/MathML&quot; display=&quot;block&quot; data-is-equatio=&quot;1&quot; data-latex=&quot;A^{-1}=\left[\begin{matrix}0&amp;amp;0&amp;amp;\frac{1}{3}\\&amp;#13;&amp;#10;-\frac{1}{2}&amp;amp;-\frac{1}{2}&amp;amp;\frac{1}{2}\\&amp;#13;&amp;#10;1&amp;amp;0&amp;amp;-\frac{1}{3}\end{matrix}\right]&quot;&gt;&lt;msup&gt;&lt;mi&gt;A&lt;/mi&gt;&lt;mrow&gt;&lt;mo&gt;−&lt;/mo&gt;&lt;mn&gt;1&lt;/mn&gt;&lt;/mrow&gt;&lt;/msup&gt;&lt;mo&gt;=&lt;/mo&gt;&lt;mrow data-mjx-texclass=&quot;INNER&quot;&gt;&lt;mo data-mjx-texclass=&quot;OPEN&quot;&gt;[&lt;/mo&gt;&lt;mtable columnspacing=&quot;1em&quot; rowspacing=&quot;4pt&quot;&gt;&lt;mtr&gt;&lt;mtd&gt;&lt;mn&gt;0&lt;/mn&gt;&lt;/mtd&gt;&lt;mtd&gt;&lt;mn&gt;0&lt;/mn&gt;&lt;/mtd&gt;&lt;mtd&gt;&lt;mfrac&gt;&lt;mn&gt;1&lt;/mn&gt;&lt;mn&gt;3&lt;/mn&gt;&lt;/mfrac&gt;&lt;/mtd&gt;&lt;/mtr&gt;&lt;mtr&gt;&lt;mtd&gt;&lt;mo&gt;−&lt;/mo&gt;&lt;mfrac&gt;&lt;mn&gt;1&lt;/mn&gt;&lt;mn&gt;2&lt;/mn&gt;&lt;/mfrac&gt;&lt;/mtd&gt;&lt;mtd&gt;&lt;mo&gt;−&lt;/mo&gt;&lt;mfrac&gt;&lt;mn&gt;1&lt;/mn&gt;&lt;mn&gt;2&lt;/mn&gt;&lt;/mfrac&gt;&lt;/mtd&gt;&lt;mtd&gt;&lt;mfrac&gt;&lt;mn&gt;1&lt;/mn&gt;&lt;mn&gt;2&lt;/mn&gt;&lt;/mfrac&gt;&lt;/mtd&gt;&lt;/mtr&gt;&lt;mtr&gt;&lt;mtd&gt;&lt;mn&gt;1&lt;/mn&gt;&lt;/mtd&gt;&lt;mtd&gt;&lt;mn&gt;0&lt;/mn&gt;&lt;/mtd&gt;&lt;mtd&gt;&lt;mo&gt;−&lt;/mo&gt;&lt;mfrac&gt;&lt;mn&gt;1&lt;/mn&gt;&lt;mn&gt;3&lt;/mn&gt;&lt;/mfrac&gt;&lt;/mtd&gt;&lt;/mtr&gt;&lt;/mtable&gt;&lt;mo data-mjx-texclass=&quot;CLOSE&quot;&gt;]&lt;/mo&gt;&lt;/mrow&gt;&lt;/math&gt;" title="A to the negative 1 power equals the 3 by 3 matrix Row 1: 0 0 one third Row 2: negative one half negative one half one half Row 3: 1 0 negative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4568" y="5431460"/>
            <a:ext cx="1401675" cy="6656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9763B4-1606-EA5E-C929-FFF61BCEF39D}"/>
                  </a:ext>
                </a:extLst>
              </p:cNvPr>
              <p:cNvSpPr txBox="1"/>
              <p:nvPr/>
            </p:nvSpPr>
            <p:spPr>
              <a:xfrm>
                <a:off x="-540568" y="2060848"/>
                <a:ext cx="9900592" cy="43852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SG" sz="1400" b="0" i="0" u="none" strike="noStrike" kern="1200" cap="none" spc="-3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A</m:t>
                      </m:r>
                      <m:r>
                        <a:rPr kumimoji="0" lang="en-SG" sz="1400" b="0" i="0" u="none" strike="noStrike" kern="1200" cap="none" spc="-3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1400" b="0" i="1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SimSun" panose="02010600030101010101" pitchFamily="2" charset="-122"/>
                  <a:cs typeface="+mn-cs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SG" sz="14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imSun" panose="02010600030101010101" pitchFamily="2" charset="-122"/>
                    <a:cs typeface="+mn-cs"/>
                  </a:rPr>
                  <a:t> </a:t>
                </a:r>
                <a:endParaRPr kumimoji="0" 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SimSun" panose="02010600030101010101" pitchFamily="2" charset="-122"/>
                  <a:cs typeface="+mn-cs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SG" sz="1400" b="0" i="0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SG" sz="1400" b="0" i="0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adj</m:t>
                          </m:r>
                        </m:sub>
                      </m:sSub>
                      <m:r>
                        <a:rPr kumimoji="0" lang="en-SG" sz="14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n-SG" sz="1400" b="0" i="0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C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0" lang="en-SG" sz="1400" b="0" i="0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T</m:t>
                          </m:r>
                        </m:sup>
                      </m:sSup>
                      <m:r>
                        <a:rPr kumimoji="0" lang="en-SG" sz="14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sz="1400" b="0" i="1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sz="14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kumimoji="0" lang="en-US" sz="1400" b="0" i="1" u="none" strike="noStrike" kern="1200" cap="none" spc="-3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kumimoji="0" lang="en-US" sz="1400" b="0" i="1" u="none" strike="noStrike" kern="1200" cap="none" spc="-3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  <a:cs typeface="+mn-cs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kumimoji="0" lang="en-SG" sz="1400" b="0" i="1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2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1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1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  <m:e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kumimoji="0" lang="en-US" sz="1400" b="0" i="1" u="none" strike="noStrike" kern="1200" cap="none" spc="-3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kumimoji="0" lang="en-US" sz="1400" b="0" i="1" u="none" strike="noStrike" kern="1200" cap="none" spc="-3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  <a:cs typeface="+mn-cs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2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1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1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3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  <m:e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kumimoji="0" lang="en-US" sz="1400" b="0" i="1" u="none" strike="noStrike" kern="1200" cap="none" spc="-3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kumimoji="0" lang="en-US" sz="1400" b="0" i="1" u="none" strike="noStrike" kern="1200" cap="none" spc="-3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  <a:cs typeface="+mn-cs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2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1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2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3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kumimoji="0" lang="en-US" sz="1400" b="0" i="1" u="none" strike="noStrike" kern="1200" cap="none" spc="-3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kumimoji="0" lang="en-US" sz="1400" b="0" i="1" u="none" strike="noStrike" kern="1200" cap="none" spc="-3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  <a:cs typeface="+mn-cs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1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  <m:e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kumimoji="0" lang="en-US" sz="1400" b="0" i="1" u="none" strike="noStrike" kern="1200" cap="none" spc="-3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kumimoji="0" lang="en-US" sz="1400" b="0" i="1" u="none" strike="noStrike" kern="1200" cap="none" spc="-3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  <a:cs typeface="+mn-cs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1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3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  <m:e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kumimoji="0" lang="en-US" sz="1400" b="0" i="1" u="none" strike="noStrike" kern="1200" cap="none" spc="-3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kumimoji="0" lang="en-US" sz="1400" b="0" i="1" u="none" strike="noStrike" kern="1200" cap="none" spc="-3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  <a:cs typeface="+mn-cs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3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kumimoji="0" lang="en-US" sz="1400" b="0" i="1" u="none" strike="noStrike" kern="1200" cap="none" spc="-3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kumimoji="0" lang="en-US" sz="1400" b="0" i="1" u="none" strike="noStrike" kern="1200" cap="none" spc="-3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  <a:cs typeface="+mn-cs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1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0" lang="en-SG" sz="1400" b="0" i="1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2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1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1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  <m:e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kumimoji="0" lang="en-US" sz="1400" b="0" i="1" u="none" strike="noStrike" kern="1200" cap="none" spc="-3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kumimoji="0" lang="en-US" sz="1400" b="0" i="1" u="none" strike="noStrike" kern="1200" cap="none" spc="-3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  <a:cs typeface="+mn-cs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1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2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1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1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  <m:e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kumimoji="0" lang="en-US" sz="1400" b="0" i="1" u="none" strike="noStrike" kern="1200" cap="none" spc="-3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kumimoji="0" lang="en-US" sz="1400" b="0" i="1" u="none" strike="noStrike" kern="1200" cap="none" spc="-3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  <a:cs typeface="+mn-cs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2</m:t>
                                              </m:r>
                                            </m:e>
                                            <m:e>
                                              <m:r>
                                                <a:rPr kumimoji="0" lang="en-SG" sz="1400" b="0" i="1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kumimoji="0" lang="en-SG" sz="1400" b="0" i="0" u="none" strike="noStrike" kern="1200" cap="none" spc="-3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+mn-cs"/>
                                                </a:rPr>
                                                <m:t>2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kumimoji="0" lang="en-SG" sz="1400" b="0" i="0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T</m:t>
                          </m:r>
                        </m:sup>
                      </m:sSup>
                      <m:r>
                        <a:rPr kumimoji="0" lang="en-SG" sz="14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sz="1400" b="0" i="1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sz="14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2(0)</m:t>
                                    </m:r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1)(0)</m:t>
                                    </m:r>
                                  </m:e>
                                  <m:e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[2(0)</m:t>
                                    </m:r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1)(3)]</m:t>
                                    </m:r>
                                  </m:e>
                                  <m:e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2(0)</m:t>
                                    </m:r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2)(3)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1(0)</m:t>
                                    </m:r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1(3)</m:t>
                                    </m:r>
                                  </m:e>
                                  <m:e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[1(0)</m:t>
                                    </m:r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3(0)]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0(</m:t>
                                    </m:r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1)</m:t>
                                    </m:r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(1)(</m:t>
                                    </m:r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2)</m:t>
                                    </m:r>
                                  </m:e>
                                  <m:e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[1(</m:t>
                                    </m:r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1)</m:t>
                                    </m:r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1(2)]</m:t>
                                    </m:r>
                                  </m:e>
                                  <m:e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1(</m:t>
                                    </m:r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2)</m:t>
                                    </m:r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kumimoji="0" lang="en-SG" sz="1400" b="0" i="0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T</m:t>
                          </m:r>
                        </m:sup>
                      </m:sSup>
                      <m:r>
                        <a:rPr kumimoji="0" lang="en-SG" sz="14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sz="1400" b="0" i="1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sz="1400" b="0" i="1" u="none" strike="noStrike" kern="1200" cap="none" spc="-3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+mn-cs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0" lang="en-SG" sz="1400" b="0" i="0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kumimoji="0" lang="en-SG" sz="1400" b="0" i="0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T</m:t>
                          </m:r>
                        </m:sup>
                      </m:sSup>
                      <m:r>
                        <a:rPr kumimoji="0" lang="en-SG" sz="14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1400" b="0" i="1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SG" sz="1400" b="0" i="0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SimSun" panose="02010600030101010101" pitchFamily="2" charset="-122"/>
                  <a:cs typeface="+mn-cs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SimSun" panose="02010600030101010101" pitchFamily="2" charset="-122"/>
                  <a:cs typeface="+mn-cs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SG" sz="14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det</m:t>
                      </m:r>
                      <m:r>
                        <a:rPr kumimoji="0" lang="en-SG" sz="14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n-SG" sz="14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A</m:t>
                      </m:r>
                      <m:r>
                        <a:rPr kumimoji="0" lang="en-SG" sz="14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)=1(</m:t>
                      </m:r>
                      <m:r>
                        <a:rPr kumimoji="0" lang="en-SG" sz="1400" b="0" i="1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−</m:t>
                      </m:r>
                      <m:r>
                        <a:rPr kumimoji="0" lang="en-SG" sz="14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2)(0)+0(</m:t>
                      </m:r>
                      <m:r>
                        <a:rPr kumimoji="0" lang="en-SG" sz="1400" b="0" i="1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−</m:t>
                      </m:r>
                      <m:r>
                        <a:rPr kumimoji="0" lang="en-SG" sz="14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1)(3)+1(2)(0)</m:t>
                      </m:r>
                      <m:r>
                        <a:rPr kumimoji="0" lang="en-SG" sz="1400" b="0" i="1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−</m:t>
                      </m:r>
                      <m:r>
                        <a:rPr kumimoji="0" lang="en-SG" sz="14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1(</m:t>
                      </m:r>
                      <m:r>
                        <a:rPr kumimoji="0" lang="en-SG" sz="1400" b="0" i="1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−</m:t>
                      </m:r>
                      <m:r>
                        <a:rPr kumimoji="0" lang="en-SG" sz="14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1)(0)</m:t>
                      </m:r>
                      <m:r>
                        <a:rPr kumimoji="0" lang="en-SG" sz="1400" b="0" i="1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−</m:t>
                      </m:r>
                      <m:r>
                        <a:rPr kumimoji="0" lang="en-SG" sz="14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0(2)(0)</m:t>
                      </m:r>
                      <m:r>
                        <a:rPr kumimoji="0" lang="en-SG" sz="1400" b="0" i="1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−</m:t>
                      </m:r>
                      <m:r>
                        <a:rPr kumimoji="0" lang="en-SG" sz="14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1(</m:t>
                      </m:r>
                      <m:r>
                        <a:rPr kumimoji="0" lang="en-SG" sz="1400" b="0" i="1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−</m:t>
                      </m:r>
                      <m:r>
                        <a:rPr kumimoji="0" lang="en-SG" sz="14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2)(3)=6</m:t>
                      </m:r>
                    </m:oMath>
                  </m:oMathPara>
                </a14:m>
                <a:endParaRPr kumimoji="0" 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SimSun" panose="02010600030101010101" pitchFamily="2" charset="-122"/>
                  <a:cs typeface="+mn-cs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SG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0" lang="en-SG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−1</m:t>
                          </m:r>
                        </m:sup>
                      </m:sSup>
                      <m:r>
                        <a:rPr kumimoji="0" lang="en-SG" sz="1400" b="0" i="1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SG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SG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𝑑𝑒𝑡</m:t>
                          </m:r>
                          <m:r>
                            <a:rPr kumimoji="0" lang="en-SG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(</m:t>
                          </m:r>
                          <m:r>
                            <a:rPr kumimoji="0" lang="en-SG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𝐴</m:t>
                          </m:r>
                          <m:r>
                            <a:rPr kumimoji="0" lang="en-SG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)</m:t>
                          </m:r>
                        </m:den>
                      </m:f>
                      <m:sSub>
                        <m:sSubPr>
                          <m:ctrlPr>
                            <a:rPr kumimoji="0" lang="en-US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SG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0" lang="en-SG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𝑎𝑑𝑗</m:t>
                          </m:r>
                        </m:sub>
                      </m:sSub>
                      <m:r>
                        <a:rPr kumimoji="0" lang="en-SG" sz="1400" b="0" i="1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SG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SG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  <m:t>6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0" lang="en-US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1400" b="0" i="1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SG" sz="1400" b="0" i="1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400" b="0" i="1" u="none" strike="noStrike" kern="12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1400" b="0" i="1" u="none" strike="noStrike" kern="12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kumimoji="0" lang="en-US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0" lang="en-US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0" lang="en-US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kumimoji="0" lang="en-US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SG" sz="1400" b="0" i="1" u="none" strike="noStrike" kern="1200" cap="none" spc="-3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+mn-cs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0" lang="en-US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SG" sz="1400" b="0" i="1" u="none" strike="noStrike" kern="1200" cap="none" spc="-3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SimSun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9763B4-1606-EA5E-C929-FFF61BCEF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40568" y="2060848"/>
                <a:ext cx="9900592" cy="43852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446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Box 1"/>
          <p:cNvSpPr txBox="1">
            <a:spLocks noChangeArrowheads="1"/>
          </p:cNvSpPr>
          <p:nvPr/>
        </p:nvSpPr>
        <p:spPr bwMode="auto">
          <a:xfrm>
            <a:off x="107950" y="179388"/>
            <a:ext cx="3213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/>
              <a:t>Linear equations</a:t>
            </a:r>
            <a:endParaRPr lang="en-SG" altLang="en-US" sz="3200"/>
          </a:p>
        </p:txBody>
      </p:sp>
      <p:sp>
        <p:nvSpPr>
          <p:cNvPr id="39939" name="Rectangle 15"/>
          <p:cNvSpPr>
            <a:spLocks noChangeArrowheads="1"/>
          </p:cNvSpPr>
          <p:nvPr/>
        </p:nvSpPr>
        <p:spPr bwMode="auto">
          <a:xfrm>
            <a:off x="107950" y="1030288"/>
            <a:ext cx="88709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Although matrices are of great importance in themselves, their practical importance lies in the solution of sets of linear equations.</a:t>
            </a:r>
          </a:p>
        </p:txBody>
      </p:sp>
      <p:sp>
        <p:nvSpPr>
          <p:cNvPr id="39940" name="Rectangle 15"/>
          <p:cNvSpPr>
            <a:spLocks noChangeArrowheads="1"/>
          </p:cNvSpPr>
          <p:nvPr/>
        </p:nvSpPr>
        <p:spPr bwMode="auto">
          <a:xfrm>
            <a:off x="107950" y="1738313"/>
            <a:ext cx="8870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Remember:</a:t>
            </a:r>
          </a:p>
        </p:txBody>
      </p:sp>
      <p:graphicFrame>
        <p:nvGraphicFramePr>
          <p:cNvPr id="39941" name="Object 5"/>
          <p:cNvGraphicFramePr>
            <a:graphicFrameLocks noChangeAspect="1"/>
          </p:cNvGraphicFramePr>
          <p:nvPr/>
        </p:nvGraphicFramePr>
        <p:xfrm>
          <a:off x="2794000" y="3492500"/>
          <a:ext cx="2505075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65400" imgH="1320800" progId="Equation.3">
                  <p:embed/>
                </p:oleObj>
              </mc:Choice>
              <mc:Fallback>
                <p:oleObj name="Equation" r:id="rId2" imgW="2565400" imgH="1320800" progId="Equation.3">
                  <p:embed/>
                  <p:pic>
                    <p:nvPicPr>
                      <p:cNvPr id="399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3492500"/>
                        <a:ext cx="2505075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42" name="Group 10"/>
          <p:cNvGrpSpPr>
            <a:grpSpLocks/>
          </p:cNvGrpSpPr>
          <p:nvPr/>
        </p:nvGrpSpPr>
        <p:grpSpPr bwMode="auto">
          <a:xfrm>
            <a:off x="3233738" y="2005013"/>
            <a:ext cx="1625600" cy="1138237"/>
            <a:chOff x="2014538" y="2108807"/>
            <a:chExt cx="1625600" cy="1139202"/>
          </a:xfrm>
        </p:grpSpPr>
        <p:graphicFrame>
          <p:nvGraphicFramePr>
            <p:cNvPr id="39950" name="Object 5"/>
            <p:cNvGraphicFramePr>
              <a:graphicFrameLocks noChangeAspect="1"/>
            </p:cNvGraphicFramePr>
            <p:nvPr/>
          </p:nvGraphicFramePr>
          <p:xfrm>
            <a:off x="2424113" y="2108807"/>
            <a:ext cx="1216025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44600" imgH="342900" progId="Equation.3">
                    <p:embed/>
                  </p:oleObj>
                </mc:Choice>
                <mc:Fallback>
                  <p:oleObj name="Equation" r:id="rId4" imgW="1244600" imgH="342900" progId="Equation.3">
                    <p:embed/>
                    <p:pic>
                      <p:nvPicPr>
                        <p:cNvPr id="3995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4113" y="2108807"/>
                          <a:ext cx="1216025" cy="334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1" name="Object 5"/>
            <p:cNvGraphicFramePr>
              <a:graphicFrameLocks noChangeAspect="1"/>
            </p:cNvGraphicFramePr>
            <p:nvPr/>
          </p:nvGraphicFramePr>
          <p:xfrm>
            <a:off x="2560638" y="2510927"/>
            <a:ext cx="1079500" cy="334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04900" imgH="342900" progId="Equation.3">
                    <p:embed/>
                  </p:oleObj>
                </mc:Choice>
                <mc:Fallback>
                  <p:oleObj name="Equation" r:id="rId6" imgW="1104900" imgH="342900" progId="Equation.3">
                    <p:embed/>
                    <p:pic>
                      <p:nvPicPr>
                        <p:cNvPr id="3995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0638" y="2510927"/>
                          <a:ext cx="1079500" cy="334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2" name="Object 5"/>
            <p:cNvGraphicFramePr>
              <a:graphicFrameLocks noChangeAspect="1"/>
            </p:cNvGraphicFramePr>
            <p:nvPr/>
          </p:nvGraphicFramePr>
          <p:xfrm>
            <a:off x="2014538" y="2913046"/>
            <a:ext cx="1625600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63700" imgH="342900" progId="Equation.3">
                    <p:embed/>
                  </p:oleObj>
                </mc:Choice>
                <mc:Fallback>
                  <p:oleObj name="Equation" r:id="rId8" imgW="1663700" imgH="342900" progId="Equation.3">
                    <p:embed/>
                    <p:pic>
                      <p:nvPicPr>
                        <p:cNvPr id="39952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4538" y="2913046"/>
                          <a:ext cx="1625600" cy="334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43" name="Rectangle 15"/>
          <p:cNvSpPr>
            <a:spLocks noChangeArrowheads="1"/>
          </p:cNvSpPr>
          <p:nvPr/>
        </p:nvSpPr>
        <p:spPr bwMode="auto">
          <a:xfrm>
            <a:off x="107950" y="3117850"/>
            <a:ext cx="8870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can be written as:</a:t>
            </a:r>
          </a:p>
        </p:txBody>
      </p:sp>
      <p:graphicFrame>
        <p:nvGraphicFramePr>
          <p:cNvPr id="39944" name="Object 11"/>
          <p:cNvGraphicFramePr>
            <a:graphicFrameLocks noChangeAspect="1"/>
          </p:cNvGraphicFramePr>
          <p:nvPr/>
        </p:nvGraphicFramePr>
        <p:xfrm>
          <a:off x="4137025" y="4884738"/>
          <a:ext cx="93027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52087" imgH="279279" progId="Equation.3">
                  <p:embed/>
                </p:oleObj>
              </mc:Choice>
              <mc:Fallback>
                <p:oleObj name="Equation" r:id="rId10" imgW="952087" imgH="279279" progId="Equation.3">
                  <p:embed/>
                  <p:pic>
                    <p:nvPicPr>
                      <p:cNvPr id="3994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7025" y="4884738"/>
                        <a:ext cx="930275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Rectangle 15"/>
          <p:cNvSpPr>
            <a:spLocks noChangeArrowheads="1"/>
          </p:cNvSpPr>
          <p:nvPr/>
        </p:nvSpPr>
        <p:spPr bwMode="auto">
          <a:xfrm>
            <a:off x="166688" y="5133975"/>
            <a:ext cx="8870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We know that </a:t>
            </a:r>
            <a:r>
              <a:rPr lang="en-US" altLang="en-US" b="1" dirty="0"/>
              <a:t>A</a:t>
            </a:r>
            <a:r>
              <a:rPr lang="en-US" altLang="en-US" baseline="30000" dirty="0"/>
              <a:t>-1</a:t>
            </a:r>
            <a:r>
              <a:rPr lang="en-US" altLang="en-US" dirty="0"/>
              <a:t> exists, and hence:</a:t>
            </a:r>
          </a:p>
        </p:txBody>
      </p:sp>
      <p:graphicFrame>
        <p:nvGraphicFramePr>
          <p:cNvPr id="39946" name="Object 13"/>
          <p:cNvGraphicFramePr>
            <a:graphicFrameLocks noChangeAspect="1"/>
          </p:cNvGraphicFramePr>
          <p:nvPr/>
        </p:nvGraphicFramePr>
        <p:xfrm>
          <a:off x="3703638" y="5602288"/>
          <a:ext cx="179863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41500" imgH="368300" progId="Equation.3">
                  <p:embed/>
                </p:oleObj>
              </mc:Choice>
              <mc:Fallback>
                <p:oleObj name="Equation" r:id="rId12" imgW="1841500" imgH="368300" progId="Equation.3">
                  <p:embed/>
                  <p:pic>
                    <p:nvPicPr>
                      <p:cNvPr id="3994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638" y="5602288"/>
                        <a:ext cx="1798637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7" name="Object 14"/>
          <p:cNvGraphicFramePr>
            <a:graphicFrameLocks noChangeAspect="1"/>
          </p:cNvGraphicFramePr>
          <p:nvPr/>
        </p:nvGraphicFramePr>
        <p:xfrm>
          <a:off x="4319588" y="6153090"/>
          <a:ext cx="115411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81100" imgH="368300" progId="Equation.3">
                  <p:embed/>
                </p:oleObj>
              </mc:Choice>
              <mc:Fallback>
                <p:oleObj name="Equation" r:id="rId14" imgW="1181100" imgH="368300" progId="Equation.3">
                  <p:embed/>
                  <p:pic>
                    <p:nvPicPr>
                      <p:cNvPr id="3994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8" y="6153090"/>
                        <a:ext cx="1154112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8" name="Object 15"/>
          <p:cNvGraphicFramePr>
            <a:graphicFrameLocks noChangeAspect="1"/>
          </p:cNvGraphicFramePr>
          <p:nvPr/>
        </p:nvGraphicFramePr>
        <p:xfrm>
          <a:off x="6967538" y="5605463"/>
          <a:ext cx="13525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83699" imgH="355446" progId="Equation.3">
                  <p:embed/>
                </p:oleObj>
              </mc:Choice>
              <mc:Fallback>
                <p:oleObj name="Equation" r:id="rId16" imgW="1383699" imgH="355446" progId="Equation.3">
                  <p:embed/>
                  <p:pic>
                    <p:nvPicPr>
                      <p:cNvPr id="3994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7538" y="5605463"/>
                        <a:ext cx="13525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/>
          <p:nvPr/>
        </p:nvSpPr>
        <p:spPr>
          <a:xfrm>
            <a:off x="4010025" y="6135688"/>
            <a:ext cx="1828800" cy="46831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SG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4062" y="5954713"/>
            <a:ext cx="1717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Matlab</a:t>
            </a:r>
            <a:r>
              <a:rPr lang="en-US" dirty="0">
                <a:solidFill>
                  <a:srgbClr val="FF0000"/>
                </a:solidFill>
              </a:rPr>
              <a:t> Code: x = </a:t>
            </a:r>
            <a:r>
              <a:rPr lang="en-US" dirty="0" err="1">
                <a:solidFill>
                  <a:srgbClr val="FF0000"/>
                </a:solidFill>
              </a:rPr>
              <a:t>inv</a:t>
            </a:r>
            <a:r>
              <a:rPr lang="en-US" dirty="0">
                <a:solidFill>
                  <a:srgbClr val="FF0000"/>
                </a:solidFill>
              </a:rPr>
              <a:t>(A)*b  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4651" y="6513452"/>
            <a:ext cx="60795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hlinkClick r:id="rId18"/>
              </a:rPr>
              <a:t>https://www.mathworks.com/help/matlab/ref/inv.html</a:t>
            </a: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1025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/>
      <p:bldP spid="39943" grpId="0"/>
      <p:bldP spid="39945" grpId="0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1"/>
          <p:cNvSpPr txBox="1">
            <a:spLocks noChangeArrowheads="1"/>
          </p:cNvSpPr>
          <p:nvPr/>
        </p:nvSpPr>
        <p:spPr bwMode="auto">
          <a:xfrm>
            <a:off x="107950" y="179388"/>
            <a:ext cx="2349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/>
              <a:t>Example 17</a:t>
            </a:r>
            <a:endParaRPr lang="en-SG" altLang="en-US" sz="3200"/>
          </a:p>
        </p:txBody>
      </p:sp>
      <p:sp>
        <p:nvSpPr>
          <p:cNvPr id="40963" name="Rectangle 15"/>
          <p:cNvSpPr>
            <a:spLocks noChangeArrowheads="1"/>
          </p:cNvSpPr>
          <p:nvPr/>
        </p:nvSpPr>
        <p:spPr bwMode="auto">
          <a:xfrm>
            <a:off x="107950" y="1030288"/>
            <a:ext cx="8870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Find a solution of </a:t>
            </a:r>
          </a:p>
        </p:txBody>
      </p:sp>
      <p:graphicFrame>
        <p:nvGraphicFramePr>
          <p:cNvPr id="40964" name="Object 5"/>
          <p:cNvGraphicFramePr>
            <a:graphicFrameLocks noChangeAspect="1"/>
          </p:cNvGraphicFramePr>
          <p:nvPr/>
        </p:nvGraphicFramePr>
        <p:xfrm>
          <a:off x="1341438" y="1546225"/>
          <a:ext cx="14763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300" imgH="342900" progId="Equation.3">
                  <p:embed/>
                </p:oleObj>
              </mc:Choice>
              <mc:Fallback>
                <p:oleObj name="Equation" r:id="rId2" imgW="1511300" imgH="342900" progId="Equation.3">
                  <p:embed/>
                  <p:pic>
                    <p:nvPicPr>
                      <p:cNvPr id="4096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1546225"/>
                        <a:ext cx="14763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1039813" y="1947863"/>
          <a:ext cx="188595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30400" imgH="342900" progId="Equation.3">
                  <p:embed/>
                </p:oleObj>
              </mc:Choice>
              <mc:Fallback>
                <p:oleObj name="Equation" r:id="rId4" imgW="1930400" imgH="342900" progId="Equation.3">
                  <p:embed/>
                  <p:pic>
                    <p:nvPicPr>
                      <p:cNvPr id="409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813" y="1947863"/>
                        <a:ext cx="188595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5"/>
          <p:cNvGraphicFramePr>
            <a:graphicFrameLocks noChangeAspect="1"/>
          </p:cNvGraphicFramePr>
          <p:nvPr/>
        </p:nvGraphicFramePr>
        <p:xfrm>
          <a:off x="1020763" y="2400300"/>
          <a:ext cx="192405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8500" imgH="342900" progId="Equation.3">
                  <p:embed/>
                </p:oleObj>
              </mc:Choice>
              <mc:Fallback>
                <p:oleObj name="Equation" r:id="rId6" imgW="1968500" imgH="342900" progId="Equation.3">
                  <p:embed/>
                  <p:pic>
                    <p:nvPicPr>
                      <p:cNvPr id="4096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763" y="2400300"/>
                        <a:ext cx="1924050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621108"/>
              </p:ext>
            </p:extLst>
          </p:nvPr>
        </p:nvGraphicFramePr>
        <p:xfrm>
          <a:off x="2600892" y="1054523"/>
          <a:ext cx="1407725" cy="31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300" imgH="342900" progId="Equation.3">
                  <p:embed/>
                </p:oleObj>
              </mc:Choice>
              <mc:Fallback>
                <p:oleObj name="Equation" r:id="rId2" imgW="1511300" imgH="342900" progId="Equation.3">
                  <p:embed/>
                  <p:pic>
                    <p:nvPicPr>
                      <p:cNvPr id="4096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892" y="1054523"/>
                        <a:ext cx="1407725" cy="319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053521"/>
              </p:ext>
            </p:extLst>
          </p:nvPr>
        </p:nvGraphicFramePr>
        <p:xfrm>
          <a:off x="2299267" y="1456160"/>
          <a:ext cx="1798255" cy="31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30400" imgH="342900" progId="Equation.3">
                  <p:embed/>
                </p:oleObj>
              </mc:Choice>
              <mc:Fallback>
                <p:oleObj name="Equation" r:id="rId4" imgW="1930400" imgH="342900" progId="Equation.3">
                  <p:embed/>
                  <p:pic>
                    <p:nvPicPr>
                      <p:cNvPr id="409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9267" y="1456160"/>
                        <a:ext cx="1798255" cy="319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201551"/>
              </p:ext>
            </p:extLst>
          </p:nvPr>
        </p:nvGraphicFramePr>
        <p:xfrm>
          <a:off x="2280217" y="1908597"/>
          <a:ext cx="1834583" cy="31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8500" imgH="342900" progId="Equation.3">
                  <p:embed/>
                </p:oleObj>
              </mc:Choice>
              <mc:Fallback>
                <p:oleObj name="Equation" r:id="rId6" imgW="1968500" imgH="342900" progId="Equation.3">
                  <p:embed/>
                  <p:pic>
                    <p:nvPicPr>
                      <p:cNvPr id="4096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0217" y="1908597"/>
                        <a:ext cx="1834583" cy="319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15625"/>
              </p:ext>
            </p:extLst>
          </p:nvPr>
        </p:nvGraphicFramePr>
        <p:xfrm>
          <a:off x="1273015" y="4040271"/>
          <a:ext cx="1533783" cy="1149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52200" imgH="711000" progId="Equation.DSMT4">
                  <p:embed/>
                </p:oleObj>
              </mc:Choice>
              <mc:Fallback>
                <p:oleObj name="Equation" r:id="rId8" imgW="952200" imgH="711000" progId="Equation.DSMT4">
                  <p:embed/>
                  <p:pic>
                    <p:nvPicPr>
                      <p:cNvPr id="4096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015" y="4040271"/>
                        <a:ext cx="1533783" cy="11490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624769"/>
              </p:ext>
            </p:extLst>
          </p:nvPr>
        </p:nvGraphicFramePr>
        <p:xfrm>
          <a:off x="605198" y="5433772"/>
          <a:ext cx="4635500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749800" imgH="1320800" progId="Equation.3">
                  <p:embed/>
                </p:oleObj>
              </mc:Choice>
              <mc:Fallback>
                <p:oleObj name="Equation" r:id="rId10" imgW="4749800" imgH="1320800" progId="Equation.3">
                  <p:embed/>
                  <p:pic>
                    <p:nvPicPr>
                      <p:cNvPr id="4096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198" y="5433772"/>
                        <a:ext cx="4635500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637544"/>
              </p:ext>
            </p:extLst>
          </p:nvPr>
        </p:nvGraphicFramePr>
        <p:xfrm>
          <a:off x="5334156" y="5876799"/>
          <a:ext cx="19171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50680" imgH="177480" progId="Equation.DSMT4">
                  <p:embed/>
                </p:oleObj>
              </mc:Choice>
              <mc:Fallback>
                <p:oleObj name="Equation" r:id="rId12" imgW="850680" imgH="177480" progId="Equation.DSMT4">
                  <p:embed/>
                  <p:pic>
                    <p:nvPicPr>
                      <p:cNvPr id="409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156" y="5876799"/>
                        <a:ext cx="19171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107950" y="175351"/>
            <a:ext cx="182293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 b="1" dirty="0">
                <a:solidFill>
                  <a:srgbClr val="0070C0"/>
                </a:solidFill>
              </a:rPr>
              <a:t>Solution</a:t>
            </a:r>
            <a:endParaRPr lang="en-SG" altLang="en-US" sz="3200" b="1" dirty="0">
              <a:solidFill>
                <a:srgbClr val="0070C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9440" y="2215928"/>
            <a:ext cx="6935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We can write the linear equations in matrix notation</a:t>
            </a: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17202"/>
              </p:ext>
            </p:extLst>
          </p:nvPr>
        </p:nvGraphicFramePr>
        <p:xfrm>
          <a:off x="2280217" y="2679334"/>
          <a:ext cx="2395300" cy="1199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41600" imgH="1320800" progId="Equation.3">
                  <p:embed/>
                </p:oleObj>
              </mc:Choice>
              <mc:Fallback>
                <p:oleObj name="Equation" r:id="rId14" imgW="2641600" imgH="1320800" progId="Equation.3">
                  <p:embed/>
                  <p:pic>
                    <p:nvPicPr>
                      <p:cNvPr id="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0217" y="2679334"/>
                        <a:ext cx="2395300" cy="11998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927680"/>
              </p:ext>
            </p:extLst>
          </p:nvPr>
        </p:nvGraphicFramePr>
        <p:xfrm>
          <a:off x="3288050" y="4026126"/>
          <a:ext cx="964773" cy="117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83920" imgH="711000" progId="Equation.DSMT4">
                  <p:embed/>
                </p:oleObj>
              </mc:Choice>
              <mc:Fallback>
                <p:oleObj name="Equation" r:id="rId16" imgW="583920" imgH="711000" progId="Equation.DSMT4">
                  <p:embed/>
                  <p:pic>
                    <p:nvPicPr>
                      <p:cNvPr id="1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8050" y="4026126"/>
                        <a:ext cx="964773" cy="117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518275"/>
              </p:ext>
            </p:extLst>
          </p:nvPr>
        </p:nvGraphicFramePr>
        <p:xfrm>
          <a:off x="4899805" y="4486881"/>
          <a:ext cx="868702" cy="254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52087" imgH="279279" progId="Equation.DSMT4">
                  <p:embed/>
                </p:oleObj>
              </mc:Choice>
              <mc:Fallback>
                <p:oleObj name="Equation" r:id="rId18" imgW="952087" imgH="279279" progId="Equation.DSMT4">
                  <p:embed/>
                  <p:pic>
                    <p:nvPicPr>
                      <p:cNvPr id="1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9805" y="4486881"/>
                        <a:ext cx="868702" cy="2549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0282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7" name="Object 5"/>
          <p:cNvGraphicFramePr>
            <a:graphicFrameLocks noChangeAspect="1"/>
          </p:cNvGraphicFramePr>
          <p:nvPr/>
        </p:nvGraphicFramePr>
        <p:xfrm>
          <a:off x="784225" y="1168400"/>
          <a:ext cx="6704013" cy="255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70700" imgH="2616200" progId="Equation.DSMT4">
                  <p:embed/>
                </p:oleObj>
              </mc:Choice>
              <mc:Fallback>
                <p:oleObj name="Equation" r:id="rId2" imgW="6870700" imgH="2616200" progId="Equation.DSMT4">
                  <p:embed/>
                  <p:pic>
                    <p:nvPicPr>
                      <p:cNvPr id="4198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" y="1168400"/>
                        <a:ext cx="6704013" cy="2557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2"/>
          <p:cNvGraphicFramePr>
            <a:graphicFrameLocks noChangeAspect="1"/>
          </p:cNvGraphicFramePr>
          <p:nvPr/>
        </p:nvGraphicFramePr>
        <p:xfrm>
          <a:off x="5192713" y="3355975"/>
          <a:ext cx="2179637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5200" imgH="1320800" progId="Equation.3">
                  <p:embed/>
                </p:oleObj>
              </mc:Choice>
              <mc:Fallback>
                <p:oleObj name="Equation" r:id="rId4" imgW="2235200" imgH="1320800" progId="Equation.3">
                  <p:embed/>
                  <p:pic>
                    <p:nvPicPr>
                      <p:cNvPr id="4198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2713" y="3355975"/>
                        <a:ext cx="2179637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5"/>
          <p:cNvGraphicFramePr>
            <a:graphicFrameLocks noChangeAspect="1"/>
          </p:cNvGraphicFramePr>
          <p:nvPr/>
        </p:nvGraphicFramePr>
        <p:xfrm>
          <a:off x="1076325" y="4994275"/>
          <a:ext cx="3829050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24300" imgH="1320800" progId="Equation.3">
                  <p:embed/>
                </p:oleObj>
              </mc:Choice>
              <mc:Fallback>
                <p:oleObj name="Equation" r:id="rId6" imgW="3924300" imgH="1320800" progId="Equation.3">
                  <p:embed/>
                  <p:pic>
                    <p:nvPicPr>
                      <p:cNvPr id="419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325" y="4994275"/>
                        <a:ext cx="3829050" cy="128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Object 14"/>
          <p:cNvGraphicFramePr>
            <a:graphicFrameLocks noChangeAspect="1"/>
          </p:cNvGraphicFramePr>
          <p:nvPr/>
        </p:nvGraphicFramePr>
        <p:xfrm>
          <a:off x="2832100" y="1343025"/>
          <a:ext cx="115411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1100" imgH="368300" progId="Equation.3">
                  <p:embed/>
                </p:oleObj>
              </mc:Choice>
              <mc:Fallback>
                <p:oleObj name="Equation" r:id="rId2" imgW="1181100" imgH="368300" progId="Equation.3">
                  <p:embed/>
                  <p:pic>
                    <p:nvPicPr>
                      <p:cNvPr id="4301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1343025"/>
                        <a:ext cx="1154113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800222"/>
              </p:ext>
            </p:extLst>
          </p:nvPr>
        </p:nvGraphicFramePr>
        <p:xfrm>
          <a:off x="1855697" y="2144713"/>
          <a:ext cx="3473450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6000" imgH="1320800" progId="Equation.3">
                  <p:embed/>
                </p:oleObj>
              </mc:Choice>
              <mc:Fallback>
                <p:oleObj name="Equation" r:id="rId4" imgW="3556000" imgH="1320800" progId="Equation.3">
                  <p:embed/>
                  <p:pic>
                    <p:nvPicPr>
                      <p:cNvPr id="4301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5697" y="2144713"/>
                        <a:ext cx="3473450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77185"/>
              </p:ext>
            </p:extLst>
          </p:nvPr>
        </p:nvGraphicFramePr>
        <p:xfrm>
          <a:off x="1724728" y="3937000"/>
          <a:ext cx="3735388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22700" imgH="1320800" progId="Equation.3">
                  <p:embed/>
                </p:oleObj>
              </mc:Choice>
              <mc:Fallback>
                <p:oleObj name="Equation" r:id="rId6" imgW="3822700" imgH="1320800" progId="Equation.3">
                  <p:embed/>
                  <p:pic>
                    <p:nvPicPr>
                      <p:cNvPr id="430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728" y="3937000"/>
                        <a:ext cx="3735388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42837"/>
              </p:ext>
            </p:extLst>
          </p:nvPr>
        </p:nvGraphicFramePr>
        <p:xfrm>
          <a:off x="2676436" y="5729287"/>
          <a:ext cx="1982787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2000" imgH="342900" progId="Equation.3">
                  <p:embed/>
                </p:oleObj>
              </mc:Choice>
              <mc:Fallback>
                <p:oleObj name="Equation" r:id="rId8" imgW="2032000" imgH="342900" progId="Equation.3">
                  <p:embed/>
                  <p:pic>
                    <p:nvPicPr>
                      <p:cNvPr id="4301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6436" y="5729287"/>
                        <a:ext cx="1982787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Box 1"/>
          <p:cNvSpPr txBox="1">
            <a:spLocks noChangeArrowheads="1"/>
          </p:cNvSpPr>
          <p:nvPr/>
        </p:nvSpPr>
        <p:spPr bwMode="auto">
          <a:xfrm>
            <a:off x="107950" y="179388"/>
            <a:ext cx="2651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 dirty="0"/>
              <a:t>Cramer’s rule</a:t>
            </a:r>
            <a:endParaRPr lang="en-SG" altLang="en-US" sz="3200" dirty="0"/>
          </a:p>
        </p:txBody>
      </p:sp>
      <p:sp>
        <p:nvSpPr>
          <p:cNvPr id="44035" name="Rectangle 15"/>
          <p:cNvSpPr>
            <a:spLocks noChangeArrowheads="1"/>
          </p:cNvSpPr>
          <p:nvPr/>
        </p:nvSpPr>
        <p:spPr bwMode="auto">
          <a:xfrm>
            <a:off x="107950" y="1030288"/>
            <a:ext cx="8870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Cramer’s rule states that if</a:t>
            </a:r>
          </a:p>
        </p:txBody>
      </p:sp>
      <p:graphicFrame>
        <p:nvGraphicFramePr>
          <p:cNvPr id="44036" name="Object 5"/>
          <p:cNvGraphicFramePr>
            <a:graphicFrameLocks noChangeAspect="1"/>
          </p:cNvGraphicFramePr>
          <p:nvPr/>
        </p:nvGraphicFramePr>
        <p:xfrm>
          <a:off x="814388" y="1527175"/>
          <a:ext cx="253047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90800" imgH="381000" progId="Equation.3">
                  <p:embed/>
                </p:oleObj>
              </mc:Choice>
              <mc:Fallback>
                <p:oleObj name="Equation" r:id="rId2" imgW="2590800" imgH="381000" progId="Equation.3">
                  <p:embed/>
                  <p:pic>
                    <p:nvPicPr>
                      <p:cNvPr id="4403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88" y="1527175"/>
                        <a:ext cx="2530475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5"/>
          <p:cNvGraphicFramePr>
            <a:graphicFrameLocks noChangeAspect="1"/>
          </p:cNvGraphicFramePr>
          <p:nvPr/>
        </p:nvGraphicFramePr>
        <p:xfrm>
          <a:off x="757238" y="1930400"/>
          <a:ext cx="264318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05100" imgH="381000" progId="Equation.3">
                  <p:embed/>
                </p:oleObj>
              </mc:Choice>
              <mc:Fallback>
                <p:oleObj name="Equation" r:id="rId4" imgW="2705100" imgH="381000" progId="Equation.3">
                  <p:embed/>
                  <p:pic>
                    <p:nvPicPr>
                      <p:cNvPr id="440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1930400"/>
                        <a:ext cx="2643187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5"/>
          <p:cNvGraphicFramePr>
            <a:graphicFrameLocks noChangeAspect="1"/>
          </p:cNvGraphicFramePr>
          <p:nvPr/>
        </p:nvGraphicFramePr>
        <p:xfrm>
          <a:off x="757238" y="2400300"/>
          <a:ext cx="26066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7000" imgH="381000" progId="Equation.3">
                  <p:embed/>
                </p:oleObj>
              </mc:Choice>
              <mc:Fallback>
                <p:oleObj name="Equation" r:id="rId6" imgW="2667000" imgH="381000" progId="Equation.3">
                  <p:embed/>
                  <p:pic>
                    <p:nvPicPr>
                      <p:cNvPr id="4403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2400300"/>
                        <a:ext cx="26066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9" name="Rectangle 15"/>
          <p:cNvSpPr>
            <a:spLocks noChangeArrowheads="1"/>
          </p:cNvSpPr>
          <p:nvPr/>
        </p:nvSpPr>
        <p:spPr bwMode="auto">
          <a:xfrm>
            <a:off x="107950" y="3055938"/>
            <a:ext cx="8870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Then                                              , where </a:t>
            </a:r>
          </a:p>
        </p:txBody>
      </p:sp>
      <p:graphicFrame>
        <p:nvGraphicFramePr>
          <p:cNvPr id="44040" name="Object 5"/>
          <p:cNvGraphicFramePr>
            <a:graphicFrameLocks noChangeAspect="1"/>
          </p:cNvGraphicFramePr>
          <p:nvPr/>
        </p:nvGraphicFramePr>
        <p:xfrm>
          <a:off x="1147763" y="2884488"/>
          <a:ext cx="28130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82900" imgH="762000" progId="Equation.3">
                  <p:embed/>
                </p:oleObj>
              </mc:Choice>
              <mc:Fallback>
                <p:oleObj name="Equation" r:id="rId8" imgW="2882900" imgH="762000" progId="Equation.3">
                  <p:embed/>
                  <p:pic>
                    <p:nvPicPr>
                      <p:cNvPr id="4404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763" y="2884488"/>
                        <a:ext cx="28130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1" name="Object 5"/>
          <p:cNvGraphicFramePr>
            <a:graphicFrameLocks noChangeAspect="1"/>
          </p:cNvGraphicFramePr>
          <p:nvPr/>
        </p:nvGraphicFramePr>
        <p:xfrm>
          <a:off x="5715000" y="2611438"/>
          <a:ext cx="2316163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74900" imgH="1320800" progId="Equation.3">
                  <p:embed/>
                </p:oleObj>
              </mc:Choice>
              <mc:Fallback>
                <p:oleObj name="Equation" r:id="rId10" imgW="2374900" imgH="1320800" progId="Equation.3">
                  <p:embed/>
                  <p:pic>
                    <p:nvPicPr>
                      <p:cNvPr id="440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611438"/>
                        <a:ext cx="2316163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9451470"/>
              </p:ext>
            </p:extLst>
          </p:nvPr>
        </p:nvGraphicFramePr>
        <p:xfrm>
          <a:off x="430213" y="4313238"/>
          <a:ext cx="2328862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87600" imgH="1320800" progId="Equation.DSMT4">
                  <p:embed/>
                </p:oleObj>
              </mc:Choice>
              <mc:Fallback>
                <p:oleObj name="Equation" r:id="rId12" imgW="2387600" imgH="1320800" progId="Equation.DSMT4">
                  <p:embed/>
                  <p:pic>
                    <p:nvPicPr>
                      <p:cNvPr id="4404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3" y="4313238"/>
                        <a:ext cx="2328862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3" name="Object 5"/>
          <p:cNvGraphicFramePr>
            <a:graphicFrameLocks noChangeAspect="1"/>
          </p:cNvGraphicFramePr>
          <p:nvPr/>
        </p:nvGraphicFramePr>
        <p:xfrm>
          <a:off x="3400425" y="4313238"/>
          <a:ext cx="2328863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87600" imgH="1320800" progId="Equation.3">
                  <p:embed/>
                </p:oleObj>
              </mc:Choice>
              <mc:Fallback>
                <p:oleObj name="Equation" r:id="rId14" imgW="2387600" imgH="1320800" progId="Equation.3">
                  <p:embed/>
                  <p:pic>
                    <p:nvPicPr>
                      <p:cNvPr id="4404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425" y="4313238"/>
                        <a:ext cx="2328863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4" name="Object 5"/>
          <p:cNvGraphicFramePr>
            <a:graphicFrameLocks noChangeAspect="1"/>
          </p:cNvGraphicFramePr>
          <p:nvPr/>
        </p:nvGraphicFramePr>
        <p:xfrm>
          <a:off x="6257925" y="4313238"/>
          <a:ext cx="2316163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374900" imgH="1320800" progId="Equation.3">
                  <p:embed/>
                </p:oleObj>
              </mc:Choice>
              <mc:Fallback>
                <p:oleObj name="Equation" r:id="rId16" imgW="2374900" imgH="1320800" progId="Equation.3">
                  <p:embed/>
                  <p:pic>
                    <p:nvPicPr>
                      <p:cNvPr id="4404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7925" y="4313238"/>
                        <a:ext cx="2316163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AB099D5-3A99-78A5-2FDA-D05A903DCB52}"/>
              </a:ext>
            </a:extLst>
          </p:cNvPr>
          <p:cNvSpPr txBox="1"/>
          <p:nvPr/>
        </p:nvSpPr>
        <p:spPr>
          <a:xfrm>
            <a:off x="3810000" y="1239520"/>
            <a:ext cx="47640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i="1" dirty="0">
                <a:solidFill>
                  <a:srgbClr val="FF0000"/>
                </a:solidFill>
              </a:rPr>
              <a:t>Determinant of a square matrix is a scalar that represents the area scale factor of a Linear Transformation in R</a:t>
            </a:r>
            <a:r>
              <a:rPr lang="en-SG" i="1" baseline="30000" dirty="0">
                <a:solidFill>
                  <a:srgbClr val="FF000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Box 1"/>
          <p:cNvSpPr txBox="1">
            <a:spLocks noChangeArrowheads="1"/>
          </p:cNvSpPr>
          <p:nvPr/>
        </p:nvSpPr>
        <p:spPr bwMode="auto">
          <a:xfrm>
            <a:off x="107950" y="179388"/>
            <a:ext cx="2349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/>
              <a:t>Example 18</a:t>
            </a:r>
            <a:endParaRPr lang="en-SG" altLang="en-US" sz="3200"/>
          </a:p>
        </p:txBody>
      </p:sp>
      <p:sp>
        <p:nvSpPr>
          <p:cNvPr id="45059" name="Rectangle 15"/>
          <p:cNvSpPr>
            <a:spLocks noChangeArrowheads="1"/>
          </p:cNvSpPr>
          <p:nvPr/>
        </p:nvSpPr>
        <p:spPr bwMode="auto">
          <a:xfrm>
            <a:off x="273050" y="1087438"/>
            <a:ext cx="8870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Find a solution of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20763" y="1546225"/>
            <a:ext cx="1924050" cy="1189038"/>
            <a:chOff x="1020763" y="1546225"/>
            <a:chExt cx="1924050" cy="1189038"/>
          </a:xfrm>
        </p:grpSpPr>
        <p:graphicFrame>
          <p:nvGraphicFramePr>
            <p:cNvPr id="4506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2439983"/>
                </p:ext>
              </p:extLst>
            </p:nvPr>
          </p:nvGraphicFramePr>
          <p:xfrm>
            <a:off x="1341438" y="1546225"/>
            <a:ext cx="1476375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11300" imgH="342900" progId="Equation.3">
                    <p:embed/>
                  </p:oleObj>
                </mc:Choice>
                <mc:Fallback>
                  <p:oleObj name="Equation" r:id="rId2" imgW="1511300" imgH="342900" progId="Equation.3">
                    <p:embed/>
                    <p:pic>
                      <p:nvPicPr>
                        <p:cNvPr id="4506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1438" y="1546225"/>
                          <a:ext cx="1476375" cy="334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6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2229866"/>
                </p:ext>
              </p:extLst>
            </p:nvPr>
          </p:nvGraphicFramePr>
          <p:xfrm>
            <a:off x="1039813" y="1947863"/>
            <a:ext cx="1885950" cy="334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930400" imgH="342900" progId="Equation.3">
                    <p:embed/>
                  </p:oleObj>
                </mc:Choice>
                <mc:Fallback>
                  <p:oleObj name="Equation" r:id="rId4" imgW="1930400" imgH="342900" progId="Equation.3">
                    <p:embed/>
                    <p:pic>
                      <p:nvPicPr>
                        <p:cNvPr id="4506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9813" y="1947863"/>
                          <a:ext cx="1885950" cy="334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62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4361607"/>
                </p:ext>
              </p:extLst>
            </p:nvPr>
          </p:nvGraphicFramePr>
          <p:xfrm>
            <a:off x="1020763" y="2400300"/>
            <a:ext cx="1924050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968500" imgH="342900" progId="Equation.3">
                    <p:embed/>
                  </p:oleObj>
                </mc:Choice>
                <mc:Fallback>
                  <p:oleObj name="Equation" r:id="rId6" imgW="1968500" imgH="342900" progId="Equation.3">
                    <p:embed/>
                    <p:pic>
                      <p:nvPicPr>
                        <p:cNvPr id="45062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763" y="2400300"/>
                          <a:ext cx="1924050" cy="334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6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085102"/>
              </p:ext>
            </p:extLst>
          </p:nvPr>
        </p:nvGraphicFramePr>
        <p:xfrm>
          <a:off x="1341438" y="1149415"/>
          <a:ext cx="14763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300" imgH="342900" progId="Equation.3">
                  <p:embed/>
                </p:oleObj>
              </mc:Choice>
              <mc:Fallback>
                <p:oleObj name="Equation" r:id="rId2" imgW="1511300" imgH="342900" progId="Equation.3">
                  <p:embed/>
                  <p:pic>
                    <p:nvPicPr>
                      <p:cNvPr id="4506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1149415"/>
                        <a:ext cx="14763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394298"/>
              </p:ext>
            </p:extLst>
          </p:nvPr>
        </p:nvGraphicFramePr>
        <p:xfrm>
          <a:off x="1039813" y="1551053"/>
          <a:ext cx="188595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30400" imgH="342900" progId="Equation.3">
                  <p:embed/>
                </p:oleObj>
              </mc:Choice>
              <mc:Fallback>
                <p:oleObj name="Equation" r:id="rId4" imgW="1930400" imgH="342900" progId="Equation.3">
                  <p:embed/>
                  <p:pic>
                    <p:nvPicPr>
                      <p:cNvPr id="450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813" y="1551053"/>
                        <a:ext cx="188595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425286"/>
              </p:ext>
            </p:extLst>
          </p:nvPr>
        </p:nvGraphicFramePr>
        <p:xfrm>
          <a:off x="1020763" y="2003490"/>
          <a:ext cx="192405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8500" imgH="342900" progId="Equation.3">
                  <p:embed/>
                </p:oleObj>
              </mc:Choice>
              <mc:Fallback>
                <p:oleObj name="Equation" r:id="rId6" imgW="1968500" imgH="342900" progId="Equation.3">
                  <p:embed/>
                  <p:pic>
                    <p:nvPicPr>
                      <p:cNvPr id="4506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763" y="2003490"/>
                        <a:ext cx="1924050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85210"/>
              </p:ext>
            </p:extLst>
          </p:nvPr>
        </p:nvGraphicFramePr>
        <p:xfrm>
          <a:off x="1019417" y="2834514"/>
          <a:ext cx="2020887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70100" imgH="1320800" progId="Equation.3">
                  <p:embed/>
                </p:oleObj>
              </mc:Choice>
              <mc:Fallback>
                <p:oleObj name="Equation" r:id="rId8" imgW="2070100" imgH="1320800" progId="Equation.3">
                  <p:embed/>
                  <p:pic>
                    <p:nvPicPr>
                      <p:cNvPr id="4506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417" y="2834514"/>
                        <a:ext cx="2020887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5"/>
          <p:cNvGraphicFramePr>
            <a:graphicFrameLocks noChangeAspect="1"/>
          </p:cNvGraphicFramePr>
          <p:nvPr/>
        </p:nvGraphicFramePr>
        <p:xfrm>
          <a:off x="825500" y="4621213"/>
          <a:ext cx="4859338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978400" imgH="1320800" progId="Equation.3">
                  <p:embed/>
                </p:oleObj>
              </mc:Choice>
              <mc:Fallback>
                <p:oleObj name="Equation" r:id="rId10" imgW="4978400" imgH="1320800" progId="Equation.3">
                  <p:embed/>
                  <p:pic>
                    <p:nvPicPr>
                      <p:cNvPr id="4506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4621213"/>
                        <a:ext cx="4859338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107950" y="175351"/>
            <a:ext cx="182293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 b="1" dirty="0">
                <a:solidFill>
                  <a:srgbClr val="0070C0"/>
                </a:solidFill>
              </a:rPr>
              <a:t>Solution</a:t>
            </a:r>
            <a:endParaRPr lang="en-SG" altLang="en-US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10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6319703"/>
              </p:ext>
            </p:extLst>
          </p:nvPr>
        </p:nvGraphicFramePr>
        <p:xfrm>
          <a:off x="639793" y="1257944"/>
          <a:ext cx="4699000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13300" imgH="1320800" progId="Equation.3">
                  <p:embed/>
                </p:oleObj>
              </mc:Choice>
              <mc:Fallback>
                <p:oleObj name="Equation" r:id="rId2" imgW="4813300" imgH="1320800" progId="Equation.3">
                  <p:embed/>
                  <p:pic>
                    <p:nvPicPr>
                      <p:cNvPr id="4608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93" y="1257944"/>
                        <a:ext cx="4699000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788103"/>
              </p:ext>
            </p:extLst>
          </p:nvPr>
        </p:nvGraphicFramePr>
        <p:xfrm>
          <a:off x="692934" y="2835597"/>
          <a:ext cx="4551926" cy="132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38280" imgH="711000" progId="Equation.DSMT4">
                  <p:embed/>
                </p:oleObj>
              </mc:Choice>
              <mc:Fallback>
                <p:oleObj name="Equation" r:id="rId4" imgW="2438280" imgH="711000" progId="Equation.DSMT4">
                  <p:embed/>
                  <p:pic>
                    <p:nvPicPr>
                      <p:cNvPr id="4608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934" y="2835597"/>
                        <a:ext cx="4551926" cy="132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958850" y="4333875"/>
          <a:ext cx="1808163" cy="231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54200" imgH="2374900" progId="Equation.3">
                  <p:embed/>
                </p:oleObj>
              </mc:Choice>
              <mc:Fallback>
                <p:oleObj name="Equation" r:id="rId6" imgW="1854200" imgH="2374900" progId="Equation.3">
                  <p:embed/>
                  <p:pic>
                    <p:nvPicPr>
                      <p:cNvPr id="460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4333875"/>
                        <a:ext cx="1808163" cy="231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053810"/>
              </p:ext>
            </p:extLst>
          </p:nvPr>
        </p:nvGraphicFramePr>
        <p:xfrm>
          <a:off x="7164256" y="1166663"/>
          <a:ext cx="14763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11300" imgH="342900" progId="Equation.3">
                  <p:embed/>
                </p:oleObj>
              </mc:Choice>
              <mc:Fallback>
                <p:oleObj name="Equation" r:id="rId8" imgW="1511300" imgH="3429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256" y="1166663"/>
                        <a:ext cx="14763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237370"/>
              </p:ext>
            </p:extLst>
          </p:nvPr>
        </p:nvGraphicFramePr>
        <p:xfrm>
          <a:off x="6862631" y="1568301"/>
          <a:ext cx="188595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30400" imgH="342900" progId="Equation.3">
                  <p:embed/>
                </p:oleObj>
              </mc:Choice>
              <mc:Fallback>
                <p:oleObj name="Equation" r:id="rId10" imgW="1930400" imgH="342900" progId="Equation.3">
                  <p:embed/>
                  <p:pic>
                    <p:nvPicPr>
                      <p:cNvPr id="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2631" y="1568301"/>
                        <a:ext cx="188595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231019"/>
              </p:ext>
            </p:extLst>
          </p:nvPr>
        </p:nvGraphicFramePr>
        <p:xfrm>
          <a:off x="6843581" y="2020738"/>
          <a:ext cx="192405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68500" imgH="342900" progId="Equation.3">
                  <p:embed/>
                </p:oleObj>
              </mc:Choice>
              <mc:Fallback>
                <p:oleObj name="Equation" r:id="rId12" imgW="1968500" imgH="342900" progId="Equation.3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3581" y="2020738"/>
                        <a:ext cx="1924050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Box 1"/>
          <p:cNvSpPr txBox="1">
            <a:spLocks noChangeArrowheads="1"/>
          </p:cNvSpPr>
          <p:nvPr/>
        </p:nvSpPr>
        <p:spPr bwMode="auto">
          <a:xfrm>
            <a:off x="107950" y="179388"/>
            <a:ext cx="40354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/>
              <a:t>Gaussian Elimination</a:t>
            </a:r>
            <a:endParaRPr lang="en-SG" altLang="en-US" sz="3200"/>
          </a:p>
        </p:txBody>
      </p:sp>
      <p:sp>
        <p:nvSpPr>
          <p:cNvPr id="3" name="Rectangle 15"/>
          <p:cNvSpPr>
            <a:spLocks noChangeArrowheads="1"/>
          </p:cNvSpPr>
          <p:nvPr/>
        </p:nvSpPr>
        <p:spPr bwMode="auto">
          <a:xfrm>
            <a:off x="107950" y="1030288"/>
            <a:ext cx="887095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Another way to solve the system of linear equations is by using Gaussian elimination.</a:t>
            </a:r>
          </a:p>
          <a:p>
            <a:pPr eaLnBrk="1" hangingPunct="1"/>
            <a:endParaRPr lang="en-US" altLang="en-US" dirty="0"/>
          </a:p>
          <a:p>
            <a:pPr eaLnBrk="1" hangingPunct="1">
              <a:buFontTx/>
              <a:buAutoNum type="alphaLcParenBoth"/>
            </a:pPr>
            <a:endParaRPr lang="en-US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22934" y="2620427"/>
            <a:ext cx="8424863" cy="20447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18" charset="2"/>
              <a:buNone/>
              <a:defRPr/>
            </a:pPr>
            <a:r>
              <a:rPr lang="en-AU" sz="2000" u="sng" dirty="0">
                <a:latin typeface="Arial" panose="020B0604020202020204" pitchFamily="34" charset="0"/>
                <a:cs typeface="Arial" panose="020B0604020202020204" pitchFamily="34" charset="0"/>
              </a:rPr>
              <a:t>Step-by-step Procedure</a:t>
            </a:r>
          </a:p>
          <a:p>
            <a:pPr marL="514350" indent="-514350">
              <a:buFont typeface="Wingdings 2" pitchFamily="18" charset="2"/>
              <a:buAutoNum type="arabicPeriod"/>
              <a:defRPr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Write the equations in a matrix form of </a:t>
            </a:r>
            <a:r>
              <a:rPr lang="en-AU" sz="2000" dirty="0" err="1">
                <a:latin typeface="Arial" panose="020B0604020202020204" pitchFamily="34" charset="0"/>
                <a:cs typeface="Arial" panose="020B0604020202020204" pitchFamily="34" charset="0"/>
              </a:rPr>
              <a:t>Ax</a:t>
            </a: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 = b</a:t>
            </a:r>
          </a:p>
          <a:p>
            <a:pPr marL="514350" indent="-514350">
              <a:buFont typeface="Wingdings 2" pitchFamily="18" charset="2"/>
              <a:buAutoNum type="arabicPeriod"/>
              <a:defRPr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Form an augmented matrix</a:t>
            </a:r>
          </a:p>
          <a:p>
            <a:pPr marL="514350" indent="-514350">
              <a:buFont typeface="Wingdings 2" pitchFamily="18" charset="2"/>
              <a:buAutoNum type="arabicPeriod"/>
              <a:defRPr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Systematic elimination by forward elimination (row transformations)</a:t>
            </a:r>
          </a:p>
          <a:p>
            <a:pPr marL="514350" indent="-514350">
              <a:buFont typeface="Wingdings 2" pitchFamily="18" charset="2"/>
              <a:buAutoNum type="arabicPeriod"/>
              <a:defRPr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Systematic substitution by back substitution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2143" y="249170"/>
            <a:ext cx="8408377" cy="830874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/>
              <a:t>Augmented Matrix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81481" y="1050163"/>
            <a:ext cx="8408377" cy="2391777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first step in solving a system of equations using matrices is to represent the system of equations with an </a:t>
            </a:r>
            <a:r>
              <a:rPr lang="en-US" alt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augmented matrix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1466">
              <a:lnSpc>
                <a:spcPct val="90000"/>
              </a:lnSpc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 augmented matrix consists of two smaller matrices, one for the coefficients of the variables and one for the constants.</a:t>
            </a:r>
          </a:p>
          <a:p>
            <a:pPr marL="0" lvl="1" indent="1466">
              <a:lnSpc>
                <a:spcPct val="90000"/>
              </a:lnSpc>
              <a:buNone/>
            </a:pP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1466">
              <a:lnSpc>
                <a:spcPct val="90000"/>
              </a:lnSpc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determine the augmented matrix, first write each equation in standard form, 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ax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c.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44249" y="3705342"/>
            <a:ext cx="3925766" cy="36459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1466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Systems of Equations</a:t>
            </a:r>
          </a:p>
          <a:p>
            <a:pPr marL="0" lvl="4" indent="1466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3323" dirty="0"/>
              <a:t>	</a:t>
            </a:r>
          </a:p>
          <a:p>
            <a:pPr marL="0" lvl="1" indent="1466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3323" dirty="0"/>
              <a:t> 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268897" y="3779827"/>
            <a:ext cx="3108601" cy="496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lvl="1" indent="1466" defTabSz="791327">
              <a:lnSpc>
                <a:spcPct val="90000"/>
              </a:lnSpc>
              <a:buSzPct val="80000"/>
              <a:defRPr/>
            </a:pPr>
            <a:r>
              <a:rPr lang="en-US" b="1" dirty="0"/>
              <a:t>Augmented Matrix</a:t>
            </a:r>
            <a:r>
              <a:rPr lang="en-US" kern="0" dirty="0"/>
              <a:t>	</a:t>
            </a:r>
            <a:r>
              <a:rPr lang="en-US" sz="1800" kern="0" dirty="0"/>
              <a:t>	</a:t>
            </a:r>
          </a:p>
          <a:p>
            <a:pPr marL="0" lvl="1" indent="1466" defTabSz="791327">
              <a:lnSpc>
                <a:spcPct val="90000"/>
              </a:lnSpc>
              <a:buSzPct val="80000"/>
              <a:defRPr/>
            </a:pPr>
            <a:r>
              <a:rPr lang="en-US" sz="3323" kern="0" dirty="0">
                <a:latin typeface="+mn-lt"/>
                <a:cs typeface="+mn-cs"/>
              </a:rPr>
              <a:t> </a:t>
            </a: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297117"/>
              </p:ext>
            </p:extLst>
          </p:nvPr>
        </p:nvGraphicFramePr>
        <p:xfrm>
          <a:off x="5462588" y="4305777"/>
          <a:ext cx="1519237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54280" imgH="1701720" progId="Equation.DSMT4">
                  <p:embed/>
                </p:oleObj>
              </mc:Choice>
              <mc:Fallback>
                <p:oleObj name="Equation" r:id="rId3" imgW="2654280" imgH="1701720" progId="Equation.DSMT4">
                  <p:embed/>
                  <p:pic>
                    <p:nvPicPr>
                      <p:cNvPr id="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2588" y="4305777"/>
                        <a:ext cx="1519237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1073302" y="4266172"/>
            <a:ext cx="4572000" cy="89114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indent="1466">
              <a:lnSpc>
                <a:spcPct val="90000"/>
              </a:lnSpc>
              <a:spcBef>
                <a:spcPct val="20000"/>
              </a:spcBef>
            </a:pPr>
            <a:r>
              <a:rPr lang="en-US" altLang="en-US" sz="3323" b="1" dirty="0">
                <a:solidFill>
                  <a:prstClr val="black"/>
                </a:solidFill>
                <a:latin typeface="Calibri"/>
                <a:cs typeface="+mn-cs"/>
              </a:rPr>
              <a:t> 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a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  <a:cs typeface="+mn-cs"/>
              </a:rPr>
              <a:t>1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x</a:t>
            </a:r>
            <a:r>
              <a:rPr lang="en-US" altLang="en-US" dirty="0">
                <a:solidFill>
                  <a:prstClr val="black"/>
                </a:solidFill>
                <a:latin typeface="Calibri"/>
                <a:cs typeface="+mn-cs"/>
              </a:rPr>
              <a:t> + 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b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  <a:cs typeface="+mn-cs"/>
              </a:rPr>
              <a:t>1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y</a:t>
            </a:r>
            <a:r>
              <a:rPr lang="en-US" altLang="en-US" dirty="0">
                <a:solidFill>
                  <a:prstClr val="black"/>
                </a:solidFill>
                <a:latin typeface="Calibri"/>
                <a:cs typeface="+mn-cs"/>
              </a:rPr>
              <a:t> = 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c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  <a:cs typeface="+mn-cs"/>
              </a:rPr>
              <a:t>1</a:t>
            </a:r>
          </a:p>
          <a:p>
            <a:pPr marL="0" lvl="1" indent="1466">
              <a:lnSpc>
                <a:spcPct val="90000"/>
              </a:lnSpc>
              <a:spcBef>
                <a:spcPct val="20000"/>
              </a:spcBef>
            </a:pPr>
            <a:r>
              <a:rPr lang="en-US" altLang="en-US" baseline="-25000" dirty="0">
                <a:solidFill>
                  <a:prstClr val="black"/>
                </a:solidFill>
                <a:latin typeface="Calibri"/>
                <a:cs typeface="+mn-cs"/>
              </a:rPr>
              <a:t>   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a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  <a:cs typeface="+mn-cs"/>
              </a:rPr>
              <a:t>2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x</a:t>
            </a:r>
            <a:r>
              <a:rPr lang="en-US" altLang="en-US" dirty="0">
                <a:solidFill>
                  <a:prstClr val="black"/>
                </a:solidFill>
                <a:latin typeface="Calibri"/>
                <a:cs typeface="+mn-cs"/>
              </a:rPr>
              <a:t> + 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b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  <a:cs typeface="+mn-cs"/>
              </a:rPr>
              <a:t>2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y</a:t>
            </a:r>
            <a:r>
              <a:rPr lang="en-US" altLang="en-US" dirty="0">
                <a:solidFill>
                  <a:prstClr val="black"/>
                </a:solidFill>
                <a:latin typeface="Calibri"/>
                <a:cs typeface="+mn-cs"/>
              </a:rPr>
              <a:t> = 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c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  <a:cs typeface="+mn-cs"/>
              </a:rPr>
              <a:t>2</a:t>
            </a:r>
            <a:endParaRPr lang="en-SG" dirty="0"/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113785"/>
              </p:ext>
            </p:extLst>
          </p:nvPr>
        </p:nvGraphicFramePr>
        <p:xfrm>
          <a:off x="5322888" y="5357847"/>
          <a:ext cx="2005012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46160" imgH="2425680" progId="Equation.DSMT4">
                  <p:embed/>
                </p:oleObj>
              </mc:Choice>
              <mc:Fallback>
                <p:oleObj name="Equation" r:id="rId5" imgW="3746160" imgH="2425680" progId="Equation.DSMT4">
                  <p:embed/>
                  <p:pic>
                    <p:nvPicPr>
                      <p:cNvPr id="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2888" y="5357847"/>
                        <a:ext cx="2005012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961159" y="5358560"/>
            <a:ext cx="4572000" cy="12296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indent="1466">
              <a:lnSpc>
                <a:spcPct val="90000"/>
              </a:lnSpc>
              <a:spcBef>
                <a:spcPct val="20000"/>
              </a:spcBef>
            </a:pPr>
            <a:r>
              <a:rPr lang="en-US" altLang="en-US" sz="3323" b="1" dirty="0">
                <a:solidFill>
                  <a:prstClr val="black"/>
                </a:solidFill>
                <a:latin typeface="Calibri"/>
                <a:cs typeface="+mn-cs"/>
              </a:rPr>
              <a:t> 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a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  <a:cs typeface="+mn-cs"/>
              </a:rPr>
              <a:t>1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x</a:t>
            </a:r>
            <a:r>
              <a:rPr lang="en-US" altLang="en-US" dirty="0">
                <a:solidFill>
                  <a:prstClr val="black"/>
                </a:solidFill>
                <a:latin typeface="Calibri"/>
                <a:cs typeface="+mn-cs"/>
              </a:rPr>
              <a:t> + 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b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  <a:cs typeface="+mn-cs"/>
              </a:rPr>
              <a:t>1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y</a:t>
            </a:r>
            <a:r>
              <a:rPr lang="en-US" altLang="en-US" dirty="0">
                <a:solidFill>
                  <a:prstClr val="black"/>
                </a:solidFill>
                <a:latin typeface="Calibri"/>
                <a:cs typeface="+mn-cs"/>
              </a:rPr>
              <a:t> + </a:t>
            </a:r>
            <a:r>
              <a:rPr lang="en-US" altLang="en-US" i="1" dirty="0">
                <a:solidFill>
                  <a:prstClr val="black"/>
                </a:solidFill>
                <a:latin typeface="Calibri"/>
              </a:rPr>
              <a:t>c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altLang="en-US" i="1" dirty="0">
                <a:solidFill>
                  <a:prstClr val="black"/>
                </a:solidFill>
                <a:latin typeface="Calibri"/>
              </a:rPr>
              <a:t>z</a:t>
            </a:r>
            <a:r>
              <a:rPr lang="en-US" altLang="en-US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en-US" dirty="0">
                <a:solidFill>
                  <a:prstClr val="black"/>
                </a:solidFill>
                <a:latin typeface="Calibri"/>
                <a:cs typeface="+mn-cs"/>
              </a:rPr>
              <a:t>= 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d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  <a:cs typeface="+mn-cs"/>
              </a:rPr>
              <a:t>1</a:t>
            </a:r>
          </a:p>
          <a:p>
            <a:pPr marL="0" lvl="1" indent="1466">
              <a:lnSpc>
                <a:spcPct val="90000"/>
              </a:lnSpc>
              <a:spcBef>
                <a:spcPct val="20000"/>
              </a:spcBef>
            </a:pPr>
            <a:r>
              <a:rPr lang="en-US" altLang="en-US" baseline="-25000" dirty="0">
                <a:solidFill>
                  <a:prstClr val="black"/>
                </a:solidFill>
                <a:latin typeface="Calibri"/>
                <a:cs typeface="+mn-cs"/>
              </a:rPr>
              <a:t>   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a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  <a:cs typeface="+mn-cs"/>
              </a:rPr>
              <a:t>2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x</a:t>
            </a:r>
            <a:r>
              <a:rPr lang="en-US" altLang="en-US" dirty="0">
                <a:solidFill>
                  <a:prstClr val="black"/>
                </a:solidFill>
                <a:latin typeface="Calibri"/>
                <a:cs typeface="+mn-cs"/>
              </a:rPr>
              <a:t> + 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b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  <a:cs typeface="+mn-cs"/>
              </a:rPr>
              <a:t>2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y</a:t>
            </a:r>
            <a:r>
              <a:rPr lang="en-US" altLang="en-US" dirty="0">
                <a:solidFill>
                  <a:prstClr val="black"/>
                </a:solidFill>
                <a:latin typeface="Calibri"/>
                <a:cs typeface="+mn-cs"/>
              </a:rPr>
              <a:t> +</a:t>
            </a:r>
            <a:r>
              <a:rPr lang="en-US" altLang="en-US" i="1" dirty="0">
                <a:solidFill>
                  <a:prstClr val="black"/>
                </a:solidFill>
                <a:latin typeface="Calibri"/>
              </a:rPr>
              <a:t> c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altLang="en-US" i="1" dirty="0">
                <a:solidFill>
                  <a:prstClr val="black"/>
                </a:solidFill>
                <a:latin typeface="Calibri"/>
              </a:rPr>
              <a:t>z</a:t>
            </a:r>
            <a:r>
              <a:rPr lang="en-US" altLang="en-US" dirty="0">
                <a:solidFill>
                  <a:prstClr val="black"/>
                </a:solidFill>
                <a:latin typeface="Calibri"/>
                <a:cs typeface="+mn-cs"/>
              </a:rPr>
              <a:t> = </a:t>
            </a:r>
            <a:r>
              <a:rPr lang="en-US" altLang="en-US" i="1" dirty="0">
                <a:solidFill>
                  <a:prstClr val="black"/>
                </a:solidFill>
                <a:latin typeface="Calibri"/>
                <a:cs typeface="+mn-cs"/>
              </a:rPr>
              <a:t>d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  <a:cs typeface="+mn-cs"/>
              </a:rPr>
              <a:t>2</a:t>
            </a:r>
          </a:p>
          <a:p>
            <a:pPr marL="0" lvl="1" indent="1466">
              <a:lnSpc>
                <a:spcPct val="90000"/>
              </a:lnSpc>
              <a:spcBef>
                <a:spcPct val="20000"/>
              </a:spcBef>
            </a:pPr>
            <a:r>
              <a:rPr lang="en-US" altLang="en-US" baseline="-25000" dirty="0">
                <a:solidFill>
                  <a:prstClr val="black"/>
                </a:solidFill>
                <a:latin typeface="Calibri"/>
              </a:rPr>
              <a:t>   </a:t>
            </a:r>
            <a:r>
              <a:rPr lang="en-US" altLang="en-US" i="1" dirty="0">
                <a:solidFill>
                  <a:prstClr val="black"/>
                </a:solidFill>
                <a:latin typeface="Calibri"/>
              </a:rPr>
              <a:t>a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altLang="en-US" i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altLang="en-US" dirty="0">
                <a:solidFill>
                  <a:prstClr val="black"/>
                </a:solidFill>
                <a:latin typeface="Calibri"/>
              </a:rPr>
              <a:t> + </a:t>
            </a:r>
            <a:r>
              <a:rPr lang="en-US" altLang="en-US" i="1" dirty="0">
                <a:solidFill>
                  <a:prstClr val="black"/>
                </a:solidFill>
                <a:latin typeface="Calibri"/>
              </a:rPr>
              <a:t>b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altLang="en-US" i="1" dirty="0">
                <a:solidFill>
                  <a:prstClr val="black"/>
                </a:solidFill>
                <a:latin typeface="Calibri"/>
              </a:rPr>
              <a:t>y</a:t>
            </a:r>
            <a:r>
              <a:rPr lang="en-US" altLang="en-US" dirty="0">
                <a:solidFill>
                  <a:prstClr val="black"/>
                </a:solidFill>
                <a:latin typeface="Calibri"/>
              </a:rPr>
              <a:t> + </a:t>
            </a:r>
            <a:r>
              <a:rPr lang="en-US" altLang="en-US" i="1" dirty="0">
                <a:solidFill>
                  <a:prstClr val="black"/>
                </a:solidFill>
                <a:latin typeface="Calibri"/>
              </a:rPr>
              <a:t>c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altLang="en-US" i="1" dirty="0">
                <a:solidFill>
                  <a:prstClr val="black"/>
                </a:solidFill>
                <a:latin typeface="Calibri"/>
              </a:rPr>
              <a:t>z</a:t>
            </a:r>
            <a:r>
              <a:rPr lang="en-US" altLang="en-US" dirty="0">
                <a:solidFill>
                  <a:prstClr val="black"/>
                </a:solidFill>
                <a:latin typeface="Calibri"/>
              </a:rPr>
              <a:t> = </a:t>
            </a:r>
            <a:r>
              <a:rPr lang="en-US" altLang="en-US" i="1" dirty="0">
                <a:solidFill>
                  <a:prstClr val="black"/>
                </a:solidFill>
                <a:latin typeface="Calibri"/>
              </a:rPr>
              <a:t>d</a:t>
            </a:r>
            <a:r>
              <a:rPr lang="en-US" altLang="en-US" baseline="-25000" dirty="0">
                <a:solidFill>
                  <a:prstClr val="black"/>
                </a:solidFill>
                <a:latin typeface="Calibri"/>
              </a:rPr>
              <a:t>3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1233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4446"/>
            <a:ext cx="8408377" cy="830874"/>
          </a:xfrm>
          <a:prstGeom prst="rect">
            <a:avLst/>
          </a:prstGeom>
        </p:spPr>
        <p:txBody>
          <a:bodyPr/>
          <a:lstStyle/>
          <a:p>
            <a:r>
              <a:rPr lang="en-US" altLang="en-US"/>
              <a:t>Augmented Matrix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44249" y="1126051"/>
            <a:ext cx="3925766" cy="364590"/>
          </a:xfrm>
          <a:prstGeom prst="rect">
            <a:avLst/>
          </a:prstGeom>
        </p:spPr>
        <p:txBody>
          <a:bodyPr/>
          <a:lstStyle/>
          <a:p>
            <a:pPr marL="0" lvl="1" indent="1466">
              <a:lnSpc>
                <a:spcPct val="90000"/>
              </a:lnSpc>
              <a:buNone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Systems of Equations</a:t>
            </a:r>
          </a:p>
          <a:p>
            <a:pPr marL="0" lvl="4" indent="1466">
              <a:lnSpc>
                <a:spcPct val="90000"/>
              </a:lnSpc>
              <a:buNone/>
            </a:pPr>
            <a:r>
              <a:rPr lang="en-US" altLang="en-US" sz="3323" dirty="0"/>
              <a:t>	</a:t>
            </a:r>
          </a:p>
          <a:p>
            <a:pPr marL="0" lvl="1" indent="1466">
              <a:lnSpc>
                <a:spcPct val="90000"/>
              </a:lnSpc>
              <a:buNone/>
            </a:pPr>
            <a:r>
              <a:rPr lang="en-US" altLang="en-US" sz="3323" dirty="0"/>
              <a:t>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268897" y="1200536"/>
            <a:ext cx="3108601" cy="496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lvl="1" indent="1466" defTabSz="791327">
              <a:lnSpc>
                <a:spcPct val="90000"/>
              </a:lnSpc>
              <a:buSzPct val="80000"/>
              <a:defRPr/>
            </a:pPr>
            <a:r>
              <a:rPr lang="en-US" b="1" dirty="0"/>
              <a:t>Augmented Matrix</a:t>
            </a:r>
            <a:r>
              <a:rPr lang="en-US" kern="0" dirty="0"/>
              <a:t>	</a:t>
            </a:r>
            <a:r>
              <a:rPr lang="en-US" sz="1800" kern="0" dirty="0"/>
              <a:t>	</a:t>
            </a:r>
          </a:p>
          <a:p>
            <a:pPr marL="0" lvl="1" indent="1466" defTabSz="791327">
              <a:lnSpc>
                <a:spcPct val="90000"/>
              </a:lnSpc>
              <a:buSzPct val="80000"/>
              <a:defRPr/>
            </a:pPr>
            <a:r>
              <a:rPr lang="en-US" sz="3323" kern="0" dirty="0">
                <a:latin typeface="+mn-lt"/>
                <a:cs typeface="+mn-cs"/>
              </a:rPr>
              <a:t> </a:t>
            </a: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879157"/>
              </p:ext>
            </p:extLst>
          </p:nvPr>
        </p:nvGraphicFramePr>
        <p:xfrm>
          <a:off x="5624513" y="1906588"/>
          <a:ext cx="1296987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61960" imgH="1663560" progId="Equation.DSMT4">
                  <p:embed/>
                </p:oleObj>
              </mc:Choice>
              <mc:Fallback>
                <p:oleObj name="Equation" r:id="rId3" imgW="2361960" imgH="1663560" progId="Equation.DSMT4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4513" y="1906588"/>
                        <a:ext cx="1296987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24397" y="1975864"/>
            <a:ext cx="1953905" cy="67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4161750" indent="-24161750" defTabSz="857250"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Verdana" panose="020B0604030504040204" pitchFamily="34" charset="0"/>
              <a:defRPr sz="36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indent="1588" defTabSz="857250"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Verdana" panose="020B0604030504040204" pitchFamily="34" charset="0"/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350838" indent="-166688" defTabSz="857250"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Verdana" panose="020B0604030504040204" pitchFamily="34" charset="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541338" indent="-188913" defTabSz="857250"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indent="1588" defTabSz="857250"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○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457200" indent="1588" defTabSz="8572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○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914400" indent="1588" defTabSz="8572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○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1371600" indent="1588" defTabSz="8572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○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1828800" indent="1588" defTabSz="8572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○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lvl="1">
              <a:lnSpc>
                <a:spcPct val="90000"/>
              </a:lnSpc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     </a:t>
            </a:r>
            <a:r>
              <a:rPr lang="en-US" altLang="en-US" sz="2000" i="1" dirty="0">
                <a:latin typeface="Arial" panose="020B0604020202020204" pitchFamily="34" charset="0"/>
              </a:rPr>
              <a:t>x</a:t>
            </a:r>
            <a:r>
              <a:rPr lang="en-US" altLang="en-US" sz="2000" dirty="0">
                <a:latin typeface="Arial" panose="020B0604020202020204" pitchFamily="34" charset="0"/>
              </a:rPr>
              <a:t> + 2</a:t>
            </a:r>
            <a:r>
              <a:rPr lang="en-US" altLang="en-US" sz="2000" i="1" dirty="0">
                <a:latin typeface="Arial" panose="020B0604020202020204" pitchFamily="34" charset="0"/>
              </a:rPr>
              <a:t>y</a:t>
            </a:r>
            <a:r>
              <a:rPr lang="en-US" altLang="en-US" sz="2000" dirty="0">
                <a:latin typeface="Arial" panose="020B0604020202020204" pitchFamily="34" charset="0"/>
              </a:rPr>
              <a:t> = 8</a:t>
            </a:r>
            <a:endParaRPr lang="en-US" altLang="en-US" sz="2000" baseline="-25000" dirty="0">
              <a:latin typeface="Arial" panose="020B0604020202020204" pitchFamily="34" charset="0"/>
            </a:endParaRPr>
          </a:p>
          <a:p>
            <a:pPr marL="0" lvl="1">
              <a:lnSpc>
                <a:spcPct val="90000"/>
              </a:lnSpc>
              <a:buNone/>
            </a:pPr>
            <a:r>
              <a:rPr lang="en-US" altLang="en-US" sz="2000" baseline="-25000" dirty="0">
                <a:latin typeface="Arial" panose="020B0604020202020204" pitchFamily="34" charset="0"/>
              </a:rPr>
              <a:t>       </a:t>
            </a:r>
            <a:r>
              <a:rPr lang="en-US" altLang="en-US" sz="2000" dirty="0">
                <a:latin typeface="Arial" panose="020B0604020202020204" pitchFamily="34" charset="0"/>
              </a:rPr>
              <a:t>3</a:t>
            </a:r>
            <a:r>
              <a:rPr lang="en-US" altLang="en-US" sz="2000" i="1" dirty="0">
                <a:latin typeface="Arial" panose="020B0604020202020204" pitchFamily="34" charset="0"/>
              </a:rPr>
              <a:t>x</a:t>
            </a:r>
            <a:r>
              <a:rPr lang="en-US" altLang="en-US" sz="2000" dirty="0">
                <a:latin typeface="Arial" panose="020B0604020202020204" pitchFamily="34" charset="0"/>
              </a:rPr>
              <a:t> – </a:t>
            </a:r>
            <a:r>
              <a:rPr lang="en-US" altLang="en-US" sz="2000" i="1" dirty="0">
                <a:latin typeface="Arial" panose="020B0604020202020204" pitchFamily="34" charset="0"/>
              </a:rPr>
              <a:t>y</a:t>
            </a:r>
            <a:r>
              <a:rPr lang="en-US" altLang="en-US" sz="2000" dirty="0">
                <a:latin typeface="Arial" panose="020B0604020202020204" pitchFamily="34" charset="0"/>
              </a:rPr>
              <a:t> = 7</a:t>
            </a:r>
          </a:p>
          <a:p>
            <a:pPr marL="0" lvl="4">
              <a:lnSpc>
                <a:spcPct val="90000"/>
              </a:lnSpc>
              <a:buNone/>
            </a:pPr>
            <a:r>
              <a:rPr lang="en-US" altLang="en-US" sz="3323" dirty="0"/>
              <a:t>		</a:t>
            </a:r>
          </a:p>
          <a:p>
            <a:pPr marL="0" lvl="1">
              <a:lnSpc>
                <a:spcPct val="90000"/>
              </a:lnSpc>
              <a:buNone/>
            </a:pPr>
            <a:r>
              <a:rPr lang="en-US" altLang="en-US" sz="3323" dirty="0"/>
              <a:t>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073302" y="3651075"/>
            <a:ext cx="1924050" cy="1189038"/>
            <a:chOff x="1020763" y="1546225"/>
            <a:chExt cx="1924050" cy="1189038"/>
          </a:xfrm>
        </p:grpSpPr>
        <p:graphicFrame>
          <p:nvGraphicFramePr>
            <p:cNvPr id="1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1607345"/>
                </p:ext>
              </p:extLst>
            </p:nvPr>
          </p:nvGraphicFramePr>
          <p:xfrm>
            <a:off x="1341438" y="1546225"/>
            <a:ext cx="1476375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11300" imgH="342900" progId="Equation.3">
                    <p:embed/>
                  </p:oleObj>
                </mc:Choice>
                <mc:Fallback>
                  <p:oleObj name="Equation" r:id="rId5" imgW="1511300" imgH="342900" progId="Equation.3">
                    <p:embed/>
                    <p:pic>
                      <p:nvPicPr>
                        <p:cNvPr id="1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1438" y="1546225"/>
                          <a:ext cx="1476375" cy="334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8706566"/>
                </p:ext>
              </p:extLst>
            </p:nvPr>
          </p:nvGraphicFramePr>
          <p:xfrm>
            <a:off x="1039813" y="1947863"/>
            <a:ext cx="1885950" cy="334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30400" imgH="342900" progId="Equation.3">
                    <p:embed/>
                  </p:oleObj>
                </mc:Choice>
                <mc:Fallback>
                  <p:oleObj name="Equation" r:id="rId7" imgW="1930400" imgH="342900" progId="Equation.3">
                    <p:embed/>
                    <p:pic>
                      <p:nvPicPr>
                        <p:cNvPr id="1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9813" y="1947863"/>
                          <a:ext cx="1885950" cy="334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996773"/>
                </p:ext>
              </p:extLst>
            </p:nvPr>
          </p:nvGraphicFramePr>
          <p:xfrm>
            <a:off x="1020763" y="2400300"/>
            <a:ext cx="1924050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968500" imgH="342900" progId="Equation.3">
                    <p:embed/>
                  </p:oleObj>
                </mc:Choice>
                <mc:Fallback>
                  <p:oleObj name="Equation" r:id="rId9" imgW="1968500" imgH="342900" progId="Equation.3">
                    <p:embed/>
                    <p:pic>
                      <p:nvPicPr>
                        <p:cNvPr id="1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763" y="2400300"/>
                          <a:ext cx="1924050" cy="334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6194578"/>
              </p:ext>
            </p:extLst>
          </p:nvPr>
        </p:nvGraphicFramePr>
        <p:xfrm>
          <a:off x="5295900" y="3587750"/>
          <a:ext cx="2160588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65160" imgH="711000" progId="Equation.DSMT4">
                  <p:embed/>
                </p:oleObj>
              </mc:Choice>
              <mc:Fallback>
                <p:oleObj name="Equation" r:id="rId11" imgW="965160" imgH="711000" progId="Equation.DSMT4">
                  <p:embed/>
                  <p:pic>
                    <p:nvPicPr>
                      <p:cNvPr id="1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5900" y="3587750"/>
                        <a:ext cx="2160588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195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4890" y="205153"/>
            <a:ext cx="8408377" cy="830874"/>
          </a:xfrm>
          <a:prstGeom prst="rect">
            <a:avLst/>
          </a:prstGeom>
        </p:spPr>
        <p:txBody>
          <a:bodyPr/>
          <a:lstStyle/>
          <a:p>
            <a:r>
              <a:rPr lang="en-US" altLang="en-US" b="1" dirty="0">
                <a:solidFill>
                  <a:srgbClr val="008B60"/>
                </a:solidFill>
              </a:rPr>
              <a:t>Row Transformations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97240" y="1058887"/>
            <a:ext cx="8408377" cy="5558204"/>
          </a:xfrm>
          <a:prstGeom prst="rect">
            <a:avLst/>
          </a:prstGeom>
        </p:spPr>
        <p:txBody>
          <a:bodyPr/>
          <a:lstStyle/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solve a system of equations by using matrices, we use row transformations to obtain new matrices that have the same solution as the original system.</a:t>
            </a: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use row transformations to obtain an augmented matrix whose numbers to the left of the vertical bar are the same as the multiplicative identity matrix.</a:t>
            </a: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From this type of augmented matrix, we can determine the solution to the system of equations. </a:t>
            </a: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E.g., if we get </a:t>
            </a:r>
          </a:p>
          <a:p>
            <a:pPr marL="0" indent="0"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1950" indent="0"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tells us that 0x + 1y = 7 and 1x + 2y = 8. Thus the solution is y = 7, x= -6                        </a:t>
            </a: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3976908"/>
              </p:ext>
            </p:extLst>
          </p:nvPr>
        </p:nvGraphicFramePr>
        <p:xfrm>
          <a:off x="2517446" y="4727246"/>
          <a:ext cx="1163637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20760" imgH="1663560" progId="Equation.DSMT4">
                  <p:embed/>
                </p:oleObj>
              </mc:Choice>
              <mc:Fallback>
                <p:oleObj name="Equation" r:id="rId3" imgW="2120760" imgH="1663560" progId="Equation.DSMT4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446" y="4727246"/>
                        <a:ext cx="1163637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997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5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Verdana" panose="020B0604030504040204" pitchFamily="34" charset="0"/>
              <a:defRPr sz="3323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35014775" indent="-34592734"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Verdana" panose="020B0604030504040204" pitchFamily="34" charset="0"/>
              <a:buChar char="•"/>
              <a:defRPr sz="2585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323859" indent="-153870"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Verdana" panose="020B0604030504040204" pitchFamily="34" charset="0"/>
              <a:buChar char="•"/>
              <a:defRPr sz="1846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499709" indent="-174386"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–"/>
              <a:defRPr sz="1846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666767" indent="-165593"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○"/>
              <a:defRPr sz="1846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1088808" indent="-16559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○"/>
              <a:defRPr sz="1846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1510850" indent="-16559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○"/>
              <a:defRPr sz="1846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1932891" indent="-16559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○"/>
              <a:defRPr sz="1846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2354932" indent="-16559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○"/>
              <a:defRPr sz="1846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SzTx/>
              <a:buFontTx/>
              <a:buNone/>
            </a:pPr>
            <a:r>
              <a:rPr lang="en-GB" altLang="en-US" sz="831">
                <a:solidFill>
                  <a:schemeClr val="bg1"/>
                </a:solidFill>
              </a:rPr>
              <a:t>7.4-</a:t>
            </a:r>
            <a:fld id="{2F3BDA9D-A37D-4C9A-9E86-D6DF9949EDCA}" type="slidenum">
              <a:rPr lang="en-GB" altLang="en-US" sz="831">
                <a:solidFill>
                  <a:schemeClr val="bg1"/>
                </a:solidFill>
              </a:rPr>
              <a:pPr eaLnBrk="1" hangingPunct="1">
                <a:lnSpc>
                  <a:spcPct val="100000"/>
                </a:lnSpc>
                <a:buSzTx/>
                <a:buFontTx/>
                <a:buNone/>
              </a:pPr>
              <a:t>31</a:t>
            </a:fld>
            <a:r>
              <a:rPr lang="en-GB" altLang="en-US" sz="831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80292" y="1128347"/>
            <a:ext cx="8563708" cy="5026269"/>
          </a:xfrm>
          <a:prstGeom prst="rect">
            <a:avLst/>
          </a:prstGeom>
        </p:spPr>
        <p:txBody>
          <a:bodyPr/>
          <a:lstStyle/>
          <a:p>
            <a:pPr marL="562722" indent="-562722">
              <a:buFont typeface="Verdana" panose="020B0604030504040204" pitchFamily="34" charset="0"/>
              <a:buAutoNum type="arabicPeriod"/>
            </a:pPr>
            <a:r>
              <a:rPr lang="en-US" altLang="en-US" sz="2954" dirty="0"/>
              <a:t>Any two rows of a matrix may be interchanged.</a:t>
            </a:r>
          </a:p>
          <a:p>
            <a:pPr marL="562722" indent="-562722">
              <a:buFont typeface="Verdana" panose="020B0604030504040204" pitchFamily="34" charset="0"/>
              <a:buAutoNum type="arabicPeriod"/>
            </a:pPr>
            <a:endParaRPr lang="en-US" altLang="en-US" sz="2954" dirty="0"/>
          </a:p>
          <a:p>
            <a:pPr marL="562722" indent="-562722">
              <a:buFont typeface="+mj-lt"/>
              <a:buAutoNum type="arabicPeriod"/>
            </a:pPr>
            <a:r>
              <a:rPr lang="en-US" altLang="en-US" sz="2954" dirty="0"/>
              <a:t>All the numbers in any row may be multiplied by any nonzero number.</a:t>
            </a:r>
          </a:p>
          <a:p>
            <a:pPr marL="562722" indent="-562722">
              <a:buFont typeface="Verdana" panose="020B0604030504040204" pitchFamily="34" charset="0"/>
              <a:buAutoNum type="arabicPeriod"/>
            </a:pPr>
            <a:endParaRPr lang="en-US" altLang="en-US" sz="2954" dirty="0"/>
          </a:p>
          <a:p>
            <a:pPr marL="562722" indent="-562722">
              <a:buFont typeface="+mj-lt"/>
              <a:buAutoNum type="arabicPeriod"/>
            </a:pPr>
            <a:r>
              <a:rPr lang="en-US" altLang="en-US" sz="2954" dirty="0"/>
              <a:t>All the numbers in any row may be multiplied by any nonzero number, and these products may be added to the corresponding numbers in any other row of numbers.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80292" y="5525353"/>
            <a:ext cx="8439986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Menlo"/>
              </a:rPr>
              <a:t>MATLab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Menlo"/>
              </a:rPr>
              <a:t> code: x = A\b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. This produces the solution using Gaussian elimination, without explicitly forming the inverse.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0" y="6356350"/>
            <a:ext cx="7162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https://www.mathworks.com/help/matlab/ref/mldivide.html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380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47713" y="1128713"/>
            <a:ext cx="8396287" cy="4338637"/>
          </a:xfrm>
          <a:prstGeom prst="rect">
            <a:avLst/>
          </a:prstGeom>
        </p:spPr>
        <p:txBody>
          <a:bodyPr/>
          <a:lstStyle/>
          <a:p>
            <a:pPr marL="562722" indent="-562722">
              <a:buFont typeface="Verdana" panose="020B0604030504040204" pitchFamily="34" charset="0"/>
              <a:buAutoNum type="arabicPeriod"/>
            </a:pPr>
            <a:r>
              <a:rPr lang="en-US" altLang="en-US" sz="2954" dirty="0"/>
              <a:t>Any two rows of a matrix may be interchanged.</a:t>
            </a:r>
          </a:p>
          <a:p>
            <a:pPr marL="562722" indent="-562722">
              <a:buFont typeface="+mj-lt"/>
              <a:buAutoNum type="arabicPeriod"/>
            </a:pPr>
            <a:r>
              <a:rPr lang="en-US" altLang="en-US" sz="2954" dirty="0"/>
              <a:t>All the numbers in any row may be multiplied by any nonzero real number.</a:t>
            </a:r>
          </a:p>
          <a:p>
            <a:pPr marL="562722" indent="-562722">
              <a:buFont typeface="+mj-lt"/>
              <a:buAutoNum type="arabicPeriod"/>
            </a:pPr>
            <a:r>
              <a:rPr lang="en-US" altLang="en-US" sz="2954" dirty="0"/>
              <a:t>All the numbers in any row may be multiplied by any nonzero real number, and these products may be added to the corresponding numbers in any other row of numbers.</a:t>
            </a:r>
          </a:p>
        </p:txBody>
      </p:sp>
      <p:pic>
        <p:nvPicPr>
          <p:cNvPr id="117762" name="Picture 2" descr="Image result for gaussian eliminat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434" y="4145092"/>
            <a:ext cx="3411366" cy="191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8F7C1-AF82-419E-BC79-902D784F2CD5}" type="slidenum">
              <a:rPr lang="en-SG" smtClean="0"/>
              <a:t>32</a:t>
            </a:fld>
            <a:endParaRPr lang="en-SG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C70B7E-4E8F-DE70-E54B-D2FAB2477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682520"/>
            <a:ext cx="4601308" cy="156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Menlo"/>
              </a:rPr>
              <a:t>MATLab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Menlo"/>
              </a:rPr>
              <a:t> code: x = A\b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. This produces the solution using Gaussian elimination, without explicitly forming the inverse.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4D2AA9-7B44-41A8-A636-8011C31E6256}"/>
              </a:ext>
            </a:extLst>
          </p:cNvPr>
          <p:cNvSpPr/>
          <p:nvPr/>
        </p:nvSpPr>
        <p:spPr>
          <a:xfrm>
            <a:off x="1524000" y="6356350"/>
            <a:ext cx="7162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https://www.mathworks.com/help/matlab/ref/mldivide.html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463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Box 1"/>
          <p:cNvSpPr txBox="1">
            <a:spLocks noChangeArrowheads="1"/>
          </p:cNvSpPr>
          <p:nvPr/>
        </p:nvSpPr>
        <p:spPr bwMode="auto">
          <a:xfrm>
            <a:off x="107950" y="179388"/>
            <a:ext cx="2349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/>
              <a:t>Example 19</a:t>
            </a:r>
            <a:endParaRPr lang="en-SG" altLang="en-US" sz="3200"/>
          </a:p>
        </p:txBody>
      </p:sp>
      <p:sp>
        <p:nvSpPr>
          <p:cNvPr id="48132" name="Rectangle 15"/>
          <p:cNvSpPr>
            <a:spLocks noChangeArrowheads="1"/>
          </p:cNvSpPr>
          <p:nvPr/>
        </p:nvSpPr>
        <p:spPr bwMode="auto">
          <a:xfrm>
            <a:off x="107950" y="1030288"/>
            <a:ext cx="8870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Find a solution of </a:t>
            </a:r>
          </a:p>
        </p:txBody>
      </p:sp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2378075" y="1435100"/>
          <a:ext cx="245903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032" imgH="203112" progId="Equation.3">
                  <p:embed/>
                </p:oleObj>
              </mc:Choice>
              <mc:Fallback>
                <p:oleObj name="Equation" r:id="rId2" imgW="1079032" imgH="203112" progId="Equation.3">
                  <p:embed/>
                  <p:pic>
                    <p:nvPicPr>
                      <p:cNvPr id="481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075" y="1435100"/>
                        <a:ext cx="2459038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5"/>
          <p:cNvGraphicFramePr>
            <a:graphicFrameLocks noChangeAspect="1"/>
          </p:cNvGraphicFramePr>
          <p:nvPr/>
        </p:nvGraphicFramePr>
        <p:xfrm>
          <a:off x="2622550" y="2011363"/>
          <a:ext cx="221456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337" imgH="203112" progId="Equation.3">
                  <p:embed/>
                </p:oleObj>
              </mc:Choice>
              <mc:Fallback>
                <p:oleObj name="Equation" r:id="rId4" imgW="1066337" imgH="203112" progId="Equation.3">
                  <p:embed/>
                  <p:pic>
                    <p:nvPicPr>
                      <p:cNvPr id="4813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2011363"/>
                        <a:ext cx="2214563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5"/>
          <p:cNvGraphicFramePr>
            <a:graphicFrameLocks noChangeAspect="1"/>
          </p:cNvGraphicFramePr>
          <p:nvPr/>
        </p:nvGraphicFramePr>
        <p:xfrm>
          <a:off x="2843213" y="2547938"/>
          <a:ext cx="19939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90170" imgH="203112" progId="Equation.3">
                  <p:embed/>
                </p:oleObj>
              </mc:Choice>
              <mc:Fallback>
                <p:oleObj name="Equation" r:id="rId6" imgW="990170" imgH="203112" progId="Equation.3">
                  <p:embed/>
                  <p:pic>
                    <p:nvPicPr>
                      <p:cNvPr id="4813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547938"/>
                        <a:ext cx="19939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Content Placeholder 2"/>
          <p:cNvSpPr txBox="1">
            <a:spLocks/>
          </p:cNvSpPr>
          <p:nvPr/>
        </p:nvSpPr>
        <p:spPr bwMode="auto">
          <a:xfrm>
            <a:off x="369888" y="2361693"/>
            <a:ext cx="84248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 2" panose="05020102010507070707" pitchFamily="18" charset="2"/>
              <a:buNone/>
            </a:pPr>
            <a:r>
              <a:rPr lang="en-AU" altLang="en-US" u="sng" dirty="0"/>
              <a:t>1. Write the equation in a matrix form of </a:t>
            </a:r>
            <a:r>
              <a:rPr lang="en-AU" altLang="en-US" b="1" u="sng" dirty="0" err="1"/>
              <a:t>Ax</a:t>
            </a:r>
            <a:r>
              <a:rPr lang="en-AU" altLang="en-US" u="sng" dirty="0"/>
              <a:t> = </a:t>
            </a:r>
            <a:r>
              <a:rPr lang="en-AU" altLang="en-US" b="1" u="sng" dirty="0"/>
              <a:t>b</a:t>
            </a:r>
          </a:p>
        </p:txBody>
      </p:sp>
      <p:graphicFrame>
        <p:nvGraphicFramePr>
          <p:cNvPr id="48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577052"/>
              </p:ext>
            </p:extLst>
          </p:nvPr>
        </p:nvGraphicFramePr>
        <p:xfrm>
          <a:off x="2533565" y="1120214"/>
          <a:ext cx="1929691" cy="362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032" imgH="203112" progId="Equation.3">
                  <p:embed/>
                </p:oleObj>
              </mc:Choice>
              <mc:Fallback>
                <p:oleObj name="Equation" r:id="rId2" imgW="1079032" imgH="203112" progId="Equation.3">
                  <p:embed/>
                  <p:pic>
                    <p:nvPicPr>
                      <p:cNvPr id="481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565" y="1120214"/>
                        <a:ext cx="1929691" cy="362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568810"/>
              </p:ext>
            </p:extLst>
          </p:nvPr>
        </p:nvGraphicFramePr>
        <p:xfrm>
          <a:off x="2533564" y="1471823"/>
          <a:ext cx="1929691" cy="367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337" imgH="203112" progId="Equation.3">
                  <p:embed/>
                </p:oleObj>
              </mc:Choice>
              <mc:Fallback>
                <p:oleObj name="Equation" r:id="rId4" imgW="1066337" imgH="203112" progId="Equation.3">
                  <p:embed/>
                  <p:pic>
                    <p:nvPicPr>
                      <p:cNvPr id="4813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564" y="1471823"/>
                        <a:ext cx="1929691" cy="3679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554204"/>
              </p:ext>
            </p:extLst>
          </p:nvPr>
        </p:nvGraphicFramePr>
        <p:xfrm>
          <a:off x="2718687" y="1828356"/>
          <a:ext cx="1737413" cy="356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90170" imgH="203112" progId="Equation.3">
                  <p:embed/>
                </p:oleObj>
              </mc:Choice>
              <mc:Fallback>
                <p:oleObj name="Equation" r:id="rId6" imgW="990170" imgH="203112" progId="Equation.3">
                  <p:embed/>
                  <p:pic>
                    <p:nvPicPr>
                      <p:cNvPr id="4813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8687" y="1828356"/>
                        <a:ext cx="1737413" cy="3568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863325"/>
              </p:ext>
            </p:extLst>
          </p:nvPr>
        </p:nvGraphicFramePr>
        <p:xfrm>
          <a:off x="2069536" y="3049781"/>
          <a:ext cx="2640488" cy="1376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71600" imgH="711200" progId="Equation.3">
                  <p:embed/>
                </p:oleObj>
              </mc:Choice>
              <mc:Fallback>
                <p:oleObj name="Equation" r:id="rId8" imgW="1371600" imgH="711200" progId="Equation.3">
                  <p:embed/>
                  <p:pic>
                    <p:nvPicPr>
                      <p:cNvPr id="481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9536" y="3049781"/>
                        <a:ext cx="2640488" cy="1376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107950" y="175351"/>
            <a:ext cx="182293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 b="1" dirty="0">
                <a:solidFill>
                  <a:srgbClr val="0070C0"/>
                </a:solidFill>
              </a:rPr>
              <a:t>Solution</a:t>
            </a:r>
            <a:endParaRPr lang="en-SG" altLang="en-US" sz="3200" b="1" dirty="0">
              <a:solidFill>
                <a:srgbClr val="0070C0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250825" y="4649725"/>
            <a:ext cx="84248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 2" panose="05020102010507070707" pitchFamily="18" charset="2"/>
              <a:buNone/>
            </a:pPr>
            <a:r>
              <a:rPr lang="en-AU" altLang="en-US" u="sng" dirty="0"/>
              <a:t>2. Form an augmented matrix</a:t>
            </a:r>
            <a:endParaRPr lang="en-AU" altLang="en-US" b="1" u="sng" dirty="0"/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769979"/>
              </p:ext>
            </p:extLst>
          </p:nvPr>
        </p:nvGraphicFramePr>
        <p:xfrm>
          <a:off x="3087688" y="5219637"/>
          <a:ext cx="2019150" cy="1457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90170" imgH="710891" progId="Equation.3">
                  <p:embed/>
                </p:oleObj>
              </mc:Choice>
              <mc:Fallback>
                <p:oleObj name="Equation" r:id="rId10" imgW="990170" imgH="710891" progId="Equation.3">
                  <p:embed/>
                  <p:pic>
                    <p:nvPicPr>
                      <p:cNvPr id="1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688" y="5219637"/>
                        <a:ext cx="2019150" cy="1457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5451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 txBox="1">
            <a:spLocks/>
          </p:cNvSpPr>
          <p:nvPr/>
        </p:nvSpPr>
        <p:spPr bwMode="auto">
          <a:xfrm>
            <a:off x="250825" y="1054563"/>
            <a:ext cx="86423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AU" altLang="en-US" u="sng" dirty="0"/>
              <a:t>3. Systematic elimination by forward elimination (row transformations) 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59138" y="2345200"/>
            <a:ext cx="1871662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SG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915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833958"/>
              </p:ext>
            </p:extLst>
          </p:nvPr>
        </p:nvGraphicFramePr>
        <p:xfrm>
          <a:off x="411163" y="1748300"/>
          <a:ext cx="1909343" cy="1378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0170" imgH="710891" progId="Equation.3">
                  <p:embed/>
                </p:oleObj>
              </mc:Choice>
              <mc:Fallback>
                <p:oleObj name="Equation" r:id="rId2" imgW="990170" imgH="710891" progId="Equation.3">
                  <p:embed/>
                  <p:pic>
                    <p:nvPicPr>
                      <p:cNvPr id="4915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63" y="1748300"/>
                        <a:ext cx="1909343" cy="13786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0" name="TextBox 12"/>
          <p:cNvSpPr txBox="1">
            <a:spLocks noChangeArrowheads="1"/>
          </p:cNvSpPr>
          <p:nvPr/>
        </p:nvSpPr>
        <p:spPr bwMode="auto">
          <a:xfrm>
            <a:off x="2787650" y="1862600"/>
            <a:ext cx="2965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/>
              <a:t>swap row 1 &amp; row 3</a:t>
            </a:r>
            <a:endParaRPr lang="en-SG" altLang="en-US" baseline="-25000" dirty="0"/>
          </a:p>
        </p:txBody>
      </p:sp>
      <p:graphicFrame>
        <p:nvGraphicFramePr>
          <p:cNvPr id="491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471326"/>
              </p:ext>
            </p:extLst>
          </p:nvPr>
        </p:nvGraphicFramePr>
        <p:xfrm>
          <a:off x="5883275" y="1761000"/>
          <a:ext cx="1891755" cy="1365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170" imgH="710891" progId="Equation.3">
                  <p:embed/>
                </p:oleObj>
              </mc:Choice>
              <mc:Fallback>
                <p:oleObj name="Equation" r:id="rId4" imgW="990170" imgH="710891" progId="Equation.3">
                  <p:embed/>
                  <p:pic>
                    <p:nvPicPr>
                      <p:cNvPr id="491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3275" y="1761000"/>
                        <a:ext cx="1891755" cy="13659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3"/>
          <p:cNvSpPr txBox="1">
            <a:spLocks noChangeArrowheads="1"/>
          </p:cNvSpPr>
          <p:nvPr/>
        </p:nvSpPr>
        <p:spPr bwMode="auto">
          <a:xfrm>
            <a:off x="552285" y="4317878"/>
            <a:ext cx="2005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3*R1 ‒ R2</a:t>
            </a:r>
            <a:endParaRPr lang="en-SG" altLang="en-US" baseline="-25000"/>
          </a:p>
        </p:txBody>
      </p:sp>
      <p:sp>
        <p:nvSpPr>
          <p:cNvPr id="11" name="Right Arrow 10"/>
          <p:cNvSpPr/>
          <p:nvPr/>
        </p:nvSpPr>
        <p:spPr>
          <a:xfrm>
            <a:off x="791998" y="4044828"/>
            <a:ext cx="1871662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SG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0"/>
          <p:cNvSpPr txBox="1">
            <a:spLocks noChangeArrowheads="1"/>
          </p:cNvSpPr>
          <p:nvPr/>
        </p:nvSpPr>
        <p:spPr bwMode="auto">
          <a:xfrm>
            <a:off x="293688" y="3614720"/>
            <a:ext cx="2965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/>
              <a:t>Eliminate a</a:t>
            </a:r>
            <a:r>
              <a:rPr lang="en-US" altLang="en-US" baseline="-25000" dirty="0"/>
              <a:t>21</a:t>
            </a:r>
            <a:r>
              <a:rPr lang="en-US" altLang="en-US" dirty="0"/>
              <a:t> &amp; a</a:t>
            </a:r>
            <a:r>
              <a:rPr lang="en-US" altLang="en-US" baseline="-25000" dirty="0"/>
              <a:t>31</a:t>
            </a:r>
            <a:endParaRPr lang="en-SG" altLang="en-US" baseline="-25000" dirty="0"/>
          </a:p>
        </p:txBody>
      </p:sp>
      <p:sp>
        <p:nvSpPr>
          <p:cNvPr id="14" name="TextBox 12"/>
          <p:cNvSpPr txBox="1">
            <a:spLocks noChangeArrowheads="1"/>
          </p:cNvSpPr>
          <p:nvPr/>
        </p:nvSpPr>
        <p:spPr bwMode="auto">
          <a:xfrm>
            <a:off x="552285" y="4719516"/>
            <a:ext cx="2005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2*R1 ‒ R3</a:t>
            </a:r>
            <a:endParaRPr lang="en-SG" altLang="en-US" baseline="-25000"/>
          </a:p>
        </p:txBody>
      </p:sp>
      <p:graphicFrame>
        <p:nvGraphicFramePr>
          <p:cNvPr id="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607885"/>
              </p:ext>
            </p:extLst>
          </p:nvPr>
        </p:nvGraphicFramePr>
        <p:xfrm>
          <a:off x="3230399" y="3466978"/>
          <a:ext cx="1856932" cy="1358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900" imgH="711200" progId="Equation.3">
                  <p:embed/>
                </p:oleObj>
              </mc:Choice>
              <mc:Fallback>
                <p:oleObj name="Equation" r:id="rId6" imgW="977900" imgH="711200" progId="Equation.3">
                  <p:embed/>
                  <p:pic>
                    <p:nvPicPr>
                      <p:cNvPr id="1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399" y="3466978"/>
                        <a:ext cx="1856932" cy="13583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2061900" y="6119456"/>
            <a:ext cx="2005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R2 ‒ R3</a:t>
            </a:r>
            <a:endParaRPr lang="en-SG" altLang="en-US" baseline="-25000"/>
          </a:p>
        </p:txBody>
      </p:sp>
      <p:sp>
        <p:nvSpPr>
          <p:cNvPr id="18" name="Right Arrow 17"/>
          <p:cNvSpPr/>
          <p:nvPr/>
        </p:nvSpPr>
        <p:spPr>
          <a:xfrm>
            <a:off x="2301613" y="5846406"/>
            <a:ext cx="1871662" cy="2174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SG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7"/>
          <p:cNvSpPr txBox="1">
            <a:spLocks noChangeArrowheads="1"/>
          </p:cNvSpPr>
          <p:nvPr/>
        </p:nvSpPr>
        <p:spPr bwMode="auto">
          <a:xfrm>
            <a:off x="1830125" y="5363806"/>
            <a:ext cx="2965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Eliminate a</a:t>
            </a:r>
            <a:r>
              <a:rPr lang="en-US" altLang="en-US" baseline="-25000"/>
              <a:t>32</a:t>
            </a:r>
            <a:endParaRPr lang="en-SG" altLang="en-US" baseline="-25000"/>
          </a:p>
        </p:txBody>
      </p:sp>
      <p:graphicFrame>
        <p:nvGraphicFramePr>
          <p:cNvPr id="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8053272"/>
              </p:ext>
            </p:extLst>
          </p:nvPr>
        </p:nvGraphicFramePr>
        <p:xfrm>
          <a:off x="4974343" y="5193106"/>
          <a:ext cx="2023095" cy="1479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77900" imgH="711200" progId="Equation.3">
                  <p:embed/>
                </p:oleObj>
              </mc:Choice>
              <mc:Fallback>
                <p:oleObj name="Equation" r:id="rId8" imgW="977900" imgH="711200" progId="Equation.3">
                  <p:embed/>
                  <p:pic>
                    <p:nvPicPr>
                      <p:cNvPr id="2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4343" y="5193106"/>
                        <a:ext cx="2023095" cy="14798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9160" grpId="0"/>
      <p:bldP spid="10" grpId="0"/>
      <p:bldP spid="11" grpId="0" animBg="1"/>
      <p:bldP spid="12" grpId="0"/>
      <p:bldP spid="14" grpId="0"/>
      <p:bldP spid="17" grpId="0"/>
      <p:bldP spid="18" grpId="0" animBg="1"/>
      <p:bldP spid="1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Content Placeholder 2"/>
          <p:cNvSpPr txBox="1">
            <a:spLocks/>
          </p:cNvSpPr>
          <p:nvPr/>
        </p:nvSpPr>
        <p:spPr bwMode="auto">
          <a:xfrm>
            <a:off x="250825" y="1052513"/>
            <a:ext cx="86423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AU" altLang="en-US" u="sng"/>
              <a:t>4. Systematic substitution by back substituton</a:t>
            </a:r>
          </a:p>
        </p:txBody>
      </p:sp>
      <p:graphicFrame>
        <p:nvGraphicFramePr>
          <p:cNvPr id="5120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31467"/>
              </p:ext>
            </p:extLst>
          </p:nvPr>
        </p:nvGraphicFramePr>
        <p:xfrm>
          <a:off x="2791505" y="1635353"/>
          <a:ext cx="3070225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711200" progId="Equation.3">
                  <p:embed/>
                </p:oleObj>
              </mc:Choice>
              <mc:Fallback>
                <p:oleObj name="Equation" r:id="rId2" imgW="1371600" imgH="711200" progId="Equation.3">
                  <p:embed/>
                  <p:pic>
                    <p:nvPicPr>
                      <p:cNvPr id="5120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1505" y="1635353"/>
                        <a:ext cx="3070225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812800" y="3935413"/>
          <a:ext cx="93821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8918" imgH="177723" progId="Equation.3">
                  <p:embed/>
                </p:oleObj>
              </mc:Choice>
              <mc:Fallback>
                <p:oleObj name="Equation" r:id="rId4" imgW="418918" imgH="177723" progId="Equation.3">
                  <p:embed/>
                  <p:pic>
                    <p:nvPicPr>
                      <p:cNvPr id="512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3935413"/>
                        <a:ext cx="938213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6" name="Object 5"/>
          <p:cNvGraphicFramePr>
            <a:graphicFrameLocks noChangeAspect="1"/>
          </p:cNvGraphicFramePr>
          <p:nvPr/>
        </p:nvGraphicFramePr>
        <p:xfrm>
          <a:off x="3644900" y="3689350"/>
          <a:ext cx="127793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1252" imgH="393529" progId="Equation.3">
                  <p:embed/>
                </p:oleObj>
              </mc:Choice>
              <mc:Fallback>
                <p:oleObj name="Equation" r:id="rId6" imgW="571252" imgH="393529" progId="Equation.3">
                  <p:embed/>
                  <p:pic>
                    <p:nvPicPr>
                      <p:cNvPr id="5120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3689350"/>
                        <a:ext cx="1277938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5"/>
          <p:cNvGraphicFramePr>
            <a:graphicFrameLocks noChangeAspect="1"/>
          </p:cNvGraphicFramePr>
          <p:nvPr/>
        </p:nvGraphicFramePr>
        <p:xfrm>
          <a:off x="557213" y="4792663"/>
          <a:ext cx="14509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47419" imgH="203112" progId="Equation.3">
                  <p:embed/>
                </p:oleObj>
              </mc:Choice>
              <mc:Fallback>
                <p:oleObj name="Equation" r:id="rId8" imgW="647419" imgH="203112" progId="Equation.3">
                  <p:embed/>
                  <p:pic>
                    <p:nvPicPr>
                      <p:cNvPr id="5120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3" y="4792663"/>
                        <a:ext cx="14509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8" name="Object 5"/>
          <p:cNvGraphicFramePr>
            <a:graphicFrameLocks noChangeAspect="1"/>
          </p:cNvGraphicFramePr>
          <p:nvPr/>
        </p:nvGraphicFramePr>
        <p:xfrm>
          <a:off x="3644900" y="4792663"/>
          <a:ext cx="21288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52087" imgH="203112" progId="Equation.3">
                  <p:embed/>
                </p:oleObj>
              </mc:Choice>
              <mc:Fallback>
                <p:oleObj name="Equation" r:id="rId10" imgW="952087" imgH="203112" progId="Equation.3">
                  <p:embed/>
                  <p:pic>
                    <p:nvPicPr>
                      <p:cNvPr id="5120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4792663"/>
                        <a:ext cx="21288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9" name="Object 5"/>
          <p:cNvGraphicFramePr>
            <a:graphicFrameLocks noChangeAspect="1"/>
          </p:cNvGraphicFramePr>
          <p:nvPr/>
        </p:nvGraphicFramePr>
        <p:xfrm>
          <a:off x="173038" y="5707063"/>
          <a:ext cx="22193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90170" imgH="203112" progId="Equation.3">
                  <p:embed/>
                </p:oleObj>
              </mc:Choice>
              <mc:Fallback>
                <p:oleObj name="Equation" r:id="rId12" imgW="990170" imgH="203112" progId="Equation.3">
                  <p:embed/>
                  <p:pic>
                    <p:nvPicPr>
                      <p:cNvPr id="512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8" y="5707063"/>
                        <a:ext cx="22193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0" name="Object 5"/>
          <p:cNvGraphicFramePr>
            <a:graphicFrameLocks noChangeAspect="1"/>
          </p:cNvGraphicFramePr>
          <p:nvPr/>
        </p:nvGraphicFramePr>
        <p:xfrm>
          <a:off x="3644900" y="5707063"/>
          <a:ext cx="30940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84300" imgH="203200" progId="Equation.3">
                  <p:embed/>
                </p:oleObj>
              </mc:Choice>
              <mc:Fallback>
                <p:oleObj name="Equation" r:id="rId14" imgW="1384300" imgH="203200" progId="Equation.3">
                  <p:embed/>
                  <p:pic>
                    <p:nvPicPr>
                      <p:cNvPr id="512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5707063"/>
                        <a:ext cx="30940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Box 1"/>
          <p:cNvSpPr txBox="1">
            <a:spLocks noChangeArrowheads="1"/>
          </p:cNvSpPr>
          <p:nvPr/>
        </p:nvSpPr>
        <p:spPr bwMode="auto">
          <a:xfrm>
            <a:off x="107950" y="179388"/>
            <a:ext cx="56284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 dirty="0"/>
              <a:t>Example 20 (class exercises) </a:t>
            </a:r>
            <a:endParaRPr lang="en-SG" altLang="en-US" sz="3200" dirty="0"/>
          </a:p>
        </p:txBody>
      </p:sp>
      <p:sp>
        <p:nvSpPr>
          <p:cNvPr id="52228" name="Rectangle 15"/>
          <p:cNvSpPr>
            <a:spLocks noChangeArrowheads="1"/>
          </p:cNvSpPr>
          <p:nvPr/>
        </p:nvSpPr>
        <p:spPr bwMode="auto">
          <a:xfrm>
            <a:off x="107950" y="1030288"/>
            <a:ext cx="8870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Find a solution of </a:t>
            </a:r>
          </a:p>
        </p:txBody>
      </p:sp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2730500" y="1509713"/>
          <a:ext cx="190023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7836" imgH="203112" progId="Equation.3">
                  <p:embed/>
                </p:oleObj>
              </mc:Choice>
              <mc:Fallback>
                <p:oleObj name="Equation" r:id="rId2" imgW="837836" imgH="203112" progId="Equation.3">
                  <p:embed/>
                  <p:pic>
                    <p:nvPicPr>
                      <p:cNvPr id="522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1509713"/>
                        <a:ext cx="1900238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Object 5"/>
          <p:cNvGraphicFramePr>
            <a:graphicFrameLocks noChangeAspect="1"/>
          </p:cNvGraphicFramePr>
          <p:nvPr/>
        </p:nvGraphicFramePr>
        <p:xfrm>
          <a:off x="3101975" y="2047875"/>
          <a:ext cx="152876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600" imgH="203200" progId="Equation.3">
                  <p:embed/>
                </p:oleObj>
              </mc:Choice>
              <mc:Fallback>
                <p:oleObj name="Equation" r:id="rId4" imgW="736600" imgH="203200" progId="Equation.3">
                  <p:embed/>
                  <p:pic>
                    <p:nvPicPr>
                      <p:cNvPr id="5223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975" y="2047875"/>
                        <a:ext cx="1528763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5"/>
          <p:cNvGraphicFramePr>
            <a:graphicFrameLocks noChangeAspect="1"/>
          </p:cNvGraphicFramePr>
          <p:nvPr/>
        </p:nvGraphicFramePr>
        <p:xfrm>
          <a:off x="2855913" y="2547938"/>
          <a:ext cx="19685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476" imgH="203112" progId="Equation.3">
                  <p:embed/>
                </p:oleObj>
              </mc:Choice>
              <mc:Fallback>
                <p:oleObj name="Equation" r:id="rId6" imgW="977476" imgH="203112" progId="Equation.3">
                  <p:embed/>
                  <p:pic>
                    <p:nvPicPr>
                      <p:cNvPr id="5223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2547938"/>
                        <a:ext cx="19685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4134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Content Placeholder 2"/>
          <p:cNvSpPr txBox="1">
            <a:spLocks/>
          </p:cNvSpPr>
          <p:nvPr/>
        </p:nvSpPr>
        <p:spPr bwMode="auto">
          <a:xfrm>
            <a:off x="428731" y="1205701"/>
            <a:ext cx="84248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 2" panose="05020102010507070707" pitchFamily="18" charset="2"/>
              <a:buNone/>
            </a:pPr>
            <a:r>
              <a:rPr lang="en-AU" altLang="en-US" u="sng" dirty="0"/>
              <a:t>1. Write the equation in a matrix form of </a:t>
            </a:r>
            <a:r>
              <a:rPr lang="en-AU" altLang="en-US" b="1" u="sng" dirty="0" err="1"/>
              <a:t>Ax</a:t>
            </a:r>
            <a:r>
              <a:rPr lang="en-AU" altLang="en-US" u="sng" dirty="0"/>
              <a:t> = </a:t>
            </a:r>
            <a:r>
              <a:rPr lang="en-AU" altLang="en-US" b="1" u="sng" dirty="0"/>
              <a:t>b</a:t>
            </a:r>
          </a:p>
        </p:txBody>
      </p:sp>
      <p:graphicFrame>
        <p:nvGraphicFramePr>
          <p:cNvPr id="522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679430"/>
              </p:ext>
            </p:extLst>
          </p:nvPr>
        </p:nvGraphicFramePr>
        <p:xfrm>
          <a:off x="6983323" y="1089686"/>
          <a:ext cx="190023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7836" imgH="203112" progId="Equation.DSMT4">
                  <p:embed/>
                </p:oleObj>
              </mc:Choice>
              <mc:Fallback>
                <p:oleObj name="Equation" r:id="rId2" imgW="837836" imgH="203112" progId="Equation.DSMT4">
                  <p:embed/>
                  <p:pic>
                    <p:nvPicPr>
                      <p:cNvPr id="522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323" y="1089686"/>
                        <a:ext cx="1900238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471941"/>
              </p:ext>
            </p:extLst>
          </p:nvPr>
        </p:nvGraphicFramePr>
        <p:xfrm>
          <a:off x="6983323" y="1524264"/>
          <a:ext cx="152876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600" imgH="203200" progId="Equation.3">
                  <p:embed/>
                </p:oleObj>
              </mc:Choice>
              <mc:Fallback>
                <p:oleObj name="Equation" r:id="rId4" imgW="736600" imgH="203200" progId="Equation.3">
                  <p:embed/>
                  <p:pic>
                    <p:nvPicPr>
                      <p:cNvPr id="5223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323" y="1524264"/>
                        <a:ext cx="1528763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268471"/>
              </p:ext>
            </p:extLst>
          </p:nvPr>
        </p:nvGraphicFramePr>
        <p:xfrm>
          <a:off x="6983323" y="1920741"/>
          <a:ext cx="19685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476" imgH="203112" progId="Equation.3">
                  <p:embed/>
                </p:oleObj>
              </mc:Choice>
              <mc:Fallback>
                <p:oleObj name="Equation" r:id="rId6" imgW="977476" imgH="203112" progId="Equation.3">
                  <p:embed/>
                  <p:pic>
                    <p:nvPicPr>
                      <p:cNvPr id="5223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323" y="1920741"/>
                        <a:ext cx="19685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142469"/>
              </p:ext>
            </p:extLst>
          </p:nvPr>
        </p:nvGraphicFramePr>
        <p:xfrm>
          <a:off x="1522787" y="1805775"/>
          <a:ext cx="29273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08100" imgH="711200" progId="Equation.3">
                  <p:embed/>
                </p:oleObj>
              </mc:Choice>
              <mc:Fallback>
                <p:oleObj name="Equation" r:id="rId8" imgW="1308100" imgH="711200" progId="Equation.3">
                  <p:embed/>
                  <p:pic>
                    <p:nvPicPr>
                      <p:cNvPr id="522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2787" y="1805775"/>
                        <a:ext cx="292735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107950" y="175351"/>
            <a:ext cx="182293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 b="1" dirty="0">
                <a:solidFill>
                  <a:srgbClr val="0070C0"/>
                </a:solidFill>
              </a:rPr>
              <a:t>Solution</a:t>
            </a:r>
            <a:endParaRPr lang="en-SG" altLang="en-US" sz="3200" b="1" dirty="0">
              <a:solidFill>
                <a:srgbClr val="0070C0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526960" y="4006049"/>
            <a:ext cx="84248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 2" panose="05020102010507070707" pitchFamily="18" charset="2"/>
              <a:buNone/>
            </a:pPr>
            <a:r>
              <a:rPr lang="en-AU" altLang="en-US" u="sng" dirty="0"/>
              <a:t>2. Form an augmented matrix</a:t>
            </a:r>
            <a:endParaRPr lang="en-AU" altLang="en-US" b="1" u="sng" dirty="0"/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856965"/>
              </p:ext>
            </p:extLst>
          </p:nvPr>
        </p:nvGraphicFramePr>
        <p:xfrm>
          <a:off x="2375275" y="4769734"/>
          <a:ext cx="2074862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27100" imgH="711200" progId="Equation.3">
                  <p:embed/>
                </p:oleObj>
              </mc:Choice>
              <mc:Fallback>
                <p:oleObj name="Equation" r:id="rId10" imgW="927100" imgH="711200" progId="Equation.3">
                  <p:embed/>
                  <p:pic>
                    <p:nvPicPr>
                      <p:cNvPr id="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275" y="4769734"/>
                        <a:ext cx="2074862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Content Placeholder 2"/>
          <p:cNvSpPr txBox="1">
            <a:spLocks/>
          </p:cNvSpPr>
          <p:nvPr/>
        </p:nvSpPr>
        <p:spPr bwMode="auto">
          <a:xfrm>
            <a:off x="250825" y="1020049"/>
            <a:ext cx="86423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AU" altLang="en-US" u="sng"/>
              <a:t>3. Systematic elimination by forward elimination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28774" y="2308513"/>
            <a:ext cx="1871662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SG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5325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916286"/>
              </p:ext>
            </p:extLst>
          </p:nvPr>
        </p:nvGraphicFramePr>
        <p:xfrm>
          <a:off x="332369" y="1750299"/>
          <a:ext cx="2117533" cy="1633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100" imgH="711200" progId="Equation.3">
                  <p:embed/>
                </p:oleObj>
              </mc:Choice>
              <mc:Fallback>
                <p:oleObj name="Equation" r:id="rId2" imgW="927100" imgH="711200" progId="Equation.3">
                  <p:embed/>
                  <p:pic>
                    <p:nvPicPr>
                      <p:cNvPr id="5325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369" y="1750299"/>
                        <a:ext cx="2117533" cy="1633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6" name="TextBox 16"/>
          <p:cNvSpPr txBox="1">
            <a:spLocks noChangeArrowheads="1"/>
          </p:cNvSpPr>
          <p:nvPr/>
        </p:nvSpPr>
        <p:spPr bwMode="auto">
          <a:xfrm>
            <a:off x="2378740" y="2605961"/>
            <a:ext cx="2005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2*R1 ‒ R2</a:t>
            </a:r>
            <a:endParaRPr lang="en-SG" altLang="en-US" baseline="-25000"/>
          </a:p>
        </p:txBody>
      </p:sp>
      <p:sp>
        <p:nvSpPr>
          <p:cNvPr id="53257" name="TextBox 17"/>
          <p:cNvSpPr txBox="1">
            <a:spLocks noChangeArrowheads="1"/>
          </p:cNvSpPr>
          <p:nvPr/>
        </p:nvSpPr>
        <p:spPr bwMode="auto">
          <a:xfrm>
            <a:off x="2146965" y="1848724"/>
            <a:ext cx="2965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/>
              <a:t>Eliminate a</a:t>
            </a:r>
            <a:r>
              <a:rPr lang="en-US" altLang="en-US" baseline="-25000" dirty="0"/>
              <a:t>21</a:t>
            </a:r>
            <a:r>
              <a:rPr lang="en-US" altLang="en-US" dirty="0"/>
              <a:t> &amp; a</a:t>
            </a:r>
            <a:r>
              <a:rPr lang="en-US" altLang="en-US" baseline="-25000" dirty="0"/>
              <a:t>31</a:t>
            </a:r>
            <a:endParaRPr lang="en-SG" altLang="en-US" baseline="-25000" dirty="0"/>
          </a:p>
        </p:txBody>
      </p:sp>
      <p:sp>
        <p:nvSpPr>
          <p:cNvPr id="53258" name="TextBox 18"/>
          <p:cNvSpPr txBox="1">
            <a:spLocks noChangeArrowheads="1"/>
          </p:cNvSpPr>
          <p:nvPr/>
        </p:nvSpPr>
        <p:spPr bwMode="auto">
          <a:xfrm>
            <a:off x="2378740" y="3006011"/>
            <a:ext cx="2005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/>
              <a:t>3*R1 ‒ R3</a:t>
            </a:r>
            <a:endParaRPr lang="en-SG" altLang="en-US" baseline="-25000" dirty="0"/>
          </a:p>
        </p:txBody>
      </p:sp>
      <p:graphicFrame>
        <p:nvGraphicFramePr>
          <p:cNvPr id="5325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563090"/>
              </p:ext>
            </p:extLst>
          </p:nvPr>
        </p:nvGraphicFramePr>
        <p:xfrm>
          <a:off x="4765568" y="1715002"/>
          <a:ext cx="2256333" cy="160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2865" imgH="710891" progId="Equation.3">
                  <p:embed/>
                </p:oleObj>
              </mc:Choice>
              <mc:Fallback>
                <p:oleObj name="Equation" r:id="rId4" imgW="1002865" imgH="710891" progId="Equation.3">
                  <p:embed/>
                  <p:pic>
                    <p:nvPicPr>
                      <p:cNvPr id="5325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5568" y="1715002"/>
                        <a:ext cx="2256333" cy="160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ight Arrow 11"/>
          <p:cNvSpPr/>
          <p:nvPr/>
        </p:nvSpPr>
        <p:spPr>
          <a:xfrm>
            <a:off x="377688" y="4435220"/>
            <a:ext cx="1871662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SG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5"/>
          <p:cNvSpPr txBox="1">
            <a:spLocks noChangeArrowheads="1"/>
          </p:cNvSpPr>
          <p:nvPr/>
        </p:nvSpPr>
        <p:spPr bwMode="auto">
          <a:xfrm>
            <a:off x="4525825" y="4664821"/>
            <a:ext cx="2005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R2 ‒ R3</a:t>
            </a:r>
            <a:endParaRPr lang="en-SG" altLang="en-US" baseline="-25000"/>
          </a:p>
        </p:txBody>
      </p:sp>
      <p:sp>
        <p:nvSpPr>
          <p:cNvPr id="14" name="Right Arrow 13"/>
          <p:cNvSpPr/>
          <p:nvPr/>
        </p:nvSpPr>
        <p:spPr>
          <a:xfrm>
            <a:off x="4765538" y="4391771"/>
            <a:ext cx="1871662" cy="2174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SG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7"/>
          <p:cNvSpPr txBox="1">
            <a:spLocks noChangeArrowheads="1"/>
          </p:cNvSpPr>
          <p:nvPr/>
        </p:nvSpPr>
        <p:spPr bwMode="auto">
          <a:xfrm>
            <a:off x="-116655" y="3924045"/>
            <a:ext cx="29638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Divide R2 by 2</a:t>
            </a:r>
            <a:endParaRPr lang="en-SG" altLang="en-US" baseline="-25000"/>
          </a:p>
        </p:txBody>
      </p:sp>
      <p:graphicFrame>
        <p:nvGraphicFramePr>
          <p:cNvPr id="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9062401"/>
              </p:ext>
            </p:extLst>
          </p:nvPr>
        </p:nvGraphicFramePr>
        <p:xfrm>
          <a:off x="2320512" y="3741482"/>
          <a:ext cx="2246312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2865" imgH="710891" progId="Equation.3">
                  <p:embed/>
                </p:oleObj>
              </mc:Choice>
              <mc:Fallback>
                <p:oleObj name="Equation" r:id="rId6" imgW="1002865" imgH="710891" progId="Equation.3">
                  <p:embed/>
                  <p:pic>
                    <p:nvPicPr>
                      <p:cNvPr id="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0512" y="3741482"/>
                        <a:ext cx="2246312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22"/>
          <p:cNvSpPr txBox="1">
            <a:spLocks noChangeArrowheads="1"/>
          </p:cNvSpPr>
          <p:nvPr/>
        </p:nvSpPr>
        <p:spPr bwMode="auto">
          <a:xfrm>
            <a:off x="4294050" y="3909171"/>
            <a:ext cx="2965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Eliminate a</a:t>
            </a:r>
            <a:r>
              <a:rPr lang="en-US" altLang="en-US" baseline="-25000"/>
              <a:t>32</a:t>
            </a:r>
            <a:endParaRPr lang="en-SG" altLang="en-US" baseline="-25000"/>
          </a:p>
        </p:txBody>
      </p:sp>
      <p:graphicFrame>
        <p:nvGraphicFramePr>
          <p:cNvPr id="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662126"/>
              </p:ext>
            </p:extLst>
          </p:nvPr>
        </p:nvGraphicFramePr>
        <p:xfrm>
          <a:off x="6711147" y="3741482"/>
          <a:ext cx="230346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28254" imgH="710891" progId="Equation.3">
                  <p:embed/>
                </p:oleObj>
              </mc:Choice>
              <mc:Fallback>
                <p:oleObj name="Equation" r:id="rId8" imgW="1028254" imgH="710891" progId="Equation.3">
                  <p:embed/>
                  <p:pic>
                    <p:nvPicPr>
                      <p:cNvPr id="2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1147" y="3741482"/>
                        <a:ext cx="2303463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3256" grpId="0"/>
      <p:bldP spid="53257" grpId="0"/>
      <p:bldP spid="53258" grpId="0"/>
      <p:bldP spid="12" grpId="0" animBg="1"/>
      <p:bldP spid="13" grpId="0"/>
      <p:bldP spid="14" grpId="0" animBg="1"/>
      <p:bldP spid="15" grpId="0"/>
      <p:bldP spid="1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Content Placeholder 2"/>
          <p:cNvSpPr txBox="1">
            <a:spLocks/>
          </p:cNvSpPr>
          <p:nvPr/>
        </p:nvSpPr>
        <p:spPr bwMode="auto">
          <a:xfrm>
            <a:off x="250825" y="1052513"/>
            <a:ext cx="86423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AU" altLang="en-US" u="sng"/>
              <a:t>4. Systematic substitution by back substituton</a:t>
            </a:r>
          </a:p>
        </p:txBody>
      </p:sp>
      <p:graphicFrame>
        <p:nvGraphicFramePr>
          <p:cNvPr id="55300" name="Object 5"/>
          <p:cNvGraphicFramePr>
            <a:graphicFrameLocks noChangeAspect="1"/>
          </p:cNvGraphicFramePr>
          <p:nvPr/>
        </p:nvGraphicFramePr>
        <p:xfrm>
          <a:off x="2690813" y="1646238"/>
          <a:ext cx="3184525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22400" imgH="711200" progId="Equation.3">
                  <p:embed/>
                </p:oleObj>
              </mc:Choice>
              <mc:Fallback>
                <p:oleObj name="Equation" r:id="rId2" imgW="1422400" imgH="711200" progId="Equation.3">
                  <p:embed/>
                  <p:pic>
                    <p:nvPicPr>
                      <p:cNvPr id="5530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0813" y="1646238"/>
                        <a:ext cx="3184525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714375" y="3949700"/>
          <a:ext cx="11366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7780" imgH="165028" progId="Equation.3">
                  <p:embed/>
                </p:oleObj>
              </mc:Choice>
              <mc:Fallback>
                <p:oleObj name="Equation" r:id="rId4" imgW="507780" imgH="165028" progId="Equation.3">
                  <p:embed/>
                  <p:pic>
                    <p:nvPicPr>
                      <p:cNvPr id="553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3949700"/>
                        <a:ext cx="11366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052771"/>
              </p:ext>
            </p:extLst>
          </p:nvPr>
        </p:nvGraphicFramePr>
        <p:xfrm>
          <a:off x="3670300" y="3678238"/>
          <a:ext cx="176053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87058" imgH="393529" progId="Equation.DSMT4">
                  <p:embed/>
                </p:oleObj>
              </mc:Choice>
              <mc:Fallback>
                <p:oleObj name="Equation" r:id="rId6" imgW="787058" imgH="393529" progId="Equation.DSMT4">
                  <p:embed/>
                  <p:pic>
                    <p:nvPicPr>
                      <p:cNvPr id="5530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0300" y="3678238"/>
                        <a:ext cx="1760538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5"/>
          <p:cNvGraphicFramePr>
            <a:graphicFrameLocks noChangeAspect="1"/>
          </p:cNvGraphicFramePr>
          <p:nvPr/>
        </p:nvGraphicFramePr>
        <p:xfrm>
          <a:off x="642938" y="4792663"/>
          <a:ext cx="12795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71252" imgH="203112" progId="Equation.3">
                  <p:embed/>
                </p:oleObj>
              </mc:Choice>
              <mc:Fallback>
                <p:oleObj name="Equation" r:id="rId8" imgW="571252" imgH="203112" progId="Equation.3">
                  <p:embed/>
                  <p:pic>
                    <p:nvPicPr>
                      <p:cNvPr id="5530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4792663"/>
                        <a:ext cx="12795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5"/>
          <p:cNvGraphicFramePr>
            <a:graphicFrameLocks noChangeAspect="1"/>
          </p:cNvGraphicFramePr>
          <p:nvPr/>
        </p:nvGraphicFramePr>
        <p:xfrm>
          <a:off x="3644900" y="4792663"/>
          <a:ext cx="21288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52087" imgH="203112" progId="Equation.3">
                  <p:embed/>
                </p:oleObj>
              </mc:Choice>
              <mc:Fallback>
                <p:oleObj name="Equation" r:id="rId10" imgW="952087" imgH="203112" progId="Equation.3">
                  <p:embed/>
                  <p:pic>
                    <p:nvPicPr>
                      <p:cNvPr id="5530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4792663"/>
                        <a:ext cx="21288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5" name="Object 5"/>
          <p:cNvGraphicFramePr>
            <a:graphicFrameLocks noChangeAspect="1"/>
          </p:cNvGraphicFramePr>
          <p:nvPr/>
        </p:nvGraphicFramePr>
        <p:xfrm>
          <a:off x="342900" y="5707063"/>
          <a:ext cx="18780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37836" imgH="203112" progId="Equation.3">
                  <p:embed/>
                </p:oleObj>
              </mc:Choice>
              <mc:Fallback>
                <p:oleObj name="Equation" r:id="rId12" imgW="837836" imgH="203112" progId="Equation.3">
                  <p:embed/>
                  <p:pic>
                    <p:nvPicPr>
                      <p:cNvPr id="553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" y="5707063"/>
                        <a:ext cx="18780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6" name="Object 5"/>
          <p:cNvGraphicFramePr>
            <a:graphicFrameLocks noChangeAspect="1"/>
          </p:cNvGraphicFramePr>
          <p:nvPr/>
        </p:nvGraphicFramePr>
        <p:xfrm>
          <a:off x="3730625" y="5707063"/>
          <a:ext cx="29225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07532" imgH="203112" progId="Equation.3">
                  <p:embed/>
                </p:oleObj>
              </mc:Choice>
              <mc:Fallback>
                <p:oleObj name="Equation" r:id="rId14" imgW="1307532" imgH="203112" progId="Equation.3">
                  <p:embed/>
                  <p:pic>
                    <p:nvPicPr>
                      <p:cNvPr id="5530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625" y="5707063"/>
                        <a:ext cx="29225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10" y="230909"/>
            <a:ext cx="6929437" cy="500062"/>
          </a:xfrm>
        </p:spPr>
        <p:txBody>
          <a:bodyPr/>
          <a:lstStyle/>
          <a:p>
            <a:r>
              <a:rPr lang="en-US" sz="2400" dirty="0"/>
              <a:t>Gaussian Elimination for Inverse Matrix (optional)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64572-1815-4F87-AC72-B05098A0BD84}" type="slidenum">
              <a:rPr lang="en-SG" altLang="en-US" smtClean="0"/>
              <a:pPr/>
              <a:t>41</a:t>
            </a:fld>
            <a:endParaRPr lang="en-SG" altLang="en-US" dirty="0"/>
          </a:p>
        </p:txBody>
      </p:sp>
      <p:pic>
        <p:nvPicPr>
          <p:cNvPr id="125954" name="Picture 2" descr="Image result for gaussian elimination for inverse matrix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81" b="13842"/>
          <a:stretch/>
        </p:blipFill>
        <p:spPr bwMode="auto">
          <a:xfrm>
            <a:off x="360000" y="1357745"/>
            <a:ext cx="8533656" cy="4747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4205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Verdana" panose="020B0604030504040204" pitchFamily="34" charset="0"/>
              <a:defRPr sz="27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28448794" indent="-28105894"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Verdana" panose="020B0604030504040204" pitchFamily="34" charset="0"/>
              <a:buChar char="•"/>
              <a:defRPr sz="21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263129" indent="-125016"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Verdana" panose="020B0604030504040204" pitchFamily="34" charset="0"/>
              <a:buChar char="•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406004" indent="-141685"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541735" indent="-134541"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○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884635" indent="-13454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○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1227535" indent="-13454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○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1570435" indent="-13454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○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1913335" indent="-13454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○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lnSpc>
                <a:spcPct val="100000"/>
              </a:lnSpc>
              <a:spcAft>
                <a:spcPct val="0"/>
              </a:spcAft>
              <a:buSzTx/>
            </a:pPr>
            <a:r>
              <a:rPr lang="en-GB" altLang="en-US" sz="675">
                <a:solidFill>
                  <a:prstClr val="white"/>
                </a:solidFill>
              </a:rPr>
              <a:t>7.4-</a:t>
            </a:r>
            <a:fld id="{59558BD1-33A7-44A3-8B5C-E4972075BF50}" type="slidenum">
              <a:rPr lang="en-GB" altLang="en-US" sz="675">
                <a:solidFill>
                  <a:prstClr val="white"/>
                </a:solidFill>
              </a:rPr>
              <a:pPr eaLnBrk="1" fontAlgn="base" hangingPunct="1">
                <a:lnSpc>
                  <a:spcPct val="100000"/>
                </a:lnSpc>
                <a:spcAft>
                  <a:spcPct val="0"/>
                </a:spcAft>
                <a:buSzTx/>
              </a:pPr>
              <a:t>42</a:t>
            </a:fld>
            <a:r>
              <a:rPr lang="en-GB" altLang="en-US" sz="675">
                <a:solidFill>
                  <a:prstClr val="white"/>
                </a:solidFill>
              </a:rPr>
              <a:t> </a:t>
            </a:r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7651" y="0"/>
            <a:ext cx="6831806" cy="675085"/>
          </a:xfrm>
        </p:spPr>
        <p:txBody>
          <a:bodyPr/>
          <a:lstStyle/>
          <a:p>
            <a:r>
              <a:rPr lang="en-US" altLang="en-US" dirty="0"/>
              <a:t>Inconsistent Systems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72927" y="1279744"/>
            <a:ext cx="8604818" cy="302895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An </a:t>
            </a:r>
            <a:r>
              <a:rPr lang="en-US" altLang="en-US" i="1" dirty="0"/>
              <a:t>inconsistent system</a:t>
            </a:r>
            <a:r>
              <a:rPr lang="en-US" altLang="en-US" dirty="0"/>
              <a:t> occurs when, after obtaining an augmented matrix, one row of numbers on the left side of the vertical line are all </a:t>
            </a:r>
            <a:r>
              <a:rPr lang="en-US" altLang="en-US" dirty="0" err="1"/>
              <a:t>zeros</a:t>
            </a:r>
            <a:r>
              <a:rPr lang="en-US" altLang="en-US" dirty="0"/>
              <a:t> but a zero does not appear in the same row on the right side of the vertical line. </a:t>
            </a:r>
          </a:p>
          <a:p>
            <a:pPr marL="0" indent="1191">
              <a:lnSpc>
                <a:spcPct val="90000"/>
              </a:lnSpc>
            </a:pPr>
            <a:endParaRPr lang="en-US" altLang="en-US" dirty="0"/>
          </a:p>
          <a:p>
            <a:pPr marL="0" lvl="1" indent="1191">
              <a:lnSpc>
                <a:spcPct val="90000"/>
              </a:lnSpc>
              <a:buNone/>
            </a:pPr>
            <a:r>
              <a:rPr lang="en-US" altLang="en-US" dirty="0"/>
              <a:t>This indicates that the system has no solution.</a:t>
            </a: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905638" y="4913353"/>
            <a:ext cx="4252913" cy="1104900"/>
            <a:chOff x="3098800" y="4800600"/>
            <a:chExt cx="5670624" cy="1473200"/>
          </a:xfrm>
        </p:grpSpPr>
        <p:graphicFrame>
          <p:nvGraphicFramePr>
            <p:cNvPr id="95238" name="Object 2"/>
            <p:cNvGraphicFramePr>
              <a:graphicFrameLocks noChangeAspect="1"/>
            </p:cNvGraphicFramePr>
            <p:nvPr/>
          </p:nvGraphicFramePr>
          <p:xfrm>
            <a:off x="3098800" y="4800600"/>
            <a:ext cx="2781300" cy="147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781300" imgH="1473200" progId="Equation.DSMT4">
                    <p:embed/>
                  </p:oleObj>
                </mc:Choice>
                <mc:Fallback>
                  <p:oleObj name="Equation" r:id="rId3" imgW="2781300" imgH="1473200" progId="Equation.DSMT4">
                    <p:embed/>
                    <p:pic>
                      <p:nvPicPr>
                        <p:cNvPr id="95238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8800" y="4800600"/>
                          <a:ext cx="2781300" cy="147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2"/>
            <p:cNvSpPr txBox="1">
              <a:spLocks noChangeArrowheads="1"/>
            </p:cNvSpPr>
            <p:nvPr/>
          </p:nvSpPr>
          <p:spPr bwMode="auto">
            <a:xfrm>
              <a:off x="6105564" y="5373688"/>
              <a:ext cx="2663860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algn="l" rtl="0" eaLnBrk="0" fontAlgn="base" hangingPunct="0">
                <a:spcBef>
                  <a:spcPct val="40000"/>
                </a:spcBef>
                <a:spcAft>
                  <a:spcPct val="0"/>
                </a:spcAft>
                <a:defRPr sz="4200" b="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l" rtl="0" eaLnBrk="0" fontAlgn="base" hangingPunct="0">
                <a:spcBef>
                  <a:spcPct val="40000"/>
                </a:spcBef>
                <a:spcAft>
                  <a:spcPct val="0"/>
                </a:spcAft>
                <a:defRPr sz="4800" b="1">
                  <a:solidFill>
                    <a:schemeClr val="tx2"/>
                  </a:solidFill>
                  <a:latin typeface="Verdana" charset="0"/>
                  <a:ea typeface="Arial" charset="0"/>
                  <a:cs typeface="Arial" charset="0"/>
                </a:defRPr>
              </a:lvl2pPr>
              <a:lvl3pPr algn="l" rtl="0" eaLnBrk="0" fontAlgn="base" hangingPunct="0">
                <a:spcBef>
                  <a:spcPct val="40000"/>
                </a:spcBef>
                <a:spcAft>
                  <a:spcPct val="0"/>
                </a:spcAft>
                <a:defRPr sz="4800" b="1">
                  <a:solidFill>
                    <a:schemeClr val="tx2"/>
                  </a:solidFill>
                  <a:latin typeface="Verdana" charset="0"/>
                  <a:ea typeface="Arial" charset="0"/>
                  <a:cs typeface="Arial" charset="0"/>
                </a:defRPr>
              </a:lvl3pPr>
              <a:lvl4pPr algn="l" rtl="0" eaLnBrk="0" fontAlgn="base" hangingPunct="0">
                <a:spcBef>
                  <a:spcPct val="40000"/>
                </a:spcBef>
                <a:spcAft>
                  <a:spcPct val="0"/>
                </a:spcAft>
                <a:defRPr sz="4800" b="1">
                  <a:solidFill>
                    <a:schemeClr val="tx2"/>
                  </a:solidFill>
                  <a:latin typeface="Verdana" charset="0"/>
                  <a:ea typeface="Arial" charset="0"/>
                  <a:cs typeface="Arial" charset="0"/>
                </a:defRPr>
              </a:lvl4pPr>
              <a:lvl5pPr algn="l" rtl="0" eaLnBrk="0" fontAlgn="base" hangingPunct="0">
                <a:spcBef>
                  <a:spcPct val="40000"/>
                </a:spcBef>
                <a:spcAft>
                  <a:spcPct val="0"/>
                </a:spcAft>
                <a:defRPr sz="4800" b="1">
                  <a:solidFill>
                    <a:schemeClr val="tx2"/>
                  </a:solidFill>
                  <a:latin typeface="Verdana" charset="0"/>
                  <a:ea typeface="Arial" charset="0"/>
                  <a:cs typeface="Arial" charset="0"/>
                </a:defRPr>
              </a:lvl5pPr>
              <a:lvl6pPr marL="457200" algn="l" rtl="0" fontAlgn="base">
                <a:spcBef>
                  <a:spcPct val="4000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Verdana" charset="0"/>
                  <a:ea typeface="Arial" charset="0"/>
                  <a:cs typeface="Arial" charset="0"/>
                </a:defRPr>
              </a:lvl6pPr>
              <a:lvl7pPr marL="914400" algn="l" rtl="0" fontAlgn="base">
                <a:spcBef>
                  <a:spcPct val="4000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Verdana" charset="0"/>
                  <a:ea typeface="Arial" charset="0"/>
                  <a:cs typeface="Arial" charset="0"/>
                </a:defRPr>
              </a:lvl7pPr>
              <a:lvl8pPr marL="1371600" algn="l" rtl="0" fontAlgn="base">
                <a:spcBef>
                  <a:spcPct val="4000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Verdana" charset="0"/>
                  <a:ea typeface="Arial" charset="0"/>
                  <a:cs typeface="Arial" charset="0"/>
                </a:defRPr>
              </a:lvl8pPr>
              <a:lvl9pPr marL="1828800" algn="l" rtl="0" fontAlgn="base">
                <a:spcBef>
                  <a:spcPct val="4000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Verdana" charset="0"/>
                  <a:ea typeface="Arial" charset="0"/>
                  <a:cs typeface="Arial" charset="0"/>
                </a:defRPr>
              </a:lvl9pPr>
            </a:lstStyle>
            <a:p>
              <a:pPr>
                <a:defRPr/>
              </a:pPr>
              <a:r>
                <a:rPr lang="en-US" altLang="en-US" sz="1350" kern="0" dirty="0">
                  <a:solidFill>
                    <a:srgbClr val="00B0F0"/>
                  </a:solidFill>
                  <a:latin typeface="Calibri"/>
                </a:rPr>
                <a:t>Inconsistent Systems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897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310" y="212682"/>
            <a:ext cx="8408377" cy="83087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System with No Solution</a:t>
            </a:r>
            <a:endParaRPr lang="en-US" altLang="en-US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44249" y="1126051"/>
            <a:ext cx="3925766" cy="364590"/>
          </a:xfrm>
          <a:prstGeom prst="rect">
            <a:avLst/>
          </a:prstGeom>
        </p:spPr>
        <p:txBody>
          <a:bodyPr/>
          <a:lstStyle/>
          <a:p>
            <a:pPr marL="0" lvl="1" indent="1466">
              <a:lnSpc>
                <a:spcPct val="90000"/>
              </a:lnSpc>
              <a:buNone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Systems of Equations</a:t>
            </a:r>
          </a:p>
          <a:p>
            <a:pPr marL="0" lvl="4" indent="1466">
              <a:lnSpc>
                <a:spcPct val="90000"/>
              </a:lnSpc>
              <a:buNone/>
            </a:pPr>
            <a:r>
              <a:rPr lang="en-US" altLang="en-US" sz="3323" dirty="0"/>
              <a:t>	</a:t>
            </a:r>
          </a:p>
          <a:p>
            <a:pPr marL="0" lvl="1" indent="1466">
              <a:lnSpc>
                <a:spcPct val="90000"/>
              </a:lnSpc>
              <a:buNone/>
            </a:pPr>
            <a:r>
              <a:rPr lang="en-US" altLang="en-US" sz="3323" dirty="0"/>
              <a:t>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268897" y="1200536"/>
            <a:ext cx="3108601" cy="496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lvl="1" indent="1466" defTabSz="791327">
              <a:lnSpc>
                <a:spcPct val="90000"/>
              </a:lnSpc>
              <a:buSzPct val="80000"/>
              <a:defRPr/>
            </a:pPr>
            <a:r>
              <a:rPr lang="en-US" b="1" dirty="0"/>
              <a:t>Augmented Matrix</a:t>
            </a:r>
            <a:r>
              <a:rPr lang="en-US" kern="0" dirty="0"/>
              <a:t>	</a:t>
            </a:r>
            <a:r>
              <a:rPr lang="en-US" sz="1800" kern="0" dirty="0"/>
              <a:t>	</a:t>
            </a:r>
          </a:p>
          <a:p>
            <a:pPr marL="0" lvl="1" indent="1466" defTabSz="791327">
              <a:lnSpc>
                <a:spcPct val="90000"/>
              </a:lnSpc>
              <a:buSzPct val="80000"/>
              <a:defRPr/>
            </a:pPr>
            <a:r>
              <a:rPr lang="en-US" sz="3323" kern="0" dirty="0">
                <a:latin typeface="+mn-lt"/>
                <a:cs typeface="+mn-cs"/>
              </a:rPr>
              <a:t>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174531" y="1890714"/>
            <a:ext cx="2233688" cy="1665286"/>
            <a:chOff x="1292717" y="1614663"/>
            <a:chExt cx="1212928" cy="1052511"/>
          </a:xfrm>
        </p:grpSpPr>
        <p:graphicFrame>
          <p:nvGraphicFramePr>
            <p:cNvPr id="15" name="Object 5"/>
            <p:cNvGraphicFramePr>
              <a:graphicFrameLocks noChangeAspect="1"/>
            </p:cNvGraphicFramePr>
            <p:nvPr/>
          </p:nvGraphicFramePr>
          <p:xfrm>
            <a:off x="1492820" y="1614663"/>
            <a:ext cx="1009650" cy="237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863280" imgH="203040" progId="Equation.DSMT4">
                    <p:embed/>
                  </p:oleObj>
                </mc:Choice>
                <mc:Fallback>
                  <p:oleObj name="Equation" r:id="rId3" imgW="863280" imgH="203040" progId="Equation.DSMT4">
                    <p:embed/>
                    <p:pic>
                      <p:nvPicPr>
                        <p:cNvPr id="1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2820" y="1614663"/>
                          <a:ext cx="1009650" cy="237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5"/>
            <p:cNvGraphicFramePr>
              <a:graphicFrameLocks noChangeAspect="1"/>
            </p:cNvGraphicFramePr>
            <p:nvPr/>
          </p:nvGraphicFramePr>
          <p:xfrm>
            <a:off x="1333992" y="2016300"/>
            <a:ext cx="1139903" cy="230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002960" imgH="203040" progId="Equation.DSMT4">
                    <p:embed/>
                  </p:oleObj>
                </mc:Choice>
                <mc:Fallback>
                  <p:oleObj name="Equation" r:id="rId5" imgW="1002960" imgH="203040" progId="Equation.DSMT4">
                    <p:embed/>
                    <p:pic>
                      <p:nvPicPr>
                        <p:cNvPr id="1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3992" y="2016300"/>
                          <a:ext cx="1139903" cy="230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5"/>
            <p:cNvGraphicFramePr>
              <a:graphicFrameLocks noChangeAspect="1"/>
            </p:cNvGraphicFramePr>
            <p:nvPr/>
          </p:nvGraphicFramePr>
          <p:xfrm>
            <a:off x="1292717" y="2436404"/>
            <a:ext cx="1212928" cy="230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66680" imgH="203040" progId="Equation.DSMT4">
                    <p:embed/>
                  </p:oleObj>
                </mc:Choice>
                <mc:Fallback>
                  <p:oleObj name="Equation" r:id="rId7" imgW="1066680" imgH="203040" progId="Equation.DSMT4">
                    <p:embed/>
                    <p:pic>
                      <p:nvPicPr>
                        <p:cNvPr id="1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717" y="2436404"/>
                          <a:ext cx="1212928" cy="2307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5268897" y="1890714"/>
          <a:ext cx="258603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55600" imgH="711000" progId="Equation.DSMT4">
                  <p:embed/>
                </p:oleObj>
              </mc:Choice>
              <mc:Fallback>
                <p:oleObj name="Equation" r:id="rId9" imgW="1155600" imgH="711000" progId="Equation.DSMT4">
                  <p:embed/>
                  <p:pic>
                    <p:nvPicPr>
                      <p:cNvPr id="1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897" y="1890714"/>
                        <a:ext cx="258603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055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310" y="212682"/>
            <a:ext cx="8408377" cy="83087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System with No Solution</a:t>
            </a:r>
            <a:endParaRPr lang="en-US" altLang="en-US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44249" y="1126051"/>
            <a:ext cx="3925766" cy="364590"/>
          </a:xfrm>
          <a:prstGeom prst="rect">
            <a:avLst/>
          </a:prstGeom>
        </p:spPr>
        <p:txBody>
          <a:bodyPr/>
          <a:lstStyle/>
          <a:p>
            <a:pPr marL="0" lvl="1" indent="1466">
              <a:lnSpc>
                <a:spcPct val="90000"/>
              </a:lnSpc>
              <a:buNone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Systems of Equations</a:t>
            </a:r>
          </a:p>
          <a:p>
            <a:pPr marL="0" lvl="4" indent="1466">
              <a:lnSpc>
                <a:spcPct val="90000"/>
              </a:lnSpc>
              <a:buNone/>
            </a:pPr>
            <a:r>
              <a:rPr lang="en-US" altLang="en-US" sz="3323" dirty="0"/>
              <a:t>	</a:t>
            </a:r>
          </a:p>
          <a:p>
            <a:pPr marL="0" lvl="1" indent="1466">
              <a:lnSpc>
                <a:spcPct val="90000"/>
              </a:lnSpc>
              <a:buNone/>
            </a:pPr>
            <a:r>
              <a:rPr lang="en-US" altLang="en-US" sz="3323" dirty="0"/>
              <a:t>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268897" y="1200536"/>
            <a:ext cx="3108601" cy="496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lvl="1" indent="1466" defTabSz="791327">
              <a:lnSpc>
                <a:spcPct val="90000"/>
              </a:lnSpc>
              <a:buSzPct val="80000"/>
              <a:defRPr/>
            </a:pPr>
            <a:r>
              <a:rPr lang="en-US" b="1" dirty="0"/>
              <a:t>Augmented Matrix</a:t>
            </a:r>
            <a:r>
              <a:rPr lang="en-US" kern="0" dirty="0"/>
              <a:t>	</a:t>
            </a:r>
            <a:r>
              <a:rPr lang="en-US" sz="1800" kern="0" dirty="0"/>
              <a:t>	</a:t>
            </a:r>
          </a:p>
          <a:p>
            <a:pPr marL="0" lvl="1" indent="1466" defTabSz="791327">
              <a:lnSpc>
                <a:spcPct val="90000"/>
              </a:lnSpc>
              <a:buSzPct val="80000"/>
              <a:defRPr/>
            </a:pPr>
            <a:r>
              <a:rPr lang="en-US" sz="3323" kern="0" dirty="0">
                <a:latin typeface="+mn-lt"/>
                <a:cs typeface="+mn-cs"/>
              </a:rPr>
              <a:t>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174531" y="1890714"/>
            <a:ext cx="2233688" cy="1665286"/>
            <a:chOff x="1292717" y="1614663"/>
            <a:chExt cx="1212928" cy="1052511"/>
          </a:xfrm>
        </p:grpSpPr>
        <p:graphicFrame>
          <p:nvGraphicFramePr>
            <p:cNvPr id="15" name="Object 5"/>
            <p:cNvGraphicFramePr>
              <a:graphicFrameLocks noChangeAspect="1"/>
            </p:cNvGraphicFramePr>
            <p:nvPr/>
          </p:nvGraphicFramePr>
          <p:xfrm>
            <a:off x="1492820" y="1614663"/>
            <a:ext cx="1009650" cy="237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863280" imgH="203040" progId="Equation.DSMT4">
                    <p:embed/>
                  </p:oleObj>
                </mc:Choice>
                <mc:Fallback>
                  <p:oleObj name="Equation" r:id="rId3" imgW="863280" imgH="203040" progId="Equation.DSMT4">
                    <p:embed/>
                    <p:pic>
                      <p:nvPicPr>
                        <p:cNvPr id="1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2820" y="1614663"/>
                          <a:ext cx="1009650" cy="237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5"/>
            <p:cNvGraphicFramePr>
              <a:graphicFrameLocks noChangeAspect="1"/>
            </p:cNvGraphicFramePr>
            <p:nvPr/>
          </p:nvGraphicFramePr>
          <p:xfrm>
            <a:off x="1333992" y="2016300"/>
            <a:ext cx="1139903" cy="230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002960" imgH="203040" progId="Equation.DSMT4">
                    <p:embed/>
                  </p:oleObj>
                </mc:Choice>
                <mc:Fallback>
                  <p:oleObj name="Equation" r:id="rId5" imgW="1002960" imgH="203040" progId="Equation.DSMT4">
                    <p:embed/>
                    <p:pic>
                      <p:nvPicPr>
                        <p:cNvPr id="1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3992" y="2016300"/>
                          <a:ext cx="1139903" cy="230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5"/>
            <p:cNvGraphicFramePr>
              <a:graphicFrameLocks noChangeAspect="1"/>
            </p:cNvGraphicFramePr>
            <p:nvPr/>
          </p:nvGraphicFramePr>
          <p:xfrm>
            <a:off x="1292717" y="2436404"/>
            <a:ext cx="1212928" cy="230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66680" imgH="203040" progId="Equation.DSMT4">
                    <p:embed/>
                  </p:oleObj>
                </mc:Choice>
                <mc:Fallback>
                  <p:oleObj name="Equation" r:id="rId7" imgW="1066680" imgH="203040" progId="Equation.DSMT4">
                    <p:embed/>
                    <p:pic>
                      <p:nvPicPr>
                        <p:cNvPr id="1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717" y="2436404"/>
                          <a:ext cx="1212928" cy="2307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5268897" y="1890714"/>
          <a:ext cx="258603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55600" imgH="711000" progId="Equation.DSMT4">
                  <p:embed/>
                </p:oleObj>
              </mc:Choice>
              <mc:Fallback>
                <p:oleObj name="Equation" r:id="rId9" imgW="1155600" imgH="711000" progId="Equation.DSMT4">
                  <p:embed/>
                  <p:pic>
                    <p:nvPicPr>
                      <p:cNvPr id="1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897" y="1890714"/>
                        <a:ext cx="258603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3290888" y="4391025"/>
          <a:ext cx="275748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31560" imgH="711000" progId="Equation.DSMT4">
                  <p:embed/>
                </p:oleObj>
              </mc:Choice>
              <mc:Fallback>
                <p:oleObj name="Equation" r:id="rId11" imgW="1231560" imgH="711000" progId="Equation.DSMT4">
                  <p:embed/>
                  <p:pic>
                    <p:nvPicPr>
                      <p:cNvPr id="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8" y="4391025"/>
                        <a:ext cx="275748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379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Verdana" panose="020B0604030504040204" pitchFamily="34" charset="0"/>
              <a:defRPr sz="27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28448794" indent="-28105894"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Verdana" panose="020B0604030504040204" pitchFamily="34" charset="0"/>
              <a:buChar char="•"/>
              <a:defRPr sz="21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263129" indent="-125016"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Verdana" panose="020B0604030504040204" pitchFamily="34" charset="0"/>
              <a:buChar char="•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406004" indent="-141685"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541735" indent="-134541" eaLnBrk="0" hangingPunct="0">
              <a:lnSpc>
                <a:spcPct val="12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○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884635" indent="-13454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○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1227535" indent="-13454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○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1570435" indent="-13454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○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1913335" indent="-13454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○"/>
              <a:defRPr sz="15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lnSpc>
                <a:spcPct val="100000"/>
              </a:lnSpc>
              <a:spcAft>
                <a:spcPct val="0"/>
              </a:spcAft>
              <a:buSzTx/>
            </a:pPr>
            <a:r>
              <a:rPr lang="en-GB" altLang="en-US" sz="675">
                <a:solidFill>
                  <a:prstClr val="white"/>
                </a:solidFill>
              </a:rPr>
              <a:t>7.4-</a:t>
            </a:r>
            <a:fld id="{96E4366B-8A20-4BA1-A317-86D702161EB8}" type="slidenum">
              <a:rPr lang="en-GB" altLang="en-US" sz="675">
                <a:solidFill>
                  <a:prstClr val="white"/>
                </a:solidFill>
              </a:rPr>
              <a:pPr eaLnBrk="1" fontAlgn="base" hangingPunct="1">
                <a:lnSpc>
                  <a:spcPct val="100000"/>
                </a:lnSpc>
                <a:spcAft>
                  <a:spcPct val="0"/>
                </a:spcAft>
                <a:buSzTx/>
              </a:pPr>
              <a:t>45</a:t>
            </a:fld>
            <a:r>
              <a:rPr lang="en-GB" altLang="en-US" sz="675">
                <a:solidFill>
                  <a:prstClr val="white"/>
                </a:solidFill>
              </a:rPr>
              <a:t> </a:t>
            </a:r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93833" y="165498"/>
            <a:ext cx="6831806" cy="675084"/>
          </a:xfrm>
        </p:spPr>
        <p:txBody>
          <a:bodyPr/>
          <a:lstStyle/>
          <a:p>
            <a:r>
              <a:rPr lang="en-US" altLang="en-US" dirty="0"/>
              <a:t>Dependent Systems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799" y="1273969"/>
            <a:ext cx="8760473" cy="3412331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2400" dirty="0"/>
              <a:t>If a matrix is obtained and a 0 appears across an entire row, the system of equations is dependent.</a:t>
            </a: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453626" y="2562641"/>
            <a:ext cx="4099574" cy="806292"/>
            <a:chOff x="2971800" y="3632200"/>
            <a:chExt cx="6601010" cy="1473200"/>
          </a:xfrm>
        </p:grpSpPr>
        <p:graphicFrame>
          <p:nvGraphicFramePr>
            <p:cNvPr id="96262" name="Object 2"/>
            <p:cNvGraphicFramePr>
              <a:graphicFrameLocks noChangeAspect="1"/>
            </p:cNvGraphicFramePr>
            <p:nvPr/>
          </p:nvGraphicFramePr>
          <p:xfrm>
            <a:off x="2971800" y="3632200"/>
            <a:ext cx="3035300" cy="147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035300" imgH="1473200" progId="Equation.DSMT4">
                    <p:embed/>
                  </p:oleObj>
                </mc:Choice>
                <mc:Fallback>
                  <p:oleObj name="Equation" r:id="rId3" imgW="3035300" imgH="1473200" progId="Equation.DSMT4">
                    <p:embed/>
                    <p:pic>
                      <p:nvPicPr>
                        <p:cNvPr id="96262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800" y="3632200"/>
                          <a:ext cx="3035300" cy="147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2"/>
            <p:cNvSpPr txBox="1">
              <a:spLocks noChangeArrowheads="1"/>
            </p:cNvSpPr>
            <p:nvPr/>
          </p:nvSpPr>
          <p:spPr bwMode="auto">
            <a:xfrm>
              <a:off x="6537509" y="4076700"/>
              <a:ext cx="3035301" cy="643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algn="l" rtl="0" eaLnBrk="0" fontAlgn="base" hangingPunct="0">
                <a:spcBef>
                  <a:spcPct val="40000"/>
                </a:spcBef>
                <a:spcAft>
                  <a:spcPct val="0"/>
                </a:spcAft>
                <a:defRPr sz="4200" b="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l" rtl="0" eaLnBrk="0" fontAlgn="base" hangingPunct="0">
                <a:spcBef>
                  <a:spcPct val="40000"/>
                </a:spcBef>
                <a:spcAft>
                  <a:spcPct val="0"/>
                </a:spcAft>
                <a:defRPr sz="4800" b="1">
                  <a:solidFill>
                    <a:schemeClr val="tx2"/>
                  </a:solidFill>
                  <a:latin typeface="Verdana" charset="0"/>
                  <a:ea typeface="Arial" charset="0"/>
                  <a:cs typeface="Arial" charset="0"/>
                </a:defRPr>
              </a:lvl2pPr>
              <a:lvl3pPr algn="l" rtl="0" eaLnBrk="0" fontAlgn="base" hangingPunct="0">
                <a:spcBef>
                  <a:spcPct val="40000"/>
                </a:spcBef>
                <a:spcAft>
                  <a:spcPct val="0"/>
                </a:spcAft>
                <a:defRPr sz="4800" b="1">
                  <a:solidFill>
                    <a:schemeClr val="tx2"/>
                  </a:solidFill>
                  <a:latin typeface="Verdana" charset="0"/>
                  <a:ea typeface="Arial" charset="0"/>
                  <a:cs typeface="Arial" charset="0"/>
                </a:defRPr>
              </a:lvl3pPr>
              <a:lvl4pPr algn="l" rtl="0" eaLnBrk="0" fontAlgn="base" hangingPunct="0">
                <a:spcBef>
                  <a:spcPct val="40000"/>
                </a:spcBef>
                <a:spcAft>
                  <a:spcPct val="0"/>
                </a:spcAft>
                <a:defRPr sz="4800" b="1">
                  <a:solidFill>
                    <a:schemeClr val="tx2"/>
                  </a:solidFill>
                  <a:latin typeface="Verdana" charset="0"/>
                  <a:ea typeface="Arial" charset="0"/>
                  <a:cs typeface="Arial" charset="0"/>
                </a:defRPr>
              </a:lvl4pPr>
              <a:lvl5pPr algn="l" rtl="0" eaLnBrk="0" fontAlgn="base" hangingPunct="0">
                <a:spcBef>
                  <a:spcPct val="40000"/>
                </a:spcBef>
                <a:spcAft>
                  <a:spcPct val="0"/>
                </a:spcAft>
                <a:defRPr sz="4800" b="1">
                  <a:solidFill>
                    <a:schemeClr val="tx2"/>
                  </a:solidFill>
                  <a:latin typeface="Verdana" charset="0"/>
                  <a:ea typeface="Arial" charset="0"/>
                  <a:cs typeface="Arial" charset="0"/>
                </a:defRPr>
              </a:lvl5pPr>
              <a:lvl6pPr marL="457200" algn="l" rtl="0" fontAlgn="base">
                <a:spcBef>
                  <a:spcPct val="4000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Verdana" charset="0"/>
                  <a:ea typeface="Arial" charset="0"/>
                  <a:cs typeface="Arial" charset="0"/>
                </a:defRPr>
              </a:lvl6pPr>
              <a:lvl7pPr marL="914400" algn="l" rtl="0" fontAlgn="base">
                <a:spcBef>
                  <a:spcPct val="4000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Verdana" charset="0"/>
                  <a:ea typeface="Arial" charset="0"/>
                  <a:cs typeface="Arial" charset="0"/>
                </a:defRPr>
              </a:lvl7pPr>
              <a:lvl8pPr marL="1371600" algn="l" rtl="0" fontAlgn="base">
                <a:spcBef>
                  <a:spcPct val="4000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Verdana" charset="0"/>
                  <a:ea typeface="Arial" charset="0"/>
                  <a:cs typeface="Arial" charset="0"/>
                </a:defRPr>
              </a:lvl8pPr>
              <a:lvl9pPr marL="1828800" algn="l" rtl="0" fontAlgn="base">
                <a:spcBef>
                  <a:spcPct val="4000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Verdana" charset="0"/>
                  <a:ea typeface="Arial" charset="0"/>
                  <a:cs typeface="Arial" charset="0"/>
                </a:defRPr>
              </a:lvl9pPr>
            </a:lstStyle>
            <a:p>
              <a:pPr>
                <a:defRPr/>
              </a:pPr>
              <a:r>
                <a:rPr lang="en-US" altLang="en-US" sz="2400" kern="0" dirty="0">
                  <a:solidFill>
                    <a:srgbClr val="00B0F0"/>
                  </a:solidFill>
                  <a:latin typeface="Calibri"/>
                </a:rPr>
                <a:t>Dependent Systems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D7841FC-7EAB-A9FF-A242-9B365E80AFEC}"/>
              </a:ext>
            </a:extLst>
          </p:cNvPr>
          <p:cNvSpPr txBox="1"/>
          <p:nvPr/>
        </p:nvSpPr>
        <p:spPr>
          <a:xfrm>
            <a:off x="327039" y="3700155"/>
            <a:ext cx="80619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If there are </a:t>
            </a:r>
            <a:r>
              <a:rPr lang="en-US" sz="2400" dirty="0">
                <a:solidFill>
                  <a:srgbClr val="0000FF"/>
                </a:solidFill>
                <a:latin typeface="+mj-lt"/>
              </a:rPr>
              <a:t>no rows with all zeros</a:t>
            </a:r>
            <a:r>
              <a:rPr lang="en-US" sz="2400" dirty="0">
                <a:latin typeface="+mj-lt"/>
              </a:rPr>
              <a:t> in the coefficient matrix, then all equations (rows) in the SLE are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linearly independent</a:t>
            </a:r>
          </a:p>
          <a:p>
            <a:endParaRPr lang="en-US" sz="2400" dirty="0">
              <a:solidFill>
                <a:srgbClr val="FF0000"/>
              </a:solidFill>
              <a:latin typeface="+mj-lt"/>
            </a:endParaRPr>
          </a:p>
          <a:p>
            <a:r>
              <a:rPr lang="en" sz="2400" dirty="0">
                <a:latin typeface="+mj-lt"/>
              </a:rPr>
              <a:t>A </a:t>
            </a:r>
            <a:r>
              <a:rPr lang="en" sz="2400" dirty="0">
                <a:solidFill>
                  <a:srgbClr val="0000FF"/>
                </a:solidFill>
                <a:latin typeface="+mj-lt"/>
              </a:rPr>
              <a:t>unique solution</a:t>
            </a:r>
            <a:r>
              <a:rPr lang="en" sz="2400" dirty="0">
                <a:latin typeface="+mj-lt"/>
              </a:rPr>
              <a:t> occurs when all equations (rows) in the SLE are </a:t>
            </a:r>
            <a:r>
              <a:rPr lang="en" sz="2400" dirty="0">
                <a:solidFill>
                  <a:srgbClr val="FF0000"/>
                </a:solidFill>
                <a:latin typeface="+mj-lt"/>
              </a:rPr>
              <a:t>linearly independent</a:t>
            </a:r>
            <a:r>
              <a:rPr lang="en" sz="2400" dirty="0">
                <a:latin typeface="+mj-lt"/>
              </a:rPr>
              <a:t>, which means any one equation (row) </a:t>
            </a:r>
            <a:r>
              <a:rPr lang="en" sz="2400" dirty="0">
                <a:solidFill>
                  <a:srgbClr val="0000FF"/>
                </a:solidFill>
                <a:latin typeface="+mj-lt"/>
              </a:rPr>
              <a:t>cannot be expressed as a linear combination</a:t>
            </a:r>
            <a:r>
              <a:rPr lang="en" sz="2400" dirty="0">
                <a:latin typeface="+mj-lt"/>
              </a:rPr>
              <a:t> of the other equations</a:t>
            </a:r>
            <a:endParaRPr lang="en-SG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90975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310" y="212682"/>
            <a:ext cx="8408377" cy="83087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System with Infinite Number of Solutions</a:t>
            </a:r>
            <a:endParaRPr lang="en-US" altLang="en-US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44249" y="1126051"/>
            <a:ext cx="3925766" cy="364590"/>
          </a:xfrm>
          <a:prstGeom prst="rect">
            <a:avLst/>
          </a:prstGeom>
        </p:spPr>
        <p:txBody>
          <a:bodyPr/>
          <a:lstStyle/>
          <a:p>
            <a:pPr marL="0" lvl="1" indent="1466">
              <a:lnSpc>
                <a:spcPct val="90000"/>
              </a:lnSpc>
              <a:buNone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Systems of Equations</a:t>
            </a:r>
          </a:p>
          <a:p>
            <a:pPr marL="0" lvl="4" indent="1466">
              <a:lnSpc>
                <a:spcPct val="90000"/>
              </a:lnSpc>
              <a:buNone/>
            </a:pPr>
            <a:r>
              <a:rPr lang="en-US" altLang="en-US" sz="3323" dirty="0"/>
              <a:t>	</a:t>
            </a:r>
          </a:p>
          <a:p>
            <a:pPr marL="0" lvl="1" indent="1466">
              <a:lnSpc>
                <a:spcPct val="90000"/>
              </a:lnSpc>
              <a:buNone/>
            </a:pPr>
            <a:r>
              <a:rPr lang="en-US" altLang="en-US" sz="3323" dirty="0"/>
              <a:t>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268897" y="1200536"/>
            <a:ext cx="3108601" cy="496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lvl="1" indent="1466" defTabSz="791327">
              <a:lnSpc>
                <a:spcPct val="90000"/>
              </a:lnSpc>
              <a:buSzPct val="80000"/>
              <a:defRPr/>
            </a:pPr>
            <a:r>
              <a:rPr lang="en-US" b="1" dirty="0"/>
              <a:t>Augmented Matrix</a:t>
            </a:r>
            <a:r>
              <a:rPr lang="en-US" kern="0" dirty="0"/>
              <a:t>	</a:t>
            </a:r>
            <a:r>
              <a:rPr lang="en-US" sz="1800" kern="0" dirty="0"/>
              <a:t>	</a:t>
            </a:r>
          </a:p>
          <a:p>
            <a:pPr marL="0" lvl="1" indent="1466" defTabSz="791327">
              <a:lnSpc>
                <a:spcPct val="90000"/>
              </a:lnSpc>
              <a:buSzPct val="80000"/>
              <a:defRPr/>
            </a:pPr>
            <a:r>
              <a:rPr lang="en-US" sz="3323" kern="0" dirty="0">
                <a:latin typeface="+mn-lt"/>
                <a:cs typeface="+mn-cs"/>
              </a:rPr>
              <a:t>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241424" y="1890712"/>
            <a:ext cx="2324102" cy="1665286"/>
            <a:chOff x="1329041" y="1614662"/>
            <a:chExt cx="1262024" cy="1052511"/>
          </a:xfrm>
        </p:grpSpPr>
        <p:graphicFrame>
          <p:nvGraphicFramePr>
            <p:cNvPr id="15" name="Object 5"/>
            <p:cNvGraphicFramePr>
              <a:graphicFrameLocks noChangeAspect="1"/>
            </p:cNvGraphicFramePr>
            <p:nvPr/>
          </p:nvGraphicFramePr>
          <p:xfrm>
            <a:off x="1404039" y="1614662"/>
            <a:ext cx="1187026" cy="237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015920" imgH="203040" progId="Equation.DSMT4">
                    <p:embed/>
                  </p:oleObj>
                </mc:Choice>
                <mc:Fallback>
                  <p:oleObj name="Equation" r:id="rId3" imgW="1015920" imgH="203040" progId="Equation.DSMT4">
                    <p:embed/>
                    <p:pic>
                      <p:nvPicPr>
                        <p:cNvPr id="1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4039" y="1614662"/>
                          <a:ext cx="1187026" cy="2377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5"/>
            <p:cNvGraphicFramePr>
              <a:graphicFrameLocks noChangeAspect="1"/>
            </p:cNvGraphicFramePr>
            <p:nvPr/>
          </p:nvGraphicFramePr>
          <p:xfrm>
            <a:off x="1413521" y="2016001"/>
            <a:ext cx="980999" cy="230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863280" imgH="203040" progId="Equation.DSMT4">
                    <p:embed/>
                  </p:oleObj>
                </mc:Choice>
                <mc:Fallback>
                  <p:oleObj name="Equation" r:id="rId5" imgW="863280" imgH="203040" progId="Equation.DSMT4">
                    <p:embed/>
                    <p:pic>
                      <p:nvPicPr>
                        <p:cNvPr id="1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3521" y="2016001"/>
                          <a:ext cx="980999" cy="2307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5"/>
            <p:cNvGraphicFramePr>
              <a:graphicFrameLocks noChangeAspect="1"/>
            </p:cNvGraphicFramePr>
            <p:nvPr/>
          </p:nvGraphicFramePr>
          <p:xfrm>
            <a:off x="1329041" y="2436403"/>
            <a:ext cx="1140476" cy="230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02960" imgH="203040" progId="Equation.DSMT4">
                    <p:embed/>
                  </p:oleObj>
                </mc:Choice>
                <mc:Fallback>
                  <p:oleObj name="Equation" r:id="rId7" imgW="1002960" imgH="203040" progId="Equation.DSMT4">
                    <p:embed/>
                    <p:pic>
                      <p:nvPicPr>
                        <p:cNvPr id="1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9041" y="2436403"/>
                          <a:ext cx="1140476" cy="2307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5340350" y="1890713"/>
          <a:ext cx="244316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91880" imgH="711000" progId="Equation.DSMT4">
                  <p:embed/>
                </p:oleObj>
              </mc:Choice>
              <mc:Fallback>
                <p:oleObj name="Equation" r:id="rId9" imgW="1091880" imgH="711000" progId="Equation.DSMT4">
                  <p:embed/>
                  <p:pic>
                    <p:nvPicPr>
                      <p:cNvPr id="1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0350" y="1890713"/>
                        <a:ext cx="2443163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133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310" y="212682"/>
            <a:ext cx="8408377" cy="83087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System with Infinite Number of Solutions</a:t>
            </a:r>
            <a:endParaRPr lang="en-US" altLang="en-US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44249" y="1126051"/>
            <a:ext cx="3925766" cy="364590"/>
          </a:xfrm>
          <a:prstGeom prst="rect">
            <a:avLst/>
          </a:prstGeom>
        </p:spPr>
        <p:txBody>
          <a:bodyPr/>
          <a:lstStyle/>
          <a:p>
            <a:pPr marL="0" lvl="1" indent="1466">
              <a:lnSpc>
                <a:spcPct val="90000"/>
              </a:lnSpc>
              <a:buNone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Systems of Equations</a:t>
            </a:r>
          </a:p>
          <a:p>
            <a:pPr marL="0" lvl="4" indent="1466">
              <a:lnSpc>
                <a:spcPct val="90000"/>
              </a:lnSpc>
              <a:buNone/>
            </a:pPr>
            <a:r>
              <a:rPr lang="en-US" altLang="en-US" sz="3323" dirty="0"/>
              <a:t>	</a:t>
            </a:r>
          </a:p>
          <a:p>
            <a:pPr marL="0" lvl="1" indent="1466">
              <a:lnSpc>
                <a:spcPct val="90000"/>
              </a:lnSpc>
              <a:buNone/>
            </a:pPr>
            <a:r>
              <a:rPr lang="en-US" altLang="en-US" sz="3323" dirty="0"/>
              <a:t>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268897" y="1200536"/>
            <a:ext cx="3108601" cy="496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lvl="1" indent="1466" defTabSz="791327">
              <a:lnSpc>
                <a:spcPct val="90000"/>
              </a:lnSpc>
              <a:buSzPct val="80000"/>
              <a:defRPr/>
            </a:pPr>
            <a:r>
              <a:rPr lang="en-US" b="1" dirty="0"/>
              <a:t>Augmented Matrix</a:t>
            </a:r>
            <a:r>
              <a:rPr lang="en-US" kern="0" dirty="0"/>
              <a:t>	</a:t>
            </a:r>
            <a:r>
              <a:rPr lang="en-US" sz="1800" kern="0" dirty="0"/>
              <a:t>	</a:t>
            </a:r>
          </a:p>
          <a:p>
            <a:pPr marL="0" lvl="1" indent="1466" defTabSz="791327">
              <a:lnSpc>
                <a:spcPct val="90000"/>
              </a:lnSpc>
              <a:buSzPct val="80000"/>
              <a:defRPr/>
            </a:pPr>
            <a:r>
              <a:rPr lang="en-US" sz="3323" kern="0" dirty="0">
                <a:latin typeface="+mn-lt"/>
                <a:cs typeface="+mn-cs"/>
              </a:rPr>
              <a:t>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241424" y="1890712"/>
            <a:ext cx="2324102" cy="1665286"/>
            <a:chOff x="1329041" y="1614662"/>
            <a:chExt cx="1262024" cy="1052511"/>
          </a:xfrm>
        </p:grpSpPr>
        <p:graphicFrame>
          <p:nvGraphicFramePr>
            <p:cNvPr id="15" name="Object 5"/>
            <p:cNvGraphicFramePr>
              <a:graphicFrameLocks noChangeAspect="1"/>
            </p:cNvGraphicFramePr>
            <p:nvPr/>
          </p:nvGraphicFramePr>
          <p:xfrm>
            <a:off x="1404039" y="1614662"/>
            <a:ext cx="1187026" cy="237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015920" imgH="203040" progId="Equation.DSMT4">
                    <p:embed/>
                  </p:oleObj>
                </mc:Choice>
                <mc:Fallback>
                  <p:oleObj name="Equation" r:id="rId3" imgW="1015920" imgH="203040" progId="Equation.DSMT4">
                    <p:embed/>
                    <p:pic>
                      <p:nvPicPr>
                        <p:cNvPr id="1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4039" y="1614662"/>
                          <a:ext cx="1187026" cy="2377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5"/>
            <p:cNvGraphicFramePr>
              <a:graphicFrameLocks noChangeAspect="1"/>
            </p:cNvGraphicFramePr>
            <p:nvPr/>
          </p:nvGraphicFramePr>
          <p:xfrm>
            <a:off x="1413521" y="2016001"/>
            <a:ext cx="980999" cy="230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863280" imgH="203040" progId="Equation.DSMT4">
                    <p:embed/>
                  </p:oleObj>
                </mc:Choice>
                <mc:Fallback>
                  <p:oleObj name="Equation" r:id="rId5" imgW="863280" imgH="203040" progId="Equation.DSMT4">
                    <p:embed/>
                    <p:pic>
                      <p:nvPicPr>
                        <p:cNvPr id="1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3521" y="2016001"/>
                          <a:ext cx="980999" cy="2307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5"/>
            <p:cNvGraphicFramePr>
              <a:graphicFrameLocks noChangeAspect="1"/>
            </p:cNvGraphicFramePr>
            <p:nvPr/>
          </p:nvGraphicFramePr>
          <p:xfrm>
            <a:off x="1329041" y="2436403"/>
            <a:ext cx="1140476" cy="230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02960" imgH="203040" progId="Equation.DSMT4">
                    <p:embed/>
                  </p:oleObj>
                </mc:Choice>
                <mc:Fallback>
                  <p:oleObj name="Equation" r:id="rId7" imgW="1002960" imgH="203040" progId="Equation.DSMT4">
                    <p:embed/>
                    <p:pic>
                      <p:nvPicPr>
                        <p:cNvPr id="1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9041" y="2436403"/>
                          <a:ext cx="1140476" cy="2307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5340350" y="1890713"/>
          <a:ext cx="244316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91880" imgH="711000" progId="Equation.DSMT4">
                  <p:embed/>
                </p:oleObj>
              </mc:Choice>
              <mc:Fallback>
                <p:oleObj name="Equation" r:id="rId9" imgW="1091880" imgH="711000" progId="Equation.DSMT4">
                  <p:embed/>
                  <p:pic>
                    <p:nvPicPr>
                      <p:cNvPr id="1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0350" y="1890713"/>
                        <a:ext cx="2443163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1241424" y="3874095"/>
          <a:ext cx="275748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31560" imgH="711000" progId="Equation.DSMT4">
                  <p:embed/>
                </p:oleObj>
              </mc:Choice>
              <mc:Fallback>
                <p:oleObj name="Equation" r:id="rId11" imgW="1231560" imgH="711000" progId="Equation.DSMT4">
                  <p:embed/>
                  <p:pic>
                    <p:nvPicPr>
                      <p:cNvPr id="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4" y="3874095"/>
                        <a:ext cx="275748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448026" y="5667706"/>
                <a:ext cx="2618409" cy="813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026" y="5667706"/>
                <a:ext cx="2618409" cy="8138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5448026" y="3833242"/>
          <a:ext cx="2587625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55600" imgH="711000" progId="Equation.DSMT4">
                  <p:embed/>
                </p:oleObj>
              </mc:Choice>
              <mc:Fallback>
                <p:oleObj name="Equation" r:id="rId15" imgW="1155600" imgH="711000" progId="Equation.DSMT4">
                  <p:embed/>
                  <p:pic>
                    <p:nvPicPr>
                      <p:cNvPr id="1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026" y="3833242"/>
                        <a:ext cx="2587625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1576388" y="5474295"/>
            <a:ext cx="1447799" cy="796772"/>
            <a:chOff x="1506190" y="1736902"/>
            <a:chExt cx="786178" cy="503582"/>
          </a:xfrm>
        </p:grpSpPr>
        <p:graphicFrame>
          <p:nvGraphicFramePr>
            <p:cNvPr id="18" name="Object 5"/>
            <p:cNvGraphicFramePr>
              <a:graphicFrameLocks noChangeAspect="1"/>
            </p:cNvGraphicFramePr>
            <p:nvPr/>
          </p:nvGraphicFramePr>
          <p:xfrm>
            <a:off x="1506190" y="1736902"/>
            <a:ext cx="786178" cy="2076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672840" imgH="177480" progId="Equation.DSMT4">
                    <p:embed/>
                  </p:oleObj>
                </mc:Choice>
                <mc:Fallback>
                  <p:oleObj name="Equation" r:id="rId17" imgW="672840" imgH="177480" progId="Equation.DSMT4">
                    <p:embed/>
                    <p:pic>
                      <p:nvPicPr>
                        <p:cNvPr id="18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6190" y="1736902"/>
                          <a:ext cx="786178" cy="2076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5"/>
            <p:cNvGraphicFramePr>
              <a:graphicFrameLocks noChangeAspect="1"/>
            </p:cNvGraphicFramePr>
            <p:nvPr/>
          </p:nvGraphicFramePr>
          <p:xfrm>
            <a:off x="1509638" y="2009714"/>
            <a:ext cx="779282" cy="230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685800" imgH="203040" progId="Equation.DSMT4">
                    <p:embed/>
                  </p:oleObj>
                </mc:Choice>
                <mc:Fallback>
                  <p:oleObj name="Equation" r:id="rId19" imgW="685800" imgH="203040" progId="Equation.DSMT4">
                    <p:embed/>
                    <p:pic>
                      <p:nvPicPr>
                        <p:cNvPr id="2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9638" y="2009714"/>
                          <a:ext cx="779282" cy="2307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5"/>
          <p:cNvGraphicFramePr>
            <a:graphicFrameLocks noChangeAspect="1"/>
          </p:cNvGraphicFramePr>
          <p:nvPr/>
        </p:nvGraphicFramePr>
        <p:xfrm>
          <a:off x="1704975" y="6329363"/>
          <a:ext cx="1201738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58720" imgH="177480" progId="Equation.DSMT4">
                  <p:embed/>
                </p:oleObj>
              </mc:Choice>
              <mc:Fallback>
                <p:oleObj name="Equation" r:id="rId21" imgW="558720" imgH="177480" progId="Equation.DSMT4">
                  <p:embed/>
                  <p:pic>
                    <p:nvPicPr>
                      <p:cNvPr id="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4975" y="6329363"/>
                        <a:ext cx="1201738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3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8B781BD9-9065-4941-9C1A-EC4081EF0C7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46470" y="5700302"/>
            <a:ext cx="3062640" cy="79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3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3E392A-5911-51EC-BBF3-42B4B4D35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48</a:t>
            </a:fld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388DA3-CA50-33EB-7F29-189FD5D79792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 typeface="Wingdings" charset="0"/>
              <a:buChar char="§"/>
              <a:defRPr/>
            </a:pPr>
            <a:r>
              <a:rPr lang="en-US" dirty="0"/>
              <a:t>A system of linear equations has</a:t>
            </a:r>
          </a:p>
          <a:p>
            <a:pPr marL="1371600" lvl="2" indent="-457200">
              <a:buFont typeface="Wingdings" charset="0"/>
              <a:buAutoNum type="arabicPeriod"/>
              <a:defRPr/>
            </a:pPr>
            <a:r>
              <a:rPr lang="en-US" sz="2800" dirty="0"/>
              <a:t>no solution, or</a:t>
            </a:r>
          </a:p>
          <a:p>
            <a:pPr marL="1371600" lvl="2" indent="-457200">
              <a:buFont typeface="Wingdings" charset="0"/>
              <a:buAutoNum type="arabicPeriod"/>
              <a:defRPr/>
            </a:pPr>
            <a:r>
              <a:rPr lang="en-US" sz="2800" dirty="0"/>
              <a:t>exactly one solution, or</a:t>
            </a:r>
          </a:p>
          <a:p>
            <a:pPr marL="1371600" lvl="2" indent="-457200">
              <a:buFont typeface="Wingdings" charset="0"/>
              <a:buAutoNum type="arabicPeriod"/>
              <a:defRPr/>
            </a:pPr>
            <a:r>
              <a:rPr lang="en-US" sz="2800" dirty="0"/>
              <a:t>infinitely many solutions.</a:t>
            </a:r>
          </a:p>
          <a:p>
            <a:pPr marL="609600" indent="-609600">
              <a:buFont typeface="Wingdings" charset="0"/>
              <a:buChar char="§"/>
              <a:defRPr/>
            </a:pPr>
            <a:r>
              <a:rPr lang="en-US" dirty="0"/>
              <a:t>A system of linear equations is said to be </a:t>
            </a:r>
            <a:r>
              <a:rPr lang="en-US" b="1" dirty="0">
                <a:solidFill>
                  <a:srgbClr val="0000FF"/>
                </a:solidFill>
              </a:rPr>
              <a:t>consistent</a:t>
            </a:r>
            <a:r>
              <a:rPr lang="en-US" dirty="0"/>
              <a:t> if it has either one solution or infinitely many solutions.</a:t>
            </a:r>
          </a:p>
          <a:p>
            <a:pPr marL="609600" indent="-609600">
              <a:buFont typeface="Wingdings" charset="0"/>
              <a:buChar char="§"/>
              <a:defRPr/>
            </a:pPr>
            <a:r>
              <a:rPr lang="en-US" dirty="0"/>
              <a:t>A system of linear equation is said to be </a:t>
            </a:r>
            <a:r>
              <a:rPr lang="en-US" b="1" dirty="0">
                <a:solidFill>
                  <a:srgbClr val="0000FF"/>
                </a:solidFill>
              </a:rPr>
              <a:t>inconsistent</a:t>
            </a:r>
            <a:r>
              <a:rPr lang="en-US" dirty="0"/>
              <a:t> if it has no solution.</a:t>
            </a:r>
          </a:p>
        </p:txBody>
      </p:sp>
      <p:sp>
        <p:nvSpPr>
          <p:cNvPr id="5" name="Google Shape;409;p49">
            <a:extLst>
              <a:ext uri="{FF2B5EF4-FFF2-40B4-BE49-F238E27FC236}">
                <a16:creationId xmlns:a16="http://schemas.microsoft.com/office/drawing/2014/main" id="{4E0DD0F6-334F-7E30-FCB2-B2FDF56004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6418263" cy="64293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Summary of Solution Types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849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54;p44">
            <a:extLst>
              <a:ext uri="{FF2B5EF4-FFF2-40B4-BE49-F238E27FC236}">
                <a16:creationId xmlns:a16="http://schemas.microsoft.com/office/drawing/2014/main" id="{98E77064-E677-2869-F7B0-D97EA500F140}"/>
              </a:ext>
            </a:extLst>
          </p:cNvPr>
          <p:cNvSpPr txBox="1">
            <a:spLocks/>
          </p:cNvSpPr>
          <p:nvPr/>
        </p:nvSpPr>
        <p:spPr>
          <a:xfrm>
            <a:off x="213166" y="918528"/>
            <a:ext cx="8270433" cy="520795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Unique Solution (Consistent Systems):</a:t>
            </a:r>
          </a:p>
          <a:p>
            <a:pPr marL="400050" lvl="1" indent="0">
              <a:buNone/>
            </a:pPr>
            <a:r>
              <a:rPr lang="en-US" sz="2400" dirty="0"/>
              <a:t>Exactly </a:t>
            </a:r>
            <a:r>
              <a:rPr lang="en-US" sz="2400" b="1" dirty="0">
                <a:solidFill>
                  <a:srgbClr val="9900FF"/>
                </a:solidFill>
              </a:rPr>
              <a:t>one point</a:t>
            </a:r>
            <a:r>
              <a:rPr lang="en-US" sz="2400" dirty="0"/>
              <a:t> given by the coordinates of intersection.</a:t>
            </a:r>
          </a:p>
          <a:p>
            <a:pPr marL="355600" indent="-355600">
              <a:buFont typeface="Arial" panose="020B0604020202020204" pitchFamily="34" charset="0"/>
              <a:buNone/>
            </a:pPr>
            <a:r>
              <a:rPr lang="en-US" sz="2400" dirty="0"/>
              <a:t>	Occurs when </a:t>
            </a:r>
            <a:r>
              <a:rPr lang="en-US" sz="2400" b="1" dirty="0">
                <a:solidFill>
                  <a:srgbClr val="0000FF"/>
                </a:solidFill>
              </a:rPr>
              <a:t>all equations are linearly independent.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</a:p>
          <a:p>
            <a:pPr marL="355600" indent="-355600">
              <a:buFont typeface="Arial" panose="020B0604020202020204" pitchFamily="34" charset="0"/>
              <a:buNone/>
            </a:pPr>
            <a:endParaRPr lang="en-US" sz="2400" dirty="0"/>
          </a:p>
          <a:p>
            <a:pPr marL="355600" indent="-355600">
              <a:buFont typeface="Arial" panose="020B0604020202020204" pitchFamily="34" charset="0"/>
              <a:buNone/>
            </a:pPr>
            <a:r>
              <a:rPr lang="en-US" sz="2400" b="1" dirty="0"/>
              <a:t>Infinite Solutions (Consistent Systems)</a:t>
            </a:r>
          </a:p>
          <a:p>
            <a:pPr marL="355600" indent="-35560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9900FF"/>
                </a:solidFill>
              </a:rPr>
              <a:t>	</a:t>
            </a:r>
            <a:r>
              <a:rPr lang="en-US" sz="2400" b="1" dirty="0">
                <a:solidFill>
                  <a:srgbClr val="CC66FF"/>
                </a:solidFill>
              </a:rPr>
              <a:t>Infinite points </a:t>
            </a:r>
            <a:r>
              <a:rPr lang="en-US" sz="2400" dirty="0"/>
              <a:t>given by the coordinates of intersection.</a:t>
            </a:r>
          </a:p>
          <a:p>
            <a:pPr marL="355600" indent="-355600">
              <a:buFont typeface="Arial" panose="020B0604020202020204" pitchFamily="34" charset="0"/>
              <a:buNone/>
            </a:pPr>
            <a:r>
              <a:rPr lang="en-US" sz="2400" dirty="0"/>
              <a:t>	Occurs when </a:t>
            </a:r>
            <a:r>
              <a:rPr lang="en-US" sz="2400" b="1" dirty="0">
                <a:solidFill>
                  <a:srgbClr val="0000FF"/>
                </a:solidFill>
              </a:rPr>
              <a:t>some or all equations are not linearly independent.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</a:p>
          <a:p>
            <a:pPr marL="355600" indent="-355600">
              <a:buFont typeface="Arial" panose="020B0604020202020204" pitchFamily="34" charset="0"/>
              <a:buNone/>
            </a:pPr>
            <a:endParaRPr lang="en-US" sz="2400" dirty="0">
              <a:solidFill>
                <a:srgbClr val="0066CC"/>
              </a:solidFill>
            </a:endParaRPr>
          </a:p>
          <a:p>
            <a:pPr marL="0" indent="0">
              <a:buNone/>
            </a:pPr>
            <a:r>
              <a:rPr lang="en-US" sz="2400" b="1" dirty="0"/>
              <a:t>No Solution (Inconsistent System)</a:t>
            </a:r>
          </a:p>
          <a:p>
            <a:pPr marL="400050" lvl="1" indent="0">
              <a:buNone/>
              <a:tabLst>
                <a:tab pos="355600" algn="l"/>
              </a:tabLst>
            </a:pPr>
            <a:r>
              <a:rPr lang="en-US" sz="2400" b="1" dirty="0">
                <a:solidFill>
                  <a:srgbClr val="CC66FF"/>
                </a:solidFill>
              </a:rPr>
              <a:t>No point </a:t>
            </a:r>
            <a:r>
              <a:rPr lang="en-US" sz="2400" dirty="0"/>
              <a:t>of intersection.</a:t>
            </a:r>
          </a:p>
          <a:p>
            <a:pPr marL="400050" lvl="1" indent="0">
              <a:buNone/>
              <a:tabLst>
                <a:tab pos="355600" algn="l"/>
              </a:tabLst>
            </a:pPr>
            <a:r>
              <a:rPr lang="en-US" sz="2400" dirty="0"/>
              <a:t>Occurs when </a:t>
            </a:r>
            <a:r>
              <a:rPr lang="en-US" sz="2400" b="1" dirty="0"/>
              <a:t>all equations are </a:t>
            </a:r>
            <a:r>
              <a:rPr lang="en-US" sz="2400" b="1" dirty="0">
                <a:solidFill>
                  <a:srgbClr val="0000FF"/>
                </a:solidFill>
              </a:rPr>
              <a:t>linearly dependent.</a:t>
            </a:r>
            <a:r>
              <a:rPr lang="en-US" sz="2400" dirty="0"/>
              <a:t> </a:t>
            </a:r>
          </a:p>
          <a:p>
            <a:pPr marL="400050" lvl="1" indent="0">
              <a:spcBef>
                <a:spcPts val="1600"/>
              </a:spcBef>
              <a:buNone/>
            </a:pPr>
            <a:endParaRPr lang="en-US" sz="2000" dirty="0"/>
          </a:p>
          <a:p>
            <a:pPr marL="400050" lvl="1" indent="0">
              <a:spcBef>
                <a:spcPts val="1600"/>
              </a:spcBef>
              <a:buNone/>
            </a:pPr>
            <a:endParaRPr lang="en-US" sz="2000" dirty="0">
              <a:solidFill>
                <a:srgbClr val="0066FF"/>
              </a:solidFill>
            </a:endParaRPr>
          </a:p>
          <a:p>
            <a:pPr marL="400050" lvl="1" indent="0">
              <a:spcBef>
                <a:spcPts val="1600"/>
              </a:spcBef>
              <a:buNone/>
            </a:pPr>
            <a:endParaRPr lang="en-US" sz="2000" dirty="0"/>
          </a:p>
          <a:p>
            <a:pPr marL="355600" lvl="1" indent="-355600">
              <a:spcBef>
                <a:spcPts val="1600"/>
              </a:spcBef>
              <a:buNone/>
            </a:pPr>
            <a:endParaRPr lang="en-US" sz="2000"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Google Shape;409;p49">
            <a:extLst>
              <a:ext uri="{FF2B5EF4-FFF2-40B4-BE49-F238E27FC236}">
                <a16:creationId xmlns:a16="http://schemas.microsoft.com/office/drawing/2014/main" id="{C0A58892-5143-69F0-8131-3925520CDEC7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6418263" cy="64293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SG"/>
              <a:t>Summary of Solution Types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812783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pic>
        <p:nvPicPr>
          <p:cNvPr id="82948" name="Picture 4" descr="Image result for neural network matrix multipli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" y="1033389"/>
            <a:ext cx="7593734" cy="5695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862419" y="6420914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hlinkClick r:id="rId3"/>
              </a:rPr>
              <a:t>https://www.datasciencecentral.com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52948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pic>
        <p:nvPicPr>
          <p:cNvPr id="83972" name="Picture 4" descr="Alt tex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03" y="1080366"/>
            <a:ext cx="6315075" cy="564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897419" y="6328581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3"/>
              </a:rPr>
              <a:t>https://deeplearning4j.org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51943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01430" y="6283553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dirty="0"/>
              <a:t>Image Processing</a:t>
            </a:r>
          </a:p>
        </p:txBody>
      </p:sp>
      <p:pic>
        <p:nvPicPr>
          <p:cNvPr id="84994" name="Picture 2" descr="Image result for image processing matri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79" y="1206355"/>
            <a:ext cx="6594040" cy="4872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2203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01430" y="6283553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dirty="0"/>
              <a:t>Image Processing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91" y="1136650"/>
            <a:ext cx="9039225" cy="5619750"/>
          </a:xfrm>
          <a:prstGeom prst="rect">
            <a:avLst/>
          </a:prstGeom>
        </p:spPr>
      </p:pic>
      <p:pic>
        <p:nvPicPr>
          <p:cNvPr id="88072" name="Picture 8" descr="https://upload.wikimedia.org/wikipedia/commons/thumb/c/c5/Planar-three-link-manipulator.svg/210px-Planar-three-link-manipulator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214" y="3017054"/>
            <a:ext cx="2916044" cy="319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630225" y="6319922"/>
            <a:ext cx="29820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Robotics Kinematics</a:t>
            </a:r>
          </a:p>
        </p:txBody>
      </p:sp>
    </p:spTree>
    <p:extLst>
      <p:ext uri="{BB962C8B-B14F-4D97-AF65-F5344CB8AC3E}">
        <p14:creationId xmlns:p14="http://schemas.microsoft.com/office/powerpoint/2010/main" val="31829299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769083" y="6481612"/>
            <a:ext cx="19527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dirty="0"/>
              <a:t>Electric Circuits</a:t>
            </a:r>
          </a:p>
        </p:txBody>
      </p:sp>
      <p:pic>
        <p:nvPicPr>
          <p:cNvPr id="5" name="Picture 3" descr="C05NF0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9" y="1081027"/>
            <a:ext cx="4587875" cy="537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100" descr="C05NF0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5473" y="1033402"/>
            <a:ext cx="4362450" cy="542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80466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pic>
        <p:nvPicPr>
          <p:cNvPr id="7" name="Picture 3" descr="C05NF0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489200"/>
            <a:ext cx="8382000" cy="187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2892616" y="5076218"/>
            <a:ext cx="3741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i="1" dirty="0"/>
              <a:t>n</a:t>
            </a:r>
            <a:r>
              <a:rPr lang="en-GB" altLang="en-US" dirty="0"/>
              <a:t>-particle system from textbook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2581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2957271" y="6457890"/>
            <a:ext cx="51074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i="1" dirty="0"/>
              <a:t>Multiple layer of heat transfer </a:t>
            </a:r>
            <a:r>
              <a:rPr lang="en-GB" altLang="en-US" dirty="0"/>
              <a:t>from textbook</a:t>
            </a:r>
            <a:endParaRPr lang="en-US" dirty="0"/>
          </a:p>
        </p:txBody>
      </p:sp>
      <p:pic>
        <p:nvPicPr>
          <p:cNvPr id="5" name="Picture 3" descr="C05NF0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5255"/>
            <a:ext cx="1893455" cy="544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C05NF0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911" y="1110671"/>
            <a:ext cx="2943225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C05NF02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136" y="1043565"/>
            <a:ext cx="4261860" cy="547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40343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2319962" y="6134617"/>
            <a:ext cx="54072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i="1" dirty="0"/>
              <a:t>Car at rest on horizontal ground </a:t>
            </a:r>
            <a:r>
              <a:rPr lang="en-GB" altLang="en-US" dirty="0"/>
              <a:t>from textbook</a:t>
            </a:r>
            <a:endParaRPr lang="en-US" dirty="0"/>
          </a:p>
        </p:txBody>
      </p:sp>
      <p:pic>
        <p:nvPicPr>
          <p:cNvPr id="7" name="Picture 3" descr="C05NF0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00" y="1344756"/>
            <a:ext cx="8380413" cy="388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9089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211646815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0">
          <a:blip xmlns:r="http://schemas.openxmlformats.org/officeDocument/2006/relationships" r:embed="rId1"/>
          <a:stretch>
            <a:fillRect/>
          </a:stretch>
        </a:blipFill>
      </a:spPr>
      <a:bodyPr/>
      <a:lstStyle>
        <a:defPPr>
          <a:defRPr>
            <a:noFill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0">
          <a:blip xmlns:r="http://schemas.openxmlformats.org/officeDocument/2006/relationships" r:embed="rId1"/>
          <a:stretch>
            <a:fillRect/>
          </a:stretch>
        </a:blipFill>
      </a:spPr>
      <a:bodyPr/>
      <a:lstStyle>
        <a:defPPr>
          <a:defRPr>
            <a:noFill/>
          </a:defRPr>
        </a:defPPr>
      </a:lstStyle>
    </a:spDef>
  </a:objectDefaults>
  <a:extraClrSchemeLst/>
</a:theme>
</file>

<file path=ppt/theme/theme3.xml><?xml version="1.0" encoding="utf-8"?>
<a:theme xmlns:a="http://schemas.openxmlformats.org/drawingml/2006/main" name="SI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18513</TotalTime>
  <Words>2029</Words>
  <Application>Microsoft Office PowerPoint</Application>
  <PresentationFormat>On-screen Show (4:3)</PresentationFormat>
  <Paragraphs>300</Paragraphs>
  <Slides>57</Slides>
  <Notes>20</Notes>
  <HiddenSlides>1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71" baseType="lpstr">
      <vt:lpstr>Arial Unicode MS</vt:lpstr>
      <vt:lpstr>Avenir LT Std 55 Roman</vt:lpstr>
      <vt:lpstr>Proxima Nova</vt:lpstr>
      <vt:lpstr>Arial</vt:lpstr>
      <vt:lpstr>Calibri</vt:lpstr>
      <vt:lpstr>Cambria Math</vt:lpstr>
      <vt:lpstr>Times New Roman</vt:lpstr>
      <vt:lpstr>Verdana</vt:lpstr>
      <vt:lpstr>Wingdings</vt:lpstr>
      <vt:lpstr>Wingdings 2</vt:lpstr>
      <vt:lpstr>Office Theme</vt:lpstr>
      <vt:lpstr>1_Office Theme</vt:lpstr>
      <vt:lpstr>SIT Template</vt:lpstr>
      <vt:lpstr>Equation</vt:lpstr>
      <vt:lpstr>INF1004 Linear Algebra (Part II) Lecture 3: Linear Transformation</vt:lpstr>
      <vt:lpstr>LEADING QUESTION</vt:lpstr>
      <vt:lpstr>Recap: Matrix Notation of a System of Linear Eqns</vt:lpstr>
      <vt:lpstr>Applications: Transformation of an Image (1 of 6)</vt:lpstr>
      <vt:lpstr>Transformation of an Image (2 of 6)</vt:lpstr>
      <vt:lpstr>Formal Definition of a Linear Transformation</vt:lpstr>
      <vt:lpstr>Exercise </vt:lpstr>
      <vt:lpstr>Transformation of an Image (3 of 6)</vt:lpstr>
      <vt:lpstr>Transformation of an Image (4 of 6)</vt:lpstr>
      <vt:lpstr>Transformation of an Image (5 of 6)</vt:lpstr>
      <vt:lpstr>Transformation of an Image (6 of 6)</vt:lpstr>
      <vt:lpstr>Inverse of a Linear Transformation </vt:lpstr>
      <vt:lpstr>Inverse of a Matrix (recap)</vt:lpstr>
      <vt:lpstr>Inverse of a Matrix</vt:lpstr>
      <vt:lpstr>Inverse of a Matrix</vt:lpstr>
      <vt:lpstr>Inverse of a Matrix </vt:lpstr>
      <vt:lpstr>Inverse of a Matrix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Augmented Matrix</vt:lpstr>
      <vt:lpstr>Augmented Matrix</vt:lpstr>
      <vt:lpstr>Row Transformations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Gaussian Elimination for Inverse Matrix (optional)</vt:lpstr>
      <vt:lpstr>Inconsistent Systems</vt:lpstr>
      <vt:lpstr>A System with No Solution</vt:lpstr>
      <vt:lpstr>A System with No Solution</vt:lpstr>
      <vt:lpstr>Dependent Systems</vt:lpstr>
      <vt:lpstr>A System with Infinite Number of Solutions</vt:lpstr>
      <vt:lpstr>A System with Infinite Number of Solutions</vt:lpstr>
      <vt:lpstr>Summary of Solution Types</vt:lpstr>
      <vt:lpstr>PowerPoint Presentation</vt:lpstr>
      <vt:lpstr>APPLICATIONS</vt:lpstr>
      <vt:lpstr>APPLICATIONS</vt:lpstr>
      <vt:lpstr>APPLICATIONS</vt:lpstr>
      <vt:lpstr>APPLICATIONS</vt:lpstr>
      <vt:lpstr>APPLICATIONS</vt:lpstr>
      <vt:lpstr>APPLICATIONS</vt:lpstr>
      <vt:lpstr>APPLICATIONS</vt:lpstr>
      <vt:lpstr>APPLICATIONS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Dennis, Tai Lik Chuan</dc:creator>
  <cp:lastModifiedBy>Yar Kar Peo</cp:lastModifiedBy>
  <cp:revision>837</cp:revision>
  <cp:lastPrinted>2023-07-13T06:20:46Z</cp:lastPrinted>
  <dcterms:created xsi:type="dcterms:W3CDTF">2009-12-04T03:29:24Z</dcterms:created>
  <dcterms:modified xsi:type="dcterms:W3CDTF">2025-09-20T14:11:06Z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766c061-8e16-473d-8aec-8fc5553e8a9b_Enabled">
    <vt:lpwstr>true</vt:lpwstr>
  </property>
  <property fmtid="{D5CDD505-2E9C-101B-9397-08002B2CF9AE}" pid="3" name="MSIP_Label_7766c061-8e16-473d-8aec-8fc5553e8a9b_SetDate">
    <vt:lpwstr>2023-10-26T02:17:35Z</vt:lpwstr>
  </property>
  <property fmtid="{D5CDD505-2E9C-101B-9397-08002B2CF9AE}" pid="4" name="MSIP_Label_7766c061-8e16-473d-8aec-8fc5553e8a9b_Method">
    <vt:lpwstr>Privileged</vt:lpwstr>
  </property>
  <property fmtid="{D5CDD505-2E9C-101B-9397-08002B2CF9AE}" pid="5" name="MSIP_Label_7766c061-8e16-473d-8aec-8fc5553e8a9b_Name">
    <vt:lpwstr>SIT Internal</vt:lpwstr>
  </property>
  <property fmtid="{D5CDD505-2E9C-101B-9397-08002B2CF9AE}" pid="6" name="MSIP_Label_7766c061-8e16-473d-8aec-8fc5553e8a9b_SiteId">
    <vt:lpwstr>64991f7f-44d6-4d8c-9cd4-7862e8cb94c6</vt:lpwstr>
  </property>
  <property fmtid="{D5CDD505-2E9C-101B-9397-08002B2CF9AE}" pid="7" name="MSIP_Label_7766c061-8e16-473d-8aec-8fc5553e8a9b_ActionId">
    <vt:lpwstr>074e9940-d4ae-46ab-a18c-0096581ec834</vt:lpwstr>
  </property>
  <property fmtid="{D5CDD505-2E9C-101B-9397-08002B2CF9AE}" pid="8" name="MSIP_Label_7766c061-8e16-473d-8aec-8fc5553e8a9b_ContentBits">
    <vt:lpwstr>1</vt:lpwstr>
  </property>
</Properties>
</file>